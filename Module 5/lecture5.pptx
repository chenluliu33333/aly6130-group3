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mstudycircle.com/risk-response-strategies-for-positive-risks-or-opportunities/" TargetMode="External"/><Relationship Id="rId3" Type="http://schemas.openxmlformats.org/officeDocument/2006/relationships/hyperlink" Target="https://pmstudycircle.com/risk-term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mstudycircle.com/negative-risk-response-strategies/" TargetMode="External"/><Relationship Id="rId3" Type="http://schemas.openxmlformats.org/officeDocument/2006/relationships/hyperlink" Target="https://pmstudycircle.com/contingency-reserve-vs-management-reserve/"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ybernance.com/manage-cyber-risk-like-yahoo-no/" TargetMode="External"/><Relationship Id="rId3" Type="http://schemas.openxmlformats.org/officeDocument/2006/relationships/hyperlink" Target="http://www.cbsnews.com/news/latest-yahoo-hack-tanks-stock-amid-verizon-merger-worries/" TargetMode="External"/><Relationship Id="rId4" Type="http://schemas.openxmlformats.org/officeDocument/2006/relationships/hyperlink" Target="http://ow.ly/bMul3079AeX"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409c0c231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409c0c231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module is targeted at risk assessment in the risk management process</a:t>
            </a:r>
            <a:endParaRPr/>
          </a:p>
          <a:p>
            <a:pPr indent="0" lvl="0" marL="0" rtl="0" algn="l">
              <a:spcBef>
                <a:spcPts val="0"/>
              </a:spcBef>
              <a:spcAft>
                <a:spcPts val="0"/>
              </a:spcAft>
              <a:buNone/>
            </a:pPr>
            <a:r>
              <a:rPr lang="en-GB"/>
              <a:t>principles of COSO framework:</a:t>
            </a:r>
            <a:endParaRPr/>
          </a:p>
          <a:p>
            <a:pPr indent="0" lvl="0" marL="0" rtl="0" algn="l">
              <a:spcBef>
                <a:spcPts val="0"/>
              </a:spcBef>
              <a:spcAft>
                <a:spcPts val="0"/>
              </a:spcAft>
              <a:buNone/>
            </a:pPr>
            <a:r>
              <a:rPr lang="en-GB"/>
              <a:t>The five components of COSO – control environment, risk assessment, information and communication, monitoring activities, and existing control activities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91b6b971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91b6b971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1b6b971a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91b6b971a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Taken from </a:t>
            </a:r>
            <a:r>
              <a:rPr lang="en-GB" sz="1200" u="sng">
                <a:solidFill>
                  <a:schemeClr val="hlink"/>
                </a:solidFill>
                <a:hlinkClick r:id="rId2"/>
              </a:rPr>
              <a:t>Risk Response Strategies for Positive Risks or Opportunities</a:t>
            </a:r>
            <a:r>
              <a:rPr lang="en-GB"/>
              <a:t> </a:t>
            </a:r>
            <a:endParaRPr/>
          </a:p>
          <a:p>
            <a:pPr indent="0" lvl="0" marL="0" rtl="0" algn="l">
              <a:spcBef>
                <a:spcPts val="0"/>
              </a:spcBef>
              <a:spcAft>
                <a:spcPts val="0"/>
              </a:spcAft>
              <a:buNone/>
            </a:pPr>
            <a:r>
              <a:rPr lang="en-GB"/>
              <a:t>Escalate:entrust top management to handle the risk, and your job is limited to monitoring by recording it in your risk register; can be used with positive and negative risks.</a:t>
            </a:r>
            <a:endParaRPr/>
          </a:p>
          <a:p>
            <a:pPr indent="0" lvl="0" marL="0" rtl="0" algn="l">
              <a:spcBef>
                <a:spcPts val="0"/>
              </a:spcBef>
              <a:spcAft>
                <a:spcPts val="0"/>
              </a:spcAft>
              <a:buNone/>
            </a:pPr>
            <a:r>
              <a:rPr lang="en-GB"/>
              <a:t>Enhance: increase the chance of a risk happening so you can realize it. In this case, you try to seize the opportunity. The enhance risk response is the opposite of the mitigate strategy. to increase the probability (reduce the uncertainty or the impact or both) associated with a positive risk.</a:t>
            </a:r>
            <a:endParaRPr/>
          </a:p>
          <a:p>
            <a:pPr indent="0" lvl="0" marL="0" rtl="0" algn="l">
              <a:spcBef>
                <a:spcPts val="0"/>
              </a:spcBef>
              <a:spcAft>
                <a:spcPts val="0"/>
              </a:spcAft>
              <a:buNone/>
            </a:pPr>
            <a:r>
              <a:rPr lang="en-GB"/>
              <a:t>Exploit: ensure that the opportunity is realized. You do not try; you make certain to seize it.</a:t>
            </a:r>
            <a:endParaRPr/>
          </a:p>
          <a:p>
            <a:pPr indent="0" lvl="0" marL="0" rtl="0" algn="l">
              <a:spcBef>
                <a:spcPts val="0"/>
              </a:spcBef>
              <a:spcAft>
                <a:spcPts val="0"/>
              </a:spcAft>
              <a:buNone/>
            </a:pPr>
            <a:r>
              <a:rPr lang="en-GB"/>
              <a:t>Accept: take no action to realize the opportunity. You use this strategy when the response cost is high, there is a low chance of it occurring, or the benefit does not outweigh the effort. </a:t>
            </a:r>
            <a:r>
              <a:rPr lang="en-GB">
                <a:solidFill>
                  <a:schemeClr val="dk1"/>
                </a:solidFill>
              </a:rPr>
              <a:t> can be used with positive and negative risks.</a:t>
            </a:r>
            <a:endParaRPr/>
          </a:p>
          <a:p>
            <a:pPr indent="0" lvl="0" marL="0" rtl="0" algn="l">
              <a:spcBef>
                <a:spcPts val="0"/>
              </a:spcBef>
              <a:spcAft>
                <a:spcPts val="0"/>
              </a:spcAft>
              <a:buNone/>
            </a:pPr>
            <a:r>
              <a:rPr lang="en-GB"/>
              <a:t>Share: when you cannot realize the opportunity alone. So, you team up with another company and work together.  E.g. the organization may share cost, resources, knowledge, etc... in order to avail the opportunity. If the opportunity is realized, the benefits (Impact of the Positive Risk Event) are also shared. Apple worked with Samsung for chips for the Apple iPhone. Some other examples are forming technology partnerships, establishing new companies jointly or launching new products jointly.</a:t>
            </a:r>
            <a:endParaRPr/>
          </a:p>
          <a:p>
            <a:pPr indent="0" lvl="0" marL="0" rtl="0" algn="l">
              <a:spcBef>
                <a:spcPts val="0"/>
              </a:spcBef>
              <a:spcAft>
                <a:spcPts val="0"/>
              </a:spcAft>
              <a:buNone/>
            </a:pPr>
            <a:r>
              <a:rPr lang="en-GB"/>
              <a:t>+ve risk = opportunity</a:t>
            </a:r>
            <a:endParaRPr/>
          </a:p>
          <a:p>
            <a:pPr indent="0" lvl="0" marL="0" rtl="0" algn="l">
              <a:spcBef>
                <a:spcPts val="0"/>
              </a:spcBef>
              <a:spcAft>
                <a:spcPts val="0"/>
              </a:spcAft>
              <a:buNone/>
            </a:pPr>
            <a:r>
              <a:rPr lang="en-GB" sz="1300">
                <a:solidFill>
                  <a:srgbClr val="2D3748"/>
                </a:solidFill>
                <a:highlight>
                  <a:srgbClr val="FFFFFF"/>
                </a:highlight>
                <a:latin typeface="Roboto"/>
                <a:ea typeface="Roboto"/>
                <a:cs typeface="Roboto"/>
                <a:sym typeface="Roboto"/>
              </a:rPr>
              <a:t>If the risk is negative, you will try to avoid or minimize the impact. If the risk is positive, you will want to realize its benefits. As these are distinct </a:t>
            </a:r>
            <a:r>
              <a:rPr lang="en-GB" sz="1300" u="sng">
                <a:solidFill>
                  <a:schemeClr val="hlink"/>
                </a:solidFill>
                <a:highlight>
                  <a:srgbClr val="FFFFFF"/>
                </a:highlight>
                <a:latin typeface="Roboto"/>
                <a:ea typeface="Roboto"/>
                <a:cs typeface="Roboto"/>
                <a:sym typeface="Roboto"/>
                <a:hlinkClick r:id="rId3"/>
              </a:rPr>
              <a:t>types of risks</a:t>
            </a:r>
            <a:r>
              <a:rPr lang="en-GB" sz="1300">
                <a:solidFill>
                  <a:srgbClr val="2D3748"/>
                </a:solidFill>
                <a:highlight>
                  <a:srgbClr val="FFFFFF"/>
                </a:highlight>
                <a:latin typeface="Roboto"/>
                <a:ea typeface="Roboto"/>
                <a:cs typeface="Roboto"/>
                <a:sym typeface="Roboto"/>
              </a:rPr>
              <a:t>, the strategies to deal with them are different. </a:t>
            </a:r>
            <a:endParaRPr sz="1300">
              <a:solidFill>
                <a:srgbClr val="2D3748"/>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300">
                <a:solidFill>
                  <a:srgbClr val="2D3748"/>
                </a:solidFill>
                <a:highlight>
                  <a:srgbClr val="FFFFFF"/>
                </a:highlight>
                <a:latin typeface="Roboto"/>
                <a:ea typeface="Roboto"/>
                <a:cs typeface="Roboto"/>
                <a:sym typeface="Roboto"/>
              </a:rPr>
              <a:t>The optimum strategy for an opportunity is “exploit,” However, it is not possible to use this strategy all the time.</a:t>
            </a:r>
            <a:endParaRPr sz="1300">
              <a:solidFill>
                <a:srgbClr val="2D3748"/>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300">
                <a:solidFill>
                  <a:srgbClr val="2D3748"/>
                </a:solidFill>
                <a:highlight>
                  <a:srgbClr val="FFFFFF"/>
                </a:highlight>
                <a:latin typeface="Roboto"/>
                <a:ea typeface="Roboto"/>
                <a:cs typeface="Roboto"/>
                <a:sym typeface="Roboto"/>
              </a:rPr>
              <a:t>Accept is the least desired strategy; if you take no action and hope the risk is realized on its own.</a:t>
            </a:r>
            <a:endParaRPr sz="1300">
              <a:solidFill>
                <a:srgbClr val="2D3748"/>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300">
              <a:solidFill>
                <a:srgbClr val="2D3748"/>
              </a:solidFill>
              <a:highlight>
                <a:srgbClr val="FFFFFF"/>
              </a:highlight>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91b6b971a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91b6b971a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Taken from </a:t>
            </a:r>
            <a:r>
              <a:rPr lang="en-GB" u="sng">
                <a:solidFill>
                  <a:schemeClr val="hlink"/>
                </a:solidFill>
                <a:hlinkClick r:id="rId2"/>
              </a:rPr>
              <a:t>Negative Risk Response Strategies in Project Management</a:t>
            </a:r>
            <a:endParaRPr/>
          </a:p>
          <a:p>
            <a:pPr indent="-311150" lvl="0" marL="457200" rtl="0" algn="l">
              <a:lnSpc>
                <a:spcPct val="115000"/>
              </a:lnSpc>
              <a:spcBef>
                <a:spcPts val="0"/>
              </a:spcBef>
              <a:spcAft>
                <a:spcPts val="0"/>
              </a:spcAft>
              <a:buClr>
                <a:srgbClr val="2D3748"/>
              </a:buClr>
              <a:buSzPts val="1300"/>
              <a:buFont typeface="Roboto"/>
              <a:buChar char="●"/>
            </a:pPr>
            <a:r>
              <a:rPr lang="en-GB" sz="1300">
                <a:solidFill>
                  <a:srgbClr val="2D3748"/>
                </a:solidFill>
                <a:highlight>
                  <a:srgbClr val="FFFFFF"/>
                </a:highlight>
                <a:latin typeface="Roboto"/>
                <a:ea typeface="Roboto"/>
                <a:cs typeface="Roboto"/>
                <a:sym typeface="Roboto"/>
              </a:rPr>
              <a:t>Escalate: when you cannot manage risk because you lack authority, resources, or knowledge.Once the higher authority accepts, you won’t take further action other than updating the risk register.</a:t>
            </a:r>
            <a:endParaRPr sz="1300">
              <a:solidFill>
                <a:srgbClr val="2D3748"/>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D3748"/>
              </a:buClr>
              <a:buSzPts val="1300"/>
              <a:buFont typeface="Roboto"/>
              <a:buChar char="●"/>
            </a:pPr>
            <a:r>
              <a:rPr lang="en-GB" sz="1300">
                <a:solidFill>
                  <a:srgbClr val="2D3748"/>
                </a:solidFill>
                <a:highlight>
                  <a:srgbClr val="FFFFFF"/>
                </a:highlight>
                <a:latin typeface="Roboto"/>
                <a:ea typeface="Roboto"/>
                <a:cs typeface="Roboto"/>
                <a:sym typeface="Roboto"/>
              </a:rPr>
              <a:t>Mitigate: helps you lessen the impact or probability of the risk. This strategy decreases the severity.</a:t>
            </a:r>
            <a:endParaRPr sz="1300">
              <a:solidFill>
                <a:srgbClr val="2D3748"/>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D3748"/>
              </a:buClr>
              <a:buSzPts val="1300"/>
              <a:buFont typeface="Roboto"/>
              <a:buChar char="●"/>
            </a:pPr>
            <a:r>
              <a:rPr lang="en-GB" sz="1300">
                <a:solidFill>
                  <a:srgbClr val="2D3748"/>
                </a:solidFill>
                <a:highlight>
                  <a:srgbClr val="FFFFFF"/>
                </a:highlight>
                <a:latin typeface="Roboto"/>
                <a:ea typeface="Roboto"/>
                <a:cs typeface="Roboto"/>
                <a:sym typeface="Roboto"/>
              </a:rPr>
              <a:t>Transfer (transfer the responsibility to a third party): when you lack the skills or resources to manage the risk or are too busy to manage it.</a:t>
            </a:r>
            <a:endParaRPr sz="1300">
              <a:solidFill>
                <a:srgbClr val="2D3748"/>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D3748"/>
              </a:buClr>
              <a:buSzPts val="1300"/>
              <a:buFont typeface="Roboto"/>
              <a:buChar char="●"/>
            </a:pPr>
            <a:r>
              <a:rPr lang="en-GB" sz="1300">
                <a:solidFill>
                  <a:srgbClr val="2D3748"/>
                </a:solidFill>
                <a:highlight>
                  <a:srgbClr val="FFFFFF"/>
                </a:highlight>
                <a:latin typeface="Roboto"/>
                <a:ea typeface="Roboto"/>
                <a:cs typeface="Roboto"/>
                <a:sym typeface="Roboto"/>
              </a:rPr>
              <a:t>Avoid: try to eliminate the risk or its impact. You do this by changing your project management plan, scope, or schedule.  You use this strategy with critical risks.</a:t>
            </a:r>
            <a:endParaRPr sz="1300">
              <a:solidFill>
                <a:srgbClr val="2D3748"/>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2D3748"/>
              </a:buClr>
              <a:buSzPts val="1300"/>
              <a:buFont typeface="Roboto"/>
              <a:buChar char="●"/>
            </a:pPr>
            <a:r>
              <a:rPr lang="en-GB" sz="1300">
                <a:solidFill>
                  <a:srgbClr val="2D3748"/>
                </a:solidFill>
                <a:highlight>
                  <a:srgbClr val="FFFFFF"/>
                </a:highlight>
                <a:latin typeface="Roboto"/>
                <a:ea typeface="Roboto"/>
                <a:cs typeface="Roboto"/>
                <a:sym typeface="Roboto"/>
              </a:rPr>
              <a:t>Accept: take no action to manage the risk other than acknowledging it. You use this strategy with non-critical risks when it is not possible or practical to respond using other strategies or if it is of little importance and does not call for a response. You can accept the risk either by actively or passively acknowledging it. In an active acceptance strategy, you keep a separate </a:t>
            </a:r>
            <a:r>
              <a:rPr lang="en-GB" sz="1300" u="sng">
                <a:solidFill>
                  <a:schemeClr val="hlink"/>
                </a:solidFill>
                <a:highlight>
                  <a:srgbClr val="FFFFFF"/>
                </a:highlight>
                <a:latin typeface="Roboto"/>
                <a:ea typeface="Roboto"/>
                <a:cs typeface="Roboto"/>
                <a:sym typeface="Roboto"/>
                <a:hlinkClick r:id="rId3"/>
              </a:rPr>
              <a:t>contingency reserve</a:t>
            </a:r>
            <a:r>
              <a:rPr lang="en-GB" sz="1300">
                <a:solidFill>
                  <a:srgbClr val="2D3748"/>
                </a:solidFill>
                <a:highlight>
                  <a:srgbClr val="FFFFFF"/>
                </a:highlight>
                <a:latin typeface="Roboto"/>
                <a:ea typeface="Roboto"/>
                <a:cs typeface="Roboto"/>
                <a:sym typeface="Roboto"/>
              </a:rPr>
              <a:t> to manage the risk, and in passive acceptance, you do nothing except record it in the risk register.</a:t>
            </a:r>
            <a:endParaRPr sz="1300">
              <a:solidFill>
                <a:srgbClr val="2D3748"/>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GB" sz="1300">
                <a:solidFill>
                  <a:srgbClr val="2D3748"/>
                </a:solidFill>
                <a:highlight>
                  <a:srgbClr val="FFFFFF"/>
                </a:highlight>
                <a:latin typeface="Roboto"/>
                <a:ea typeface="Roboto"/>
                <a:cs typeface="Roboto"/>
                <a:sym typeface="Roboto"/>
              </a:rPr>
              <a:t>-----------------------------------------</a:t>
            </a:r>
            <a:endParaRPr sz="1300">
              <a:solidFill>
                <a:srgbClr val="2D3748"/>
              </a:solidFill>
              <a:highlight>
                <a:srgbClr val="FFFFFF"/>
              </a:highlight>
              <a:latin typeface="Roboto"/>
              <a:ea typeface="Roboto"/>
              <a:cs typeface="Roboto"/>
              <a:sym typeface="Roboto"/>
            </a:endParaRPr>
          </a:p>
          <a:p>
            <a:pPr indent="0" lvl="0" marL="0" rtl="0" algn="l">
              <a:lnSpc>
                <a:spcPct val="115000"/>
              </a:lnSpc>
              <a:spcBef>
                <a:spcPts val="0"/>
              </a:spcBef>
              <a:spcAft>
                <a:spcPts val="0"/>
              </a:spcAft>
              <a:buNone/>
            </a:pPr>
            <a:r>
              <a:rPr lang="en-GB" sz="1200">
                <a:solidFill>
                  <a:schemeClr val="dk1"/>
                </a:solidFill>
                <a:highlight>
                  <a:srgbClr val="FFFFFF"/>
                </a:highlight>
              </a:rPr>
              <a:t>Controls are put in place to lessen the risks. It is important to understand what processes would be affected by the risk. For example, installing disaster warning systems, purchasing radio communications equipment, or conducting emergency response training.</a:t>
            </a:r>
            <a:r>
              <a:rPr lang="en-GB" sz="1300">
                <a:solidFill>
                  <a:srgbClr val="2D3748"/>
                </a:solidFill>
                <a:highlight>
                  <a:srgbClr val="FFFFFF"/>
                </a:highlight>
                <a:latin typeface="Roboto"/>
                <a:ea typeface="Roboto"/>
                <a:cs typeface="Roboto"/>
                <a:sym typeface="Roboto"/>
              </a:rPr>
              <a:t> </a:t>
            </a:r>
            <a:endParaRPr sz="1300">
              <a:solidFill>
                <a:srgbClr val="2D3748"/>
              </a:solidFill>
              <a:highlight>
                <a:srgbClr val="FFFFFF"/>
              </a:highlight>
              <a:latin typeface="Roboto"/>
              <a:ea typeface="Roboto"/>
              <a:cs typeface="Roboto"/>
              <a:sym typeface="Roboto"/>
            </a:endParaRPr>
          </a:p>
          <a:p>
            <a:pPr indent="0" lvl="0" marL="457200" rtl="0" algn="l">
              <a:lnSpc>
                <a:spcPct val="115000"/>
              </a:lnSpc>
              <a:spcBef>
                <a:spcPts val="0"/>
              </a:spcBef>
              <a:spcAft>
                <a:spcPts val="0"/>
              </a:spcAft>
              <a:buNone/>
            </a:pPr>
            <a:r>
              <a:t/>
            </a:r>
            <a:endParaRPr sz="1300">
              <a:solidFill>
                <a:srgbClr val="2D3748"/>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91b6b971a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91b6b971a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Taken from </a:t>
            </a:r>
            <a:r>
              <a:rPr lang="en-GB" sz="1200" u="sng">
                <a:solidFill>
                  <a:schemeClr val="hlink"/>
                </a:solidFill>
                <a:hlinkClick r:id="rId2"/>
              </a:rPr>
              <a:t>Manage Cyber Risk Like Yahoo? No!</a:t>
            </a:r>
            <a:endParaRPr/>
          </a:p>
          <a:p>
            <a:pPr indent="0" lvl="0" marL="0" rtl="0" algn="l">
              <a:spcBef>
                <a:spcPts val="0"/>
              </a:spcBef>
              <a:spcAft>
                <a:spcPts val="0"/>
              </a:spcAft>
              <a:buNone/>
            </a:pPr>
            <a:r>
              <a:rPr lang="en-GB"/>
              <a:t>“</a:t>
            </a:r>
            <a:r>
              <a:rPr lang="en-GB" sz="1300">
                <a:solidFill>
                  <a:srgbClr val="666666"/>
                </a:solidFill>
                <a:highlight>
                  <a:srgbClr val="FFFFFF"/>
                </a:highlight>
              </a:rPr>
              <a:t>A few weeks after Yahoo revealed the 2014 hack of some 500 million accounts, they announced the 2013 hack of </a:t>
            </a:r>
            <a:r>
              <a:rPr i="1" lang="en-GB" sz="1300">
                <a:solidFill>
                  <a:srgbClr val="666666"/>
                </a:solidFill>
                <a:highlight>
                  <a:srgbClr val="FFFFFF"/>
                </a:highlight>
              </a:rPr>
              <a:t>one billion</a:t>
            </a:r>
            <a:r>
              <a:rPr lang="en-GB" sz="1300">
                <a:solidFill>
                  <a:srgbClr val="666666"/>
                </a:solidFill>
                <a:highlight>
                  <a:srgbClr val="FFFFFF"/>
                </a:highlight>
              </a:rPr>
              <a:t> email accounts. </a:t>
            </a:r>
            <a:r>
              <a:rPr lang="en-GB" sz="1300">
                <a:solidFill>
                  <a:srgbClr val="207FC1"/>
                </a:solidFill>
                <a:highlight>
                  <a:srgbClr val="FFFFFF"/>
                </a:highlight>
                <a:uFill>
                  <a:noFill/>
                </a:uFill>
                <a:hlinkClick r:id="rId3">
                  <a:extLst>
                    <a:ext uri="{A12FA001-AC4F-418D-AE19-62706E023703}">
                      <ahyp:hlinkClr val="tx"/>
                    </a:ext>
                  </a:extLst>
                </a:hlinkClick>
              </a:rPr>
              <a:t>Yahoo’s stock dropped 6% in one day</a:t>
            </a:r>
            <a:r>
              <a:rPr lang="en-GB" sz="1300">
                <a:solidFill>
                  <a:srgbClr val="666666"/>
                </a:solidFill>
                <a:highlight>
                  <a:srgbClr val="FFFFFF"/>
                </a:highlight>
              </a:rPr>
              <a:t>, and </a:t>
            </a:r>
            <a:r>
              <a:rPr lang="en-GB" sz="1300">
                <a:solidFill>
                  <a:srgbClr val="207FC1"/>
                </a:solidFill>
                <a:highlight>
                  <a:srgbClr val="FFFFFF"/>
                </a:highlight>
                <a:uFill>
                  <a:noFill/>
                </a:uFill>
                <a:hlinkClick r:id="rId4">
                  <a:extLst>
                    <a:ext uri="{A12FA001-AC4F-418D-AE19-62706E023703}">
                      <ahyp:hlinkClr val="tx"/>
                    </a:ext>
                  </a:extLst>
                </a:hlinkClick>
              </a:rPr>
              <a:t>Verizon is threatening to cancel the pending transaction</a:t>
            </a:r>
            <a:r>
              <a:rPr lang="en-GB" sz="1300">
                <a:solidFill>
                  <a:srgbClr val="666666"/>
                </a:solidFill>
                <a:highlight>
                  <a:srgbClr val="FFFFFF"/>
                </a:highlight>
              </a:rPr>
              <a:t>. How was the Yahoo board unaware of their cyber risk condition for years? Clearly, overseeing cyber risk wasn’t a high priority.</a:t>
            </a:r>
            <a:r>
              <a:rPr lang="en-GB"/>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6349c6ea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6349c6ea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1b6b971a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1b6b971a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analysis is used as a resource for the risk treatment plan to rescore the risks once mitigation measures are documented and executed.</a:t>
            </a:r>
            <a:endParaRPr/>
          </a:p>
          <a:p>
            <a:pPr indent="0" lvl="0" marL="0" rtl="0" algn="l">
              <a:spcBef>
                <a:spcPts val="0"/>
              </a:spcBef>
              <a:spcAft>
                <a:spcPts val="0"/>
              </a:spcAft>
              <a:buNone/>
            </a:pPr>
            <a:r>
              <a:rPr lang="en-GB"/>
              <a:t>A Risk Owner must be assigned to the risk mitigation strategy. The risk owner is the person closest to the risk and able to identify when the risk has become an issue. A risk owner would be someone from a business area that is closest to the risk</a:t>
            </a:r>
            <a:endParaRPr/>
          </a:p>
          <a:p>
            <a:pPr indent="0" lvl="0" marL="0" rtl="0" algn="l">
              <a:spcBef>
                <a:spcPts val="0"/>
              </a:spcBef>
              <a:spcAft>
                <a:spcPts val="0"/>
              </a:spcAft>
              <a:buNone/>
            </a:pPr>
            <a:r>
              <a:rPr lang="en-GB"/>
              <a:t>E.G:</a:t>
            </a:r>
            <a:endParaRPr/>
          </a:p>
          <a:p>
            <a:pPr indent="0" lvl="0" marL="0" rtl="0" algn="l">
              <a:lnSpc>
                <a:spcPct val="115000"/>
              </a:lnSpc>
              <a:spcBef>
                <a:spcPts val="900"/>
              </a:spcBef>
              <a:spcAft>
                <a:spcPts val="0"/>
              </a:spcAft>
              <a:buClr>
                <a:schemeClr val="dk1"/>
              </a:buClr>
              <a:buSzPts val="1100"/>
              <a:buFont typeface="Arial"/>
              <a:buNone/>
            </a:pPr>
            <a:r>
              <a:rPr lang="en-GB" sz="1200">
                <a:solidFill>
                  <a:schemeClr val="dk1"/>
                </a:solidFill>
              </a:rPr>
              <a:t>A marketing manager is familiar with the marketing program for a lending product. The marketing manager requests a data report based on prospects interested in the lending product discovered via visits to the organization’s website or calls to the customer service center or questions on the company’s blog or going to a branch office to ask questions regarding the product.</a:t>
            </a:r>
            <a:endParaRPr sz="1200">
              <a:solidFill>
                <a:schemeClr val="dk1"/>
              </a:solidFill>
            </a:endParaRPr>
          </a:p>
          <a:p>
            <a:pPr indent="0" lvl="0" marL="0" rtl="0" algn="l">
              <a:lnSpc>
                <a:spcPct val="115000"/>
              </a:lnSpc>
              <a:spcBef>
                <a:spcPts val="900"/>
              </a:spcBef>
              <a:spcAft>
                <a:spcPts val="0"/>
              </a:spcAft>
              <a:buClr>
                <a:schemeClr val="dk1"/>
              </a:buClr>
              <a:buSzPts val="1100"/>
              <a:buFont typeface="Arial"/>
              <a:buNone/>
            </a:pPr>
            <a:r>
              <a:rPr lang="en-GB" sz="1200">
                <a:solidFill>
                  <a:schemeClr val="dk1"/>
                </a:solidFill>
              </a:rPr>
              <a:t>The risk owner will escalate the risk to the proper parties within the organization once the risk becomes an issue. In data management situations, risks are escalated to the head of data management or through the data governance process so that critical risks and issues are communicated to critical members of management</a:t>
            </a:r>
            <a:endParaRPr sz="1200">
              <a:solidFill>
                <a:schemeClr val="dk1"/>
              </a:solidFill>
            </a:endParaRPr>
          </a:p>
          <a:p>
            <a:pPr indent="0" lvl="0" marL="0" rtl="0" algn="l">
              <a:spcBef>
                <a:spcPts val="9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91b6b971a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91b6b971a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Bridge Collapse</a:t>
            </a:r>
            <a:endParaRPr/>
          </a:p>
          <a:p>
            <a:pPr indent="0" lvl="0" marL="0" rtl="0" algn="l">
              <a:spcBef>
                <a:spcPts val="0"/>
              </a:spcBef>
              <a:spcAft>
                <a:spcPts val="0"/>
              </a:spcAft>
              <a:buNone/>
            </a:pPr>
            <a:r>
              <a:rPr lang="en-GB"/>
              <a:t>The risk event is the bridge collapse. What drove the cause? Bad design, bad material or both. First, investigate to find the root cause. Once the root cause is determined, find the solutions to fix it. Once determined, then mitigate for the risk so there is not a similar issue with other projects. Finally, test the solution to ensure the design and materials are correct and won't fall again.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GB"/>
              <a:t>Root cause analysis</a:t>
            </a:r>
            <a:r>
              <a:rPr lang="en-GB"/>
              <a:t> helps determine the drivers of the risk and pinpoints the issues.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91b6b971a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91b6b971a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91b6b971a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91b6b971a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349c6ea6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349c6ea6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Riisk management with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sz="4800"/>
              <a:t>Risk Response Planning</a:t>
            </a:r>
            <a:endParaRPr sz="48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1018"/>
              <a:buNone/>
            </a:pPr>
            <a:r>
              <a:rPr lang="en-GB" sz="2210">
                <a:solidFill>
                  <a:schemeClr val="dk1"/>
                </a:solidFill>
              </a:rPr>
              <a:t>Module 5 </a:t>
            </a:r>
            <a:endParaRPr sz="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Objectives</a:t>
            </a:r>
            <a:endParaRPr/>
          </a:p>
        </p:txBody>
      </p:sp>
      <p:sp>
        <p:nvSpPr>
          <p:cNvPr id="61" name="Google Shape;61;p14"/>
          <p:cNvSpPr txBox="1"/>
          <p:nvPr>
            <p:ph idx="1" type="body"/>
          </p:nvPr>
        </p:nvSpPr>
        <p:spPr>
          <a:xfrm>
            <a:off x="311700" y="1152475"/>
            <a:ext cx="8146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Risk response </a:t>
            </a:r>
            <a:r>
              <a:rPr lang="en-GB"/>
              <a:t>strategies</a:t>
            </a:r>
            <a:r>
              <a:rPr lang="en-GB"/>
              <a:t>- how to respond to </a:t>
            </a:r>
            <a:r>
              <a:rPr lang="en-GB"/>
              <a:t>negative and positive </a:t>
            </a:r>
            <a:r>
              <a:rPr lang="en-GB"/>
              <a:t>risks</a:t>
            </a:r>
            <a:endParaRPr/>
          </a:p>
          <a:p>
            <a:pPr indent="-342900" lvl="0" marL="457200" rtl="0" algn="l">
              <a:spcBef>
                <a:spcPts val="0"/>
              </a:spcBef>
              <a:spcAft>
                <a:spcPts val="0"/>
              </a:spcAft>
              <a:buSzPts val="1800"/>
              <a:buChar char="●"/>
            </a:pPr>
            <a:r>
              <a:rPr lang="en-GB"/>
              <a:t>R</a:t>
            </a:r>
            <a:r>
              <a:rPr lang="en-GB"/>
              <a:t>isk control to limit exposure to risk</a:t>
            </a:r>
            <a:endParaRPr/>
          </a:p>
          <a:p>
            <a:pPr indent="-342900" lvl="0" marL="457200" rtl="0" algn="l">
              <a:spcBef>
                <a:spcPts val="0"/>
              </a:spcBef>
              <a:spcAft>
                <a:spcPts val="0"/>
              </a:spcAft>
              <a:buSzPts val="1800"/>
              <a:buChar char="●"/>
            </a:pPr>
            <a:r>
              <a:rPr lang="en-GB"/>
              <a:t>How </a:t>
            </a:r>
            <a:r>
              <a:rPr lang="en-GB"/>
              <a:t>to mitigate negative and opportunity risk </a:t>
            </a:r>
            <a:endParaRPr/>
          </a:p>
          <a:p>
            <a:pPr indent="-342900" lvl="0" marL="457200" rtl="0" algn="l">
              <a:spcBef>
                <a:spcPts val="0"/>
              </a:spcBef>
              <a:spcAft>
                <a:spcPts val="0"/>
              </a:spcAft>
              <a:buSzPts val="1800"/>
              <a:buChar char="●"/>
            </a:pPr>
            <a:r>
              <a:rPr lang="en-GB"/>
              <a:t>M</a:t>
            </a:r>
            <a:r>
              <a:rPr lang="en-GB"/>
              <a:t>onitoring risk throughout risk management life cycle</a:t>
            </a:r>
            <a:endParaRPr/>
          </a:p>
          <a:p>
            <a:pPr indent="-342900" lvl="0" marL="457200" rtl="0" algn="l">
              <a:spcBef>
                <a:spcPts val="0"/>
              </a:spcBef>
              <a:spcAft>
                <a:spcPts val="0"/>
              </a:spcAft>
              <a:buSzPts val="1800"/>
              <a:buChar char="●"/>
            </a:pPr>
            <a:r>
              <a:rPr lang="en-GB"/>
              <a:t>Apply the COSO framework to risk mitigation and monitoring</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Risk Response Planning</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To take a proactive posture</a:t>
            </a:r>
            <a:endParaRPr/>
          </a:p>
          <a:p>
            <a:pPr indent="-342900" lvl="0" marL="457200" rtl="0" algn="l">
              <a:spcBef>
                <a:spcPts val="0"/>
              </a:spcBef>
              <a:spcAft>
                <a:spcPts val="0"/>
              </a:spcAft>
              <a:buSzPts val="1800"/>
              <a:buChar char="●"/>
            </a:pPr>
            <a:r>
              <a:rPr lang="en-GB"/>
              <a:t>To understand what resources will be needed for risk management.</a:t>
            </a:r>
            <a:endParaRPr/>
          </a:p>
        </p:txBody>
      </p:sp>
      <p:pic>
        <p:nvPicPr>
          <p:cNvPr id="68" name="Google Shape;68;p15"/>
          <p:cNvPicPr preferRelativeResize="0"/>
          <p:nvPr/>
        </p:nvPicPr>
        <p:blipFill>
          <a:blip r:embed="rId3">
            <a:alphaModFix/>
          </a:blip>
          <a:stretch>
            <a:fillRect/>
          </a:stretch>
        </p:blipFill>
        <p:spPr>
          <a:xfrm>
            <a:off x="651875" y="2252501"/>
            <a:ext cx="7235974" cy="2527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Positive Risk Response Strategies </a:t>
            </a:r>
            <a:endParaRPr/>
          </a:p>
        </p:txBody>
      </p:sp>
      <p:sp>
        <p:nvSpPr>
          <p:cNvPr id="74" name="Google Shape;74;p16"/>
          <p:cNvSpPr txBox="1"/>
          <p:nvPr>
            <p:ph idx="1" type="body"/>
          </p:nvPr>
        </p:nvSpPr>
        <p:spPr>
          <a:xfrm>
            <a:off x="311700" y="1152475"/>
            <a:ext cx="4204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Escalate: transfer</a:t>
            </a:r>
            <a:endParaRPr/>
          </a:p>
          <a:p>
            <a:pPr indent="-342900" lvl="0" marL="457200" rtl="0" algn="l">
              <a:spcBef>
                <a:spcPts val="0"/>
              </a:spcBef>
              <a:spcAft>
                <a:spcPts val="0"/>
              </a:spcAft>
              <a:buSzPts val="1800"/>
              <a:buChar char="●"/>
            </a:pPr>
            <a:r>
              <a:rPr lang="en-GB"/>
              <a:t>Enhance: try to seize the opportunity</a:t>
            </a:r>
            <a:endParaRPr/>
          </a:p>
          <a:p>
            <a:pPr indent="-342900" lvl="0" marL="457200" rtl="0" algn="l">
              <a:spcBef>
                <a:spcPts val="0"/>
              </a:spcBef>
              <a:spcAft>
                <a:spcPts val="0"/>
              </a:spcAft>
              <a:buSzPts val="1800"/>
              <a:buChar char="●"/>
            </a:pPr>
            <a:r>
              <a:rPr lang="en-GB"/>
              <a:t>Exploit: </a:t>
            </a:r>
            <a:r>
              <a:rPr lang="en-GB">
                <a:solidFill>
                  <a:srgbClr val="00FF00"/>
                </a:solidFill>
              </a:rPr>
              <a:t>optimum strategy</a:t>
            </a:r>
            <a:endParaRPr>
              <a:solidFill>
                <a:srgbClr val="00FF00"/>
              </a:solidFill>
            </a:endParaRPr>
          </a:p>
          <a:p>
            <a:pPr indent="-342900" lvl="0" marL="457200" rtl="0" algn="l">
              <a:spcBef>
                <a:spcPts val="0"/>
              </a:spcBef>
              <a:spcAft>
                <a:spcPts val="0"/>
              </a:spcAft>
              <a:buSzPts val="1800"/>
              <a:buChar char="●"/>
            </a:pPr>
            <a:r>
              <a:rPr lang="en-GB"/>
              <a:t>Accept: </a:t>
            </a:r>
            <a:r>
              <a:rPr lang="en-GB">
                <a:solidFill>
                  <a:srgbClr val="FF0000"/>
                </a:solidFill>
              </a:rPr>
              <a:t>least desired strategy</a:t>
            </a:r>
            <a:endParaRPr>
              <a:solidFill>
                <a:srgbClr val="FF0000"/>
              </a:solidFill>
            </a:endParaRPr>
          </a:p>
          <a:p>
            <a:pPr indent="-342900" lvl="0" marL="457200" rtl="0" algn="l">
              <a:spcBef>
                <a:spcPts val="0"/>
              </a:spcBef>
              <a:spcAft>
                <a:spcPts val="0"/>
              </a:spcAft>
              <a:buSzPts val="1800"/>
              <a:buChar char="●"/>
            </a:pPr>
            <a:r>
              <a:rPr lang="en-GB"/>
              <a:t>Share: when solo realization of opportunity is hard</a:t>
            </a:r>
            <a:endParaRPr/>
          </a:p>
        </p:txBody>
      </p:sp>
      <p:pic>
        <p:nvPicPr>
          <p:cNvPr id="75" name="Google Shape;75;p16"/>
          <p:cNvPicPr preferRelativeResize="0"/>
          <p:nvPr/>
        </p:nvPicPr>
        <p:blipFill>
          <a:blip r:embed="rId3">
            <a:alphaModFix/>
          </a:blip>
          <a:stretch>
            <a:fillRect/>
          </a:stretch>
        </p:blipFill>
        <p:spPr>
          <a:xfrm>
            <a:off x="4719825" y="1152475"/>
            <a:ext cx="3796867" cy="38209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Negative risk response strategies</a:t>
            </a:r>
            <a:endParaRPr/>
          </a:p>
        </p:txBody>
      </p:sp>
      <p:sp>
        <p:nvSpPr>
          <p:cNvPr id="81" name="Google Shape;81;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Escalate: pass it on to the </a:t>
            </a:r>
            <a:r>
              <a:rPr lang="en-GB"/>
              <a:t>higher ups</a:t>
            </a:r>
            <a:endParaRPr/>
          </a:p>
          <a:p>
            <a:pPr indent="-342900" lvl="0" marL="457200" rtl="0" algn="l">
              <a:spcBef>
                <a:spcPts val="0"/>
              </a:spcBef>
              <a:spcAft>
                <a:spcPts val="0"/>
              </a:spcAft>
              <a:buSzPts val="1800"/>
              <a:buChar char="●"/>
            </a:pPr>
            <a:r>
              <a:rPr lang="en-GB">
                <a:solidFill>
                  <a:srgbClr val="00FF00"/>
                </a:solidFill>
              </a:rPr>
              <a:t>Mitigate</a:t>
            </a:r>
            <a:r>
              <a:rPr lang="en-GB"/>
              <a:t>: actionable plan to lessen the risk and implement with control</a:t>
            </a:r>
            <a:endParaRPr/>
          </a:p>
          <a:p>
            <a:pPr indent="-342900" lvl="0" marL="457200" rtl="0" algn="l">
              <a:spcBef>
                <a:spcPts val="0"/>
              </a:spcBef>
              <a:spcAft>
                <a:spcPts val="0"/>
              </a:spcAft>
              <a:buSzPts val="1800"/>
              <a:buChar char="●"/>
            </a:pPr>
            <a:r>
              <a:rPr lang="en-GB"/>
              <a:t>Transfer- to insurance company or third party.</a:t>
            </a:r>
            <a:endParaRPr/>
          </a:p>
          <a:p>
            <a:pPr indent="-342900" lvl="0" marL="457200" rtl="0" algn="l">
              <a:spcBef>
                <a:spcPts val="0"/>
              </a:spcBef>
              <a:spcAft>
                <a:spcPts val="0"/>
              </a:spcAft>
              <a:buSzPts val="1800"/>
              <a:buChar char="●"/>
            </a:pPr>
            <a:r>
              <a:rPr lang="en-GB"/>
              <a:t>Avoid: Making necessary changes to avoid risk</a:t>
            </a:r>
            <a:endParaRPr/>
          </a:p>
          <a:p>
            <a:pPr indent="-342900" lvl="0" marL="457200" rtl="0" algn="l">
              <a:spcBef>
                <a:spcPts val="0"/>
              </a:spcBef>
              <a:spcAft>
                <a:spcPts val="0"/>
              </a:spcAft>
              <a:buSzPts val="1800"/>
              <a:buChar char="●"/>
            </a:pPr>
            <a:r>
              <a:rPr lang="en-GB">
                <a:solidFill>
                  <a:srgbClr val="FF0000"/>
                </a:solidFill>
              </a:rPr>
              <a:t>Accept</a:t>
            </a:r>
            <a:r>
              <a:rPr lang="en-GB"/>
              <a:t>: determination that it is too costly to mitigate the risk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Cyber Risk Mitigation</a:t>
            </a:r>
            <a:endParaRPr/>
          </a:p>
        </p:txBody>
      </p:sp>
      <p:pic>
        <p:nvPicPr>
          <p:cNvPr id="87" name="Google Shape;87;p18"/>
          <p:cNvPicPr preferRelativeResize="0"/>
          <p:nvPr/>
        </p:nvPicPr>
        <p:blipFill>
          <a:blip r:embed="rId3">
            <a:alphaModFix/>
          </a:blip>
          <a:stretch>
            <a:fillRect/>
          </a:stretch>
        </p:blipFill>
        <p:spPr>
          <a:xfrm>
            <a:off x="763500" y="1180300"/>
            <a:ext cx="5308625" cy="3820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Cyber Risk Mitigation</a:t>
            </a:r>
            <a:endParaRPr/>
          </a:p>
        </p:txBody>
      </p:sp>
      <p:sp>
        <p:nvSpPr>
          <p:cNvPr id="93" name="Google Shape;93;p19"/>
          <p:cNvSpPr txBox="1"/>
          <p:nvPr>
            <p:ph idx="1" type="body"/>
          </p:nvPr>
        </p:nvSpPr>
        <p:spPr>
          <a:xfrm>
            <a:off x="311700" y="1150025"/>
            <a:ext cx="4260300" cy="341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Risks</a:t>
            </a:r>
            <a:endParaRPr/>
          </a:p>
          <a:p>
            <a:pPr indent="-342900" lvl="0" marL="457200" rtl="0" algn="l">
              <a:spcBef>
                <a:spcPts val="1200"/>
              </a:spcBef>
              <a:spcAft>
                <a:spcPts val="0"/>
              </a:spcAft>
              <a:buSzPts val="1800"/>
              <a:buChar char="●"/>
            </a:pPr>
            <a:r>
              <a:rPr lang="en-GB"/>
              <a:t>Data Breach</a:t>
            </a:r>
            <a:endParaRPr/>
          </a:p>
          <a:p>
            <a:pPr indent="-342900" lvl="0" marL="457200" rtl="0" algn="l">
              <a:spcBef>
                <a:spcPts val="0"/>
              </a:spcBef>
              <a:spcAft>
                <a:spcPts val="0"/>
              </a:spcAft>
              <a:buSzPts val="1800"/>
              <a:buChar char="●"/>
            </a:pPr>
            <a:r>
              <a:rPr lang="en-GB"/>
              <a:t>Phishing Attacks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94" name="Google Shape;94;p19"/>
          <p:cNvSpPr txBox="1"/>
          <p:nvPr>
            <p:ph idx="1" type="body"/>
          </p:nvPr>
        </p:nvSpPr>
        <p:spPr>
          <a:xfrm>
            <a:off x="4496175" y="1271875"/>
            <a:ext cx="4465200" cy="341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Mitigation Strategies</a:t>
            </a:r>
            <a:endParaRPr/>
          </a:p>
          <a:p>
            <a:pPr indent="-342900" lvl="0" marL="457200" rtl="0" algn="l">
              <a:spcBef>
                <a:spcPts val="1200"/>
              </a:spcBef>
              <a:spcAft>
                <a:spcPts val="0"/>
              </a:spcAft>
              <a:buSzPts val="1800"/>
              <a:buChar char="●"/>
            </a:pPr>
            <a:r>
              <a:rPr lang="en-GB"/>
              <a:t>Data Encryption </a:t>
            </a:r>
            <a:endParaRPr/>
          </a:p>
          <a:p>
            <a:pPr indent="-342900" lvl="0" marL="457200" rtl="0" algn="l">
              <a:spcBef>
                <a:spcPts val="0"/>
              </a:spcBef>
              <a:spcAft>
                <a:spcPts val="0"/>
              </a:spcAft>
              <a:buSzPts val="1800"/>
              <a:buChar char="●"/>
            </a:pPr>
            <a:r>
              <a:rPr lang="en-GB"/>
              <a:t>Data access control</a:t>
            </a:r>
            <a:endParaRPr/>
          </a:p>
          <a:p>
            <a:pPr indent="-342900" lvl="0" marL="457200" rtl="0" algn="l">
              <a:spcBef>
                <a:spcPts val="0"/>
              </a:spcBef>
              <a:spcAft>
                <a:spcPts val="0"/>
              </a:spcAft>
              <a:buSzPts val="1800"/>
              <a:buChar char="●"/>
            </a:pPr>
            <a:r>
              <a:rPr lang="en-GB"/>
              <a:t>Data backup practices</a:t>
            </a:r>
            <a:endParaRPr/>
          </a:p>
          <a:p>
            <a:pPr indent="-342900" lvl="0" marL="457200" rtl="0" algn="l">
              <a:spcBef>
                <a:spcPts val="0"/>
              </a:spcBef>
              <a:spcAft>
                <a:spcPts val="0"/>
              </a:spcAft>
              <a:buSzPts val="1800"/>
              <a:buChar char="●"/>
            </a:pPr>
            <a:r>
              <a:rPr lang="en-GB"/>
              <a:t>Employee training </a:t>
            </a:r>
            <a:endParaRPr/>
          </a:p>
          <a:p>
            <a:pPr indent="-342900" lvl="0" marL="457200" rtl="0" algn="l">
              <a:spcBef>
                <a:spcPts val="0"/>
              </a:spcBef>
              <a:spcAft>
                <a:spcPts val="0"/>
              </a:spcAft>
              <a:buSzPts val="1800"/>
              <a:buChar char="●"/>
            </a:pPr>
            <a:r>
              <a:rPr lang="en-GB"/>
              <a:t>Network Security plans</a:t>
            </a:r>
            <a:endParaRPr/>
          </a:p>
          <a:p>
            <a:pPr indent="-342900" lvl="0" marL="457200" rtl="0" algn="l">
              <a:spcBef>
                <a:spcPts val="0"/>
              </a:spcBef>
              <a:spcAft>
                <a:spcPts val="0"/>
              </a:spcAft>
              <a:buSzPts val="1800"/>
              <a:buChar char="●"/>
            </a:pPr>
            <a:r>
              <a:rPr lang="en-GB"/>
              <a:t>Incident recovery and response plan</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Steps for making decisions about risk mitigation</a:t>
            </a:r>
            <a:endParaRPr/>
          </a:p>
        </p:txBody>
      </p:sp>
      <p:sp>
        <p:nvSpPr>
          <p:cNvPr id="100" name="Google Shape;100;p20"/>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GB"/>
              <a:t>Identify a risk owner</a:t>
            </a:r>
            <a:endParaRPr/>
          </a:p>
          <a:p>
            <a:pPr indent="-342900" lvl="0" marL="457200" rtl="0" algn="l">
              <a:spcBef>
                <a:spcPts val="0"/>
              </a:spcBef>
              <a:spcAft>
                <a:spcPts val="0"/>
              </a:spcAft>
              <a:buSzPts val="1800"/>
              <a:buAutoNum type="arabicPeriod"/>
            </a:pPr>
            <a:r>
              <a:rPr lang="en-GB"/>
              <a:t>R</a:t>
            </a:r>
            <a:r>
              <a:rPr lang="en-GB"/>
              <a:t>isk register</a:t>
            </a:r>
            <a:endParaRPr/>
          </a:p>
          <a:p>
            <a:pPr indent="-342900" lvl="0" marL="457200" rtl="0" algn="l">
              <a:spcBef>
                <a:spcPts val="0"/>
              </a:spcBef>
              <a:spcAft>
                <a:spcPts val="0"/>
              </a:spcAft>
              <a:buSzPts val="1800"/>
              <a:buAutoNum type="arabicPeriod"/>
            </a:pPr>
            <a:r>
              <a:rPr lang="en-GB"/>
              <a:t>L</a:t>
            </a:r>
            <a:r>
              <a:rPr lang="en-GB"/>
              <a:t>ook at the q</a:t>
            </a:r>
            <a:r>
              <a:rPr lang="en-GB"/>
              <a:t>uantitative and qualitative analysis</a:t>
            </a:r>
            <a:endParaRPr/>
          </a:p>
          <a:p>
            <a:pPr indent="-342900" lvl="0" marL="457200" rtl="0" algn="l">
              <a:spcBef>
                <a:spcPts val="0"/>
              </a:spcBef>
              <a:spcAft>
                <a:spcPts val="0"/>
              </a:spcAft>
              <a:buSzPts val="1800"/>
              <a:buAutoNum type="arabicPeriod"/>
            </a:pPr>
            <a:r>
              <a:rPr lang="en-GB"/>
              <a:t>Identify subject matter experts to support the mitigation strategies </a:t>
            </a:r>
            <a:endParaRPr/>
          </a:p>
          <a:p>
            <a:pPr indent="-342900" lvl="0" marL="457200" rtl="0" algn="l">
              <a:spcBef>
                <a:spcPts val="0"/>
              </a:spcBef>
              <a:spcAft>
                <a:spcPts val="0"/>
              </a:spcAft>
              <a:buSzPts val="1800"/>
              <a:buAutoNum type="arabicPeriod"/>
            </a:pPr>
            <a:r>
              <a:rPr lang="en-GB"/>
              <a:t>Work with the risk management department to test that the mitigations will work.</a:t>
            </a:r>
            <a:endParaRPr/>
          </a:p>
          <a:p>
            <a:pPr indent="0" lvl="0" marL="457200" rtl="0" algn="l">
              <a:spcBef>
                <a:spcPts val="1200"/>
              </a:spcBef>
              <a:spcAft>
                <a:spcPts val="1200"/>
              </a:spcAft>
              <a:buNone/>
            </a:pPr>
            <a:r>
              <a:t/>
            </a:r>
            <a:endParaRPr/>
          </a:p>
        </p:txBody>
      </p:sp>
      <p:pic>
        <p:nvPicPr>
          <p:cNvPr id="101" name="Google Shape;101;p20"/>
          <p:cNvPicPr preferRelativeResize="0"/>
          <p:nvPr/>
        </p:nvPicPr>
        <p:blipFill>
          <a:blip r:embed="rId3">
            <a:alphaModFix/>
          </a:blip>
          <a:stretch>
            <a:fillRect/>
          </a:stretch>
        </p:blipFill>
        <p:spPr>
          <a:xfrm>
            <a:off x="4724400" y="1170125"/>
            <a:ext cx="3820975" cy="382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Risk Monitoring- Root cause analysis</a:t>
            </a:r>
            <a:endParaRPr/>
          </a:p>
        </p:txBody>
      </p:sp>
      <p:sp>
        <p:nvSpPr>
          <p:cNvPr id="107" name="Google Shape;107;p21"/>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a:t>
            </a:r>
            <a:r>
              <a:rPr lang="en-GB"/>
              <a:t>teps to identify the root cause as part of monitoring risk:</a:t>
            </a:r>
            <a:endParaRPr/>
          </a:p>
          <a:p>
            <a:pPr indent="-342900" lvl="0" marL="457200" rtl="0" algn="l">
              <a:spcBef>
                <a:spcPts val="1200"/>
              </a:spcBef>
              <a:spcAft>
                <a:spcPts val="0"/>
              </a:spcAft>
              <a:buSzPts val="1800"/>
              <a:buAutoNum type="arabicPeriod"/>
            </a:pPr>
            <a:r>
              <a:rPr lang="en-GB"/>
              <a:t>Define the event</a:t>
            </a:r>
            <a:endParaRPr/>
          </a:p>
          <a:p>
            <a:pPr indent="-342900" lvl="0" marL="457200" rtl="0" algn="l">
              <a:spcBef>
                <a:spcPts val="0"/>
              </a:spcBef>
              <a:spcAft>
                <a:spcPts val="0"/>
              </a:spcAft>
              <a:buSzPts val="1800"/>
              <a:buAutoNum type="arabicPeriod"/>
            </a:pPr>
            <a:r>
              <a:rPr lang="en-GB"/>
              <a:t>Finding the root cause</a:t>
            </a:r>
            <a:endParaRPr/>
          </a:p>
          <a:p>
            <a:pPr indent="-342900" lvl="0" marL="457200" rtl="0" algn="l">
              <a:spcBef>
                <a:spcPts val="0"/>
              </a:spcBef>
              <a:spcAft>
                <a:spcPts val="0"/>
              </a:spcAft>
              <a:buSzPts val="1800"/>
              <a:buAutoNum type="arabicPeriod"/>
            </a:pPr>
            <a:r>
              <a:rPr lang="en-GB"/>
              <a:t>Find solutions</a:t>
            </a:r>
            <a:endParaRPr/>
          </a:p>
          <a:p>
            <a:pPr indent="-342900" lvl="0" marL="457200" rtl="0" algn="l">
              <a:spcBef>
                <a:spcPts val="0"/>
              </a:spcBef>
              <a:spcAft>
                <a:spcPts val="0"/>
              </a:spcAft>
              <a:buSzPts val="1800"/>
              <a:buAutoNum type="arabicPeriod"/>
            </a:pPr>
            <a:r>
              <a:rPr lang="en-GB"/>
              <a:t>Take action</a:t>
            </a:r>
            <a:endParaRPr/>
          </a:p>
          <a:p>
            <a:pPr indent="-342900" lvl="0" marL="457200" rtl="0" algn="l">
              <a:spcBef>
                <a:spcPts val="0"/>
              </a:spcBef>
              <a:spcAft>
                <a:spcPts val="0"/>
              </a:spcAft>
              <a:buSzPts val="1800"/>
              <a:buAutoNum type="arabicPeriod"/>
            </a:pPr>
            <a:r>
              <a:rPr lang="en-GB"/>
              <a:t>Verify solution effectiveness</a:t>
            </a:r>
            <a:endParaRPr/>
          </a:p>
        </p:txBody>
      </p:sp>
      <p:pic>
        <p:nvPicPr>
          <p:cNvPr id="108" name="Google Shape;108;p21"/>
          <p:cNvPicPr preferRelativeResize="0"/>
          <p:nvPr/>
        </p:nvPicPr>
        <p:blipFill>
          <a:blip r:embed="rId3">
            <a:alphaModFix/>
          </a:blip>
          <a:stretch>
            <a:fillRect/>
          </a:stretch>
        </p:blipFill>
        <p:spPr>
          <a:xfrm>
            <a:off x="4724400" y="1170125"/>
            <a:ext cx="3795158"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Risk Monitoring</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Periodic or ongoing evaluations for the functioning of:</a:t>
            </a:r>
            <a:endParaRPr/>
          </a:p>
          <a:p>
            <a:pPr indent="-342900" lvl="0" marL="457200" rtl="0" algn="l">
              <a:spcBef>
                <a:spcPts val="0"/>
              </a:spcBef>
              <a:spcAft>
                <a:spcPts val="0"/>
              </a:spcAft>
              <a:buSzPts val="1800"/>
              <a:buChar char="-"/>
            </a:pPr>
            <a:r>
              <a:rPr lang="en-GB"/>
              <a:t>C</a:t>
            </a:r>
            <a:r>
              <a:rPr lang="en-GB"/>
              <a:t>ontrols that support the risk</a:t>
            </a:r>
            <a:endParaRPr/>
          </a:p>
          <a:p>
            <a:pPr indent="-342900" lvl="0" marL="457200" rtl="0" algn="l">
              <a:spcBef>
                <a:spcPts val="0"/>
              </a:spcBef>
              <a:spcAft>
                <a:spcPts val="0"/>
              </a:spcAft>
              <a:buSzPts val="1800"/>
              <a:buChar char="-"/>
            </a:pPr>
            <a:r>
              <a:rPr lang="en-GB"/>
              <a:t>The current risk management process</a:t>
            </a:r>
            <a:endParaRPr/>
          </a:p>
          <a:p>
            <a:pPr indent="-342900" lvl="0" marL="457200" rtl="0" algn="l">
              <a:spcBef>
                <a:spcPts val="0"/>
              </a:spcBef>
              <a:spcAft>
                <a:spcPts val="0"/>
              </a:spcAft>
              <a:buSzPts val="1800"/>
              <a:buChar char="●"/>
            </a:pPr>
            <a:r>
              <a:rPr lang="en-GB"/>
              <a:t>Reviewing the key risk indicators which drive a proactive risk management</a:t>
            </a:r>
            <a:endParaRPr/>
          </a:p>
          <a:p>
            <a:pPr indent="-342900" lvl="0" marL="457200" rtl="0" algn="l">
              <a:spcBef>
                <a:spcPts val="0"/>
              </a:spcBef>
              <a:spcAft>
                <a:spcPts val="0"/>
              </a:spcAft>
              <a:buSzPts val="1800"/>
              <a:buChar char="-"/>
            </a:pPr>
            <a:r>
              <a:rPr lang="en-GB"/>
              <a:t>Helps to identify when risks are becoming an issue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For the Data Analyst</a:t>
            </a:r>
            <a:endParaRPr/>
          </a:p>
        </p:txBody>
      </p:sp>
      <p:sp>
        <p:nvSpPr>
          <p:cNvPr id="120" name="Google Shape;120;p23"/>
          <p:cNvSpPr txBox="1"/>
          <p:nvPr>
            <p:ph idx="1" type="body"/>
          </p:nvPr>
        </p:nvSpPr>
        <p:spPr>
          <a:xfrm>
            <a:off x="311700" y="1152475"/>
            <a:ext cx="42603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GB"/>
              <a:t>Risk </a:t>
            </a:r>
            <a:r>
              <a:rPr b="1" lang="en-GB"/>
              <a:t>appetite</a:t>
            </a:r>
            <a:r>
              <a:rPr lang="en-GB"/>
              <a:t>: </a:t>
            </a:r>
            <a:r>
              <a:rPr lang="en-GB"/>
              <a:t>understand the position of the organization when it comes to mitigating a risk as some organizations will simply accept risk while other organizations will implement measures to lessen the risk</a:t>
            </a:r>
            <a:endParaRPr/>
          </a:p>
          <a:p>
            <a:pPr indent="-342900" lvl="0" marL="457200" rtl="0" algn="l">
              <a:spcBef>
                <a:spcPts val="0"/>
              </a:spcBef>
              <a:spcAft>
                <a:spcPts val="0"/>
              </a:spcAft>
              <a:buSzPts val="1800"/>
              <a:buChar char="●"/>
            </a:pPr>
            <a:r>
              <a:rPr b="1" lang="en-GB"/>
              <a:t>Risk Culture</a:t>
            </a:r>
            <a:r>
              <a:rPr lang="en-GB"/>
              <a:t>: Understanding the risk culture and the organization’s stance on risk mitigation is important when you are identifying risk within your data analysis.</a:t>
            </a:r>
            <a:endParaRPr/>
          </a:p>
        </p:txBody>
      </p:sp>
      <p:pic>
        <p:nvPicPr>
          <p:cNvPr id="121" name="Google Shape;121;p23"/>
          <p:cNvPicPr preferRelativeResize="0"/>
          <p:nvPr/>
        </p:nvPicPr>
        <p:blipFill>
          <a:blip r:embed="rId3">
            <a:alphaModFix/>
          </a:blip>
          <a:stretch>
            <a:fillRect/>
          </a:stretch>
        </p:blipFill>
        <p:spPr>
          <a:xfrm>
            <a:off x="4826250" y="1109025"/>
            <a:ext cx="3833545" cy="38209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In_Class Activity- Risk Response Planning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Using the risk heat </a:t>
            </a:r>
            <a:r>
              <a:rPr lang="en-GB"/>
              <a:t>map, quantitative and qualitative risk assessment from</a:t>
            </a:r>
            <a:r>
              <a:rPr lang="en-GB"/>
              <a:t> your prior activity as a guid, develop the risk responses</a:t>
            </a:r>
            <a:endParaRPr/>
          </a:p>
          <a:p>
            <a:pPr indent="0" lvl="0" marL="0" rtl="0" algn="l">
              <a:spcBef>
                <a:spcPts val="1200"/>
              </a:spcBef>
              <a:spcAft>
                <a:spcPts val="0"/>
              </a:spcAft>
              <a:buNone/>
            </a:pPr>
            <a:r>
              <a:rPr b="1" lang="en-GB"/>
              <a:t>Considerations</a:t>
            </a:r>
            <a:r>
              <a:rPr lang="en-GB"/>
              <a:t>:</a:t>
            </a:r>
            <a:endParaRPr/>
          </a:p>
          <a:p>
            <a:pPr indent="0" lvl="0" marL="0" rtl="0" algn="l">
              <a:spcBef>
                <a:spcPts val="1200"/>
              </a:spcBef>
              <a:spcAft>
                <a:spcPts val="0"/>
              </a:spcAft>
              <a:buNone/>
            </a:pPr>
            <a:r>
              <a:rPr lang="en-GB"/>
              <a:t>Brainstorm and develop risk response plans for the top-priority critical  risks.</a:t>
            </a:r>
            <a:endParaRPr/>
          </a:p>
          <a:p>
            <a:pPr indent="0" lvl="0" marL="0" rtl="0" algn="l">
              <a:spcBef>
                <a:spcPts val="1200"/>
              </a:spcBef>
              <a:spcAft>
                <a:spcPts val="0"/>
              </a:spcAft>
              <a:buNone/>
            </a:pPr>
            <a:r>
              <a:rPr lang="en-GB"/>
              <a:t>Consider applicable response strategy (risk avoidance, mitigation/reduction, transfer, acceptance ) and justify your choice for the risk(s) under consideration.</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GB"/>
              <a:t>Note:</a:t>
            </a:r>
            <a:r>
              <a:rPr lang="en-GB"/>
              <a:t> critical thinking and creativity is required for this activity</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