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9" r:id="rId9"/>
    <p:sldId id="263" r:id="rId10"/>
    <p:sldId id="268" r:id="rId11"/>
    <p:sldId id="271" r:id="rId12"/>
    <p:sldId id="264" r:id="rId13"/>
    <p:sldId id="265" r:id="rId14"/>
    <p:sldId id="266" r:id="rId15"/>
    <p:sldId id="267"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usa" id="{D492B4B8-65F6-4F0D-A2A8-99BE4E9A46E1}">
          <p14:sldIdLst>
            <p14:sldId id="256"/>
            <p14:sldId id="257"/>
            <p14:sldId id="258"/>
          </p14:sldIdLst>
        </p14:section>
        <p14:section name="Chenlu" id="{0225CE1A-DC3A-4744-8269-355A2B9B45F9}">
          <p14:sldIdLst>
            <p14:sldId id="259"/>
            <p14:sldId id="260"/>
            <p14:sldId id="261"/>
            <p14:sldId id="262"/>
            <p14:sldId id="269"/>
            <p14:sldId id="263"/>
            <p14:sldId id="268"/>
            <p14:sldId id="271"/>
          </p14:sldIdLst>
        </p14:section>
        <p14:section name="Victory" id="{30798ECF-5D1A-4073-ACC6-FE758B0ABED0}">
          <p14:sldIdLst>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65D36"/>
    <a:srgbClr val="BE6136"/>
    <a:srgbClr val="F79451"/>
    <a:srgbClr val="B65E37"/>
    <a:srgbClr val="9A5B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389" autoAdjust="0"/>
    <p:restoredTop sz="62329" autoAdjust="0"/>
  </p:normalViewPr>
  <p:slideViewPr>
    <p:cSldViewPr snapToGrid="0" snapToObjects="1">
      <p:cViewPr varScale="1">
        <p:scale>
          <a:sx n="88" d="100"/>
          <a:sy n="88" d="100"/>
        </p:scale>
        <p:origin x="96" y="1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15440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68DA9-13F0-DAF0-1761-28CD4FFE36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70CA43-95DE-74C2-A5A1-587F678EBA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D373FD-85D4-151A-39BC-D922772553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D61216-65AC-FEAD-7816-AF2E7ED33139}"/>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228292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41BA9-493A-DFEE-13E0-C96979B914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F3806F-0ACA-2D7D-5514-43A94CF257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A25E71-0D08-49E3-69DC-A4F191D800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E131D1-3A4A-46E2-166C-AD0784D81EF6}"/>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252139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17012-767D-7686-D38A-0C750A6966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AD1995-E51E-7FA2-37ED-3E9ECC1D1A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127400-2698-D43A-AA6F-0AE6F8E7BF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C9519C-8413-0388-7D7C-196E7FA414F4}"/>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9800218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3EB"/>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A3A"/>
        </a:solidFill>
        <a:effectLst/>
      </p:bgPr>
    </p:bg>
    <p:spTree>
      <p:nvGrpSpPr>
        <p:cNvPr id="1" name=""/>
        <p:cNvGrpSpPr/>
        <p:nvPr/>
      </p:nvGrpSpPr>
      <p:grpSpPr>
        <a:xfrm>
          <a:off x="0" y="0"/>
          <a:ext cx="0" cy="0"/>
          <a:chOff x="0" y="0"/>
          <a:chExt cx="0" cy="0"/>
        </a:xfrm>
      </p:grpSpPr>
      <p:sp>
        <p:nvSpPr>
          <p:cNvPr id="2" name="Shape 0"/>
          <p:cNvSpPr/>
          <p:nvPr/>
        </p:nvSpPr>
        <p:spPr>
          <a:xfrm>
            <a:off x="14748" y="29496"/>
            <a:ext cx="12191695" cy="6858000"/>
          </a:xfrm>
          <a:prstGeom prst="rect">
            <a:avLst/>
          </a:prstGeom>
          <a:solidFill>
            <a:srgbClr val="172A3A"/>
          </a:solidFill>
          <a:ln w="12700">
            <a:solidFill>
              <a:srgbClr val="172A3A">
                <a:alpha val="0"/>
              </a:srgbClr>
            </a:solidFill>
            <a:prstDash val="solid"/>
          </a:ln>
        </p:spPr>
      </p:sp>
      <p:sp>
        <p:nvSpPr>
          <p:cNvPr id="3" name="Shape 1"/>
          <p:cNvSpPr/>
          <p:nvPr/>
        </p:nvSpPr>
        <p:spPr>
          <a:xfrm>
            <a:off x="0" y="6053328"/>
            <a:ext cx="12191695" cy="804672"/>
          </a:xfrm>
          <a:prstGeom prst="rect">
            <a:avLst/>
          </a:prstGeom>
          <a:solidFill>
            <a:srgbClr val="FF9900"/>
          </a:solidFill>
          <a:ln w="12700">
            <a:solidFill>
              <a:srgbClr val="FF9900">
                <a:alpha val="0"/>
              </a:srgbClr>
            </a:solidFill>
            <a:prstDash val="solid"/>
          </a:ln>
        </p:spPr>
      </p:sp>
      <p:sp>
        <p:nvSpPr>
          <p:cNvPr id="4" name="Text 2"/>
          <p:cNvSpPr/>
          <p:nvPr/>
        </p:nvSpPr>
        <p:spPr>
          <a:xfrm>
            <a:off x="749808" y="1051560"/>
            <a:ext cx="10515600" cy="640080"/>
          </a:xfrm>
          <a:prstGeom prst="rect">
            <a:avLst/>
          </a:prstGeom>
          <a:noFill/>
          <a:ln/>
        </p:spPr>
        <p:txBody>
          <a:bodyPr wrap="square" lIns="0" tIns="0" rIns="0" bIns="0" rtlCol="0" anchor="ctr"/>
          <a:lstStyle/>
          <a:p>
            <a:pPr marL="0" indent="0">
              <a:buNone/>
            </a:pPr>
            <a:r>
              <a:rPr lang="en-US" sz="3800" b="1" dirty="0">
                <a:solidFill>
                  <a:srgbClr val="FFFFFF"/>
                </a:solidFill>
                <a:latin typeface="Aptos Display" pitchFamily="34" charset="0"/>
                <a:ea typeface="Aptos Display" pitchFamily="34" charset="-122"/>
                <a:cs typeface="Aptos Display" pitchFamily="34" charset="-120"/>
              </a:rPr>
              <a:t>Amazon AI Enterprise Risk Assessment</a:t>
            </a:r>
            <a:endParaRPr lang="en-US" sz="3800" dirty="0"/>
          </a:p>
        </p:txBody>
      </p:sp>
      <p:sp>
        <p:nvSpPr>
          <p:cNvPr id="5" name="Text 3"/>
          <p:cNvSpPr/>
          <p:nvPr/>
        </p:nvSpPr>
        <p:spPr>
          <a:xfrm>
            <a:off x="786384" y="1901952"/>
            <a:ext cx="9966960" cy="475488"/>
          </a:xfrm>
          <a:prstGeom prst="rect">
            <a:avLst/>
          </a:prstGeom>
          <a:noFill/>
          <a:ln/>
        </p:spPr>
        <p:txBody>
          <a:bodyPr wrap="square" lIns="0" tIns="0" rIns="0" bIns="0" rtlCol="0" anchor="ctr"/>
          <a:lstStyle/>
          <a:p>
            <a:pPr marL="0" indent="0">
              <a:buNone/>
            </a:pPr>
            <a:r>
              <a:rPr lang="en-US" sz="1700" dirty="0">
                <a:solidFill>
                  <a:srgbClr val="E9EDF1"/>
                </a:solidFill>
                <a:latin typeface="Aptos" pitchFamily="34" charset="0"/>
                <a:ea typeface="Aptos" pitchFamily="34" charset="-122"/>
                <a:cs typeface="Aptos" pitchFamily="34" charset="-120"/>
              </a:rPr>
              <a:t>A quantitative ERM presentation for the AI customer service and warehouse strategy risk study</a:t>
            </a:r>
            <a:endParaRPr lang="en-US" sz="1700" dirty="0"/>
          </a:p>
        </p:txBody>
      </p:sp>
      <p:sp>
        <p:nvSpPr>
          <p:cNvPr id="6" name="Shape 4"/>
          <p:cNvSpPr/>
          <p:nvPr/>
        </p:nvSpPr>
        <p:spPr>
          <a:xfrm>
            <a:off x="786384" y="2606040"/>
            <a:ext cx="4754880" cy="0"/>
          </a:xfrm>
          <a:prstGeom prst="line">
            <a:avLst/>
          </a:prstGeom>
          <a:noFill/>
          <a:ln w="38100">
            <a:solidFill>
              <a:srgbClr val="FF9900"/>
            </a:solidFill>
            <a:prstDash val="solid"/>
          </a:ln>
        </p:spPr>
      </p:sp>
      <p:sp>
        <p:nvSpPr>
          <p:cNvPr id="7" name="Text 5"/>
          <p:cNvSpPr/>
          <p:nvPr/>
        </p:nvSpPr>
        <p:spPr>
          <a:xfrm>
            <a:off x="786384" y="3017520"/>
            <a:ext cx="7863840" cy="320040"/>
          </a:xfrm>
          <a:prstGeom prst="rect">
            <a:avLst/>
          </a:prstGeom>
          <a:noFill/>
          <a:ln/>
        </p:spPr>
        <p:txBody>
          <a:bodyPr wrap="square" lIns="0" tIns="0" rIns="0" bIns="0" rtlCol="0" anchor="ctr"/>
          <a:lstStyle/>
          <a:p>
            <a:r>
              <a:rPr lang="en-US" sz="1400" dirty="0">
                <a:solidFill>
                  <a:srgbClr val="E9EDF1"/>
                </a:solidFill>
                <a:latin typeface="Aptos" pitchFamily="34" charset="0"/>
                <a:ea typeface="Aptos" pitchFamily="34" charset="-122"/>
                <a:cs typeface="Aptos" pitchFamily="34" charset="-120"/>
              </a:rPr>
              <a:t>Prepared from the final report and enterprise risk project outputs</a:t>
            </a:r>
            <a:endParaRPr lang="en-US" sz="1400" dirty="0"/>
          </a:p>
        </p:txBody>
      </p:sp>
      <p:sp>
        <p:nvSpPr>
          <p:cNvPr id="8" name="Text 6"/>
          <p:cNvSpPr/>
          <p:nvPr/>
        </p:nvSpPr>
        <p:spPr>
          <a:xfrm>
            <a:off x="786384" y="6263640"/>
            <a:ext cx="7680960" cy="228600"/>
          </a:xfrm>
          <a:prstGeom prst="rect">
            <a:avLst/>
          </a:prstGeom>
          <a:noFill/>
          <a:ln/>
        </p:spPr>
        <p:txBody>
          <a:bodyPr wrap="square" lIns="0" tIns="0" rIns="0" bIns="0" rtlCol="0" anchor="ctr"/>
          <a:lstStyle/>
          <a:p>
            <a:pPr marL="0" indent="0">
              <a:buNone/>
            </a:pPr>
            <a:r>
              <a:rPr lang="en-US" sz="1200" b="1" dirty="0">
                <a:solidFill>
                  <a:srgbClr val="172A3A"/>
                </a:solidFill>
                <a:latin typeface="Aptos" pitchFamily="34" charset="0"/>
                <a:ea typeface="Aptos" pitchFamily="34" charset="-122"/>
                <a:cs typeface="Aptos" pitchFamily="34" charset="-120"/>
              </a:rPr>
              <a:t>Prepared by: Musa Oseni </a:t>
            </a:r>
            <a:r>
              <a:rPr lang="en-US" sz="1200" b="1" dirty="0" err="1">
                <a:solidFill>
                  <a:srgbClr val="172A3A"/>
                </a:solidFill>
                <a:latin typeface="Aptos" pitchFamily="34" charset="0"/>
                <a:ea typeface="Aptos" pitchFamily="34" charset="-122"/>
                <a:cs typeface="Aptos" pitchFamily="34" charset="-120"/>
              </a:rPr>
              <a:t>Oyakhire</a:t>
            </a:r>
            <a:r>
              <a:rPr lang="en-US" sz="1200" b="1" dirty="0">
                <a:solidFill>
                  <a:srgbClr val="172A3A"/>
                </a:solidFill>
                <a:latin typeface="Aptos" pitchFamily="34" charset="0"/>
                <a:ea typeface="Aptos" pitchFamily="34" charset="-122"/>
                <a:cs typeface="Aptos" pitchFamily="34" charset="-120"/>
              </a:rPr>
              <a:t> |  ALY6130 Risk Management for Analytics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B"/>
        </a:solidFill>
        <a:effectLst/>
      </p:bgPr>
    </p:bg>
    <p:spTree>
      <p:nvGrpSpPr>
        <p:cNvPr id="1" name=""/>
        <p:cNvGrpSpPr/>
        <p:nvPr/>
      </p:nvGrpSpPr>
      <p:grpSpPr>
        <a:xfrm>
          <a:off x="0" y="0"/>
          <a:ext cx="0" cy="0"/>
          <a:chOff x="0" y="0"/>
          <a:chExt cx="0" cy="0"/>
        </a:xfrm>
      </p:grpSpPr>
      <p:sp>
        <p:nvSpPr>
          <p:cNvPr id="2" name="Shape 0"/>
          <p:cNvSpPr/>
          <p:nvPr/>
        </p:nvSpPr>
        <p:spPr>
          <a:xfrm>
            <a:off x="14748" y="14748"/>
            <a:ext cx="12191695" cy="6858000"/>
          </a:xfrm>
          <a:prstGeom prst="rect">
            <a:avLst/>
          </a:prstGeom>
          <a:solidFill>
            <a:srgbClr val="F7F3EB"/>
          </a:solidFill>
          <a:ln w="12700">
            <a:solidFill>
              <a:srgbClr val="F7F3EB">
                <a:alpha val="0"/>
              </a:srgbClr>
            </a:solidFill>
            <a:prstDash val="solid"/>
          </a:ln>
        </p:spPr>
        <p:txBody>
          <a:bodyPr/>
          <a:lstStyle/>
          <a:p>
            <a:endParaRPr lang="en-US" dirty="0"/>
          </a:p>
        </p:txBody>
      </p:sp>
      <p:sp>
        <p:nvSpPr>
          <p:cNvPr id="3" name="Text 1"/>
          <p:cNvSpPr/>
          <p:nvPr/>
        </p:nvSpPr>
        <p:spPr>
          <a:xfrm>
            <a:off x="566928" y="320040"/>
            <a:ext cx="9875520" cy="438912"/>
          </a:xfrm>
          <a:prstGeom prst="rect">
            <a:avLst/>
          </a:prstGeom>
          <a:noFill/>
          <a:ln/>
        </p:spPr>
        <p:txBody>
          <a:bodyPr wrap="square" lIns="0" tIns="0" rIns="0" bIns="0" rtlCol="0" anchor="ctr"/>
          <a:lstStyle/>
          <a:p>
            <a:pPr marL="0" indent="0">
              <a:buNone/>
            </a:pPr>
            <a:r>
              <a:rPr lang="en-US" sz="2800" b="1" dirty="0">
                <a:solidFill>
                  <a:srgbClr val="172A3A"/>
                </a:solidFill>
                <a:latin typeface="Aptos Display" pitchFamily="34" charset="0"/>
                <a:ea typeface="Aptos Display" pitchFamily="34" charset="-122"/>
                <a:cs typeface="Aptos Display" pitchFamily="34" charset="-120"/>
              </a:rPr>
              <a:t>Background and purpose</a:t>
            </a:r>
            <a:endParaRPr lang="en-US" sz="2800" dirty="0"/>
          </a:p>
        </p:txBody>
      </p:sp>
      <p:sp>
        <p:nvSpPr>
          <p:cNvPr id="4" name="Shape 2"/>
          <p:cNvSpPr/>
          <p:nvPr/>
        </p:nvSpPr>
        <p:spPr>
          <a:xfrm>
            <a:off x="566928" y="896112"/>
            <a:ext cx="11064240" cy="0"/>
          </a:xfrm>
          <a:prstGeom prst="line">
            <a:avLst/>
          </a:prstGeom>
          <a:noFill/>
          <a:ln w="19050">
            <a:solidFill>
              <a:srgbClr val="FF9900"/>
            </a:solidFill>
            <a:prstDash val="solid"/>
          </a:ln>
        </p:spPr>
      </p:sp>
      <p:sp>
        <p:nvSpPr>
          <p:cNvPr id="5" name="Text 3"/>
          <p:cNvSpPr/>
          <p:nvPr/>
        </p:nvSpPr>
        <p:spPr>
          <a:xfrm>
            <a:off x="585216" y="960120"/>
            <a:ext cx="10698480" cy="256032"/>
          </a:xfrm>
          <a:prstGeom prst="rect">
            <a:avLst/>
          </a:prstGeom>
          <a:noFill/>
          <a:ln/>
        </p:spPr>
        <p:txBody>
          <a:bodyPr wrap="square" lIns="0" tIns="0" rIns="0" bIns="0" rtlCol="0" anchor="ctr"/>
          <a:lstStyle/>
          <a:p>
            <a:pPr marL="0" indent="0">
              <a:buNone/>
            </a:pPr>
            <a:r>
              <a:rPr lang="en-US" sz="1100" dirty="0">
                <a:solidFill>
                  <a:srgbClr val="5A6670"/>
                </a:solidFill>
                <a:latin typeface="Aptos" pitchFamily="34" charset="0"/>
                <a:ea typeface="Aptos" pitchFamily="34" charset="-122"/>
                <a:cs typeface="Aptos" pitchFamily="34" charset="-120"/>
              </a:rPr>
              <a:t>Why the risk assessment matters for decision makers</a:t>
            </a:r>
            <a:endParaRPr lang="en-US" sz="1100" dirty="0"/>
          </a:p>
        </p:txBody>
      </p:sp>
      <p:sp>
        <p:nvSpPr>
          <p:cNvPr id="6" name="Text 4"/>
          <p:cNvSpPr/>
          <p:nvPr/>
        </p:nvSpPr>
        <p:spPr>
          <a:xfrm>
            <a:off x="658368" y="1426464"/>
            <a:ext cx="5486400" cy="2286000"/>
          </a:xfrm>
          <a:prstGeom prst="rect">
            <a:avLst/>
          </a:prstGeom>
          <a:noFill/>
          <a:ln/>
        </p:spPr>
        <p:txBody>
          <a:bodyPr wrap="square" lIns="508" tIns="508" rIns="508" bIns="508" rtlCol="0" anchor="t">
            <a:normAutofit/>
          </a:bodyPr>
          <a:lstStyle/>
          <a:p>
            <a:pPr marL="0" indent="0">
              <a:buNone/>
            </a:pPr>
            <a:r>
              <a:rPr lang="en-US" sz="1600" dirty="0">
                <a:solidFill>
                  <a:srgbClr val="111827"/>
                </a:solidFill>
                <a:latin typeface="Aptos" pitchFamily="34" charset="0"/>
                <a:ea typeface="Aptos" pitchFamily="34" charset="-122"/>
                <a:cs typeface="Aptos" pitchFamily="34" charset="-120"/>
              </a:rPr>
              <a:t>Amazon plans to acquire and integrate an AI customer service platform while also extending AI capability into warehouse operations. The assessment brings the earlier SWOT work into a full enterprise risk management view with qualitative scoring, quantitative loss modelling, ML based risk prediction, Monte Carlo simulation, KRIs, and a treatment plan.</a:t>
            </a:r>
            <a:endParaRPr lang="en-US" sz="1600" dirty="0"/>
          </a:p>
        </p:txBody>
      </p:sp>
      <p:sp>
        <p:nvSpPr>
          <p:cNvPr id="7" name="Text 5"/>
          <p:cNvSpPr/>
          <p:nvPr/>
        </p:nvSpPr>
        <p:spPr>
          <a:xfrm>
            <a:off x="6565392" y="1508760"/>
            <a:ext cx="1554480" cy="420624"/>
          </a:xfrm>
          <a:prstGeom prst="rect">
            <a:avLst/>
          </a:prstGeom>
          <a:noFill/>
          <a:ln/>
        </p:spPr>
        <p:txBody>
          <a:bodyPr wrap="square" lIns="0" tIns="0" rIns="0" bIns="0" rtlCol="0" anchor="ctr"/>
          <a:lstStyle/>
          <a:p>
            <a:pPr marL="0" indent="0" algn="ctr">
              <a:buNone/>
            </a:pPr>
            <a:r>
              <a:rPr lang="en-US" sz="2800" b="1" dirty="0">
                <a:solidFill>
                  <a:srgbClr val="FF9900"/>
                </a:solidFill>
                <a:latin typeface="Aptos Display" pitchFamily="34" charset="0"/>
                <a:ea typeface="Aptos Display" pitchFamily="34" charset="-122"/>
                <a:cs typeface="Aptos Display" pitchFamily="34" charset="-120"/>
              </a:rPr>
              <a:t>10</a:t>
            </a:r>
            <a:endParaRPr lang="en-US" sz="2800" dirty="0"/>
          </a:p>
        </p:txBody>
      </p:sp>
      <p:sp>
        <p:nvSpPr>
          <p:cNvPr id="8" name="Text 6"/>
          <p:cNvSpPr/>
          <p:nvPr/>
        </p:nvSpPr>
        <p:spPr>
          <a:xfrm>
            <a:off x="6565392" y="1984248"/>
            <a:ext cx="1554480" cy="512064"/>
          </a:xfrm>
          <a:prstGeom prst="rect">
            <a:avLst/>
          </a:prstGeom>
          <a:noFill/>
          <a:ln/>
        </p:spPr>
        <p:txBody>
          <a:bodyPr wrap="square" lIns="254" tIns="254" rIns="254" bIns="254" rtlCol="0" anchor="ctr">
            <a:normAutofit/>
          </a:bodyPr>
          <a:lstStyle/>
          <a:p>
            <a:pPr marL="0" indent="0" algn="ctr">
              <a:buNone/>
            </a:pPr>
            <a:r>
              <a:rPr lang="en-US" sz="1050" dirty="0">
                <a:solidFill>
                  <a:srgbClr val="172A3A"/>
                </a:solidFill>
                <a:latin typeface="Aptos" pitchFamily="34" charset="0"/>
                <a:ea typeface="Aptos" pitchFamily="34" charset="-122"/>
                <a:cs typeface="Aptos" pitchFamily="34" charset="-120"/>
              </a:rPr>
              <a:t>Risks assessed</a:t>
            </a:r>
            <a:endParaRPr lang="en-US" sz="1050" dirty="0"/>
          </a:p>
        </p:txBody>
      </p:sp>
      <p:sp>
        <p:nvSpPr>
          <p:cNvPr id="9" name="Text 7"/>
          <p:cNvSpPr/>
          <p:nvPr/>
        </p:nvSpPr>
        <p:spPr>
          <a:xfrm>
            <a:off x="8458200" y="1508760"/>
            <a:ext cx="1828800" cy="420624"/>
          </a:xfrm>
          <a:prstGeom prst="rect">
            <a:avLst/>
          </a:prstGeom>
          <a:noFill/>
          <a:ln/>
        </p:spPr>
        <p:txBody>
          <a:bodyPr wrap="square" lIns="0" tIns="0" rIns="0" bIns="0" rtlCol="0" anchor="ctr"/>
          <a:lstStyle/>
          <a:p>
            <a:pPr marL="0" indent="0" algn="ctr">
              <a:buNone/>
            </a:pPr>
            <a:r>
              <a:rPr lang="en-US" sz="2800" b="1" dirty="0">
                <a:solidFill>
                  <a:srgbClr val="C84B31"/>
                </a:solidFill>
                <a:latin typeface="Aptos Display" pitchFamily="34" charset="0"/>
                <a:ea typeface="Aptos Display" pitchFamily="34" charset="-122"/>
                <a:cs typeface="Aptos Display" pitchFamily="34" charset="-120"/>
              </a:rPr>
              <a:t>$719m</a:t>
            </a:r>
            <a:endParaRPr lang="en-US" sz="2800" dirty="0"/>
          </a:p>
        </p:txBody>
      </p:sp>
      <p:sp>
        <p:nvSpPr>
          <p:cNvPr id="10" name="Text 8"/>
          <p:cNvSpPr/>
          <p:nvPr/>
        </p:nvSpPr>
        <p:spPr>
          <a:xfrm>
            <a:off x="8458200" y="1984248"/>
            <a:ext cx="1828800" cy="512064"/>
          </a:xfrm>
          <a:prstGeom prst="rect">
            <a:avLst/>
          </a:prstGeom>
          <a:noFill/>
          <a:ln/>
        </p:spPr>
        <p:txBody>
          <a:bodyPr wrap="square" lIns="254" tIns="254" rIns="254" bIns="254" rtlCol="0" anchor="ctr">
            <a:normAutofit/>
          </a:bodyPr>
          <a:lstStyle/>
          <a:p>
            <a:pPr marL="0" indent="0" algn="ctr">
              <a:buNone/>
            </a:pPr>
            <a:r>
              <a:rPr lang="en-US" sz="1050" dirty="0">
                <a:solidFill>
                  <a:srgbClr val="172A3A"/>
                </a:solidFill>
                <a:latin typeface="Aptos" pitchFamily="34" charset="0"/>
                <a:ea typeface="Aptos" pitchFamily="34" charset="-122"/>
                <a:cs typeface="Aptos" pitchFamily="34" charset="-120"/>
              </a:rPr>
              <a:t>mean simulated annual loss exposure</a:t>
            </a:r>
            <a:endParaRPr lang="en-US" sz="1050" dirty="0"/>
          </a:p>
        </p:txBody>
      </p:sp>
      <p:sp>
        <p:nvSpPr>
          <p:cNvPr id="11" name="Text 9"/>
          <p:cNvSpPr/>
          <p:nvPr/>
        </p:nvSpPr>
        <p:spPr>
          <a:xfrm>
            <a:off x="10378440" y="1508760"/>
            <a:ext cx="1325880" cy="420624"/>
          </a:xfrm>
          <a:prstGeom prst="rect">
            <a:avLst/>
          </a:prstGeom>
          <a:noFill/>
          <a:ln/>
        </p:spPr>
        <p:txBody>
          <a:bodyPr wrap="square" lIns="0" tIns="0" rIns="0" bIns="0" rtlCol="0" anchor="ctr"/>
          <a:lstStyle/>
          <a:p>
            <a:pPr marL="0" indent="0" algn="ctr">
              <a:buNone/>
            </a:pPr>
            <a:r>
              <a:rPr lang="en-US" sz="2800" b="1" dirty="0">
                <a:solidFill>
                  <a:srgbClr val="1F77B4"/>
                </a:solidFill>
                <a:latin typeface="Aptos Display" pitchFamily="34" charset="0"/>
                <a:ea typeface="Aptos Display" pitchFamily="34" charset="-122"/>
                <a:cs typeface="Aptos Display" pitchFamily="34" charset="-120"/>
              </a:rPr>
              <a:t>0.85</a:t>
            </a:r>
            <a:endParaRPr lang="en-US" sz="2800" dirty="0"/>
          </a:p>
        </p:txBody>
      </p:sp>
      <p:sp>
        <p:nvSpPr>
          <p:cNvPr id="12" name="Text 10"/>
          <p:cNvSpPr/>
          <p:nvPr/>
        </p:nvSpPr>
        <p:spPr>
          <a:xfrm>
            <a:off x="10378440" y="1984248"/>
            <a:ext cx="1325880" cy="512064"/>
          </a:xfrm>
          <a:prstGeom prst="rect">
            <a:avLst/>
          </a:prstGeom>
          <a:noFill/>
          <a:ln/>
        </p:spPr>
        <p:txBody>
          <a:bodyPr wrap="square" lIns="254" tIns="254" rIns="254" bIns="254" rtlCol="0" anchor="ctr">
            <a:normAutofit/>
          </a:bodyPr>
          <a:lstStyle/>
          <a:p>
            <a:pPr marL="0" indent="0" algn="ctr">
              <a:buNone/>
            </a:pPr>
            <a:r>
              <a:rPr lang="en-US" sz="1050" dirty="0">
                <a:solidFill>
                  <a:srgbClr val="172A3A"/>
                </a:solidFill>
                <a:latin typeface="Aptos" pitchFamily="34" charset="0"/>
                <a:ea typeface="Aptos" pitchFamily="34" charset="-122"/>
                <a:cs typeface="Aptos" pitchFamily="34" charset="-120"/>
              </a:rPr>
              <a:t>ROC AUC for the best prediction model</a:t>
            </a:r>
            <a:endParaRPr lang="en-US" sz="1050" dirty="0"/>
          </a:p>
        </p:txBody>
      </p:sp>
      <p:sp>
        <p:nvSpPr>
          <p:cNvPr id="13" name="Text 11"/>
          <p:cNvSpPr/>
          <p:nvPr/>
        </p:nvSpPr>
        <p:spPr>
          <a:xfrm>
            <a:off x="6583680" y="3246120"/>
            <a:ext cx="4937760" cy="1463040"/>
          </a:xfrm>
          <a:prstGeom prst="rect">
            <a:avLst/>
          </a:prstGeom>
          <a:noFill/>
          <a:ln/>
        </p:spPr>
        <p:txBody>
          <a:bodyPr wrap="square" lIns="508" tIns="508" rIns="508" bIns="508" rtlCol="0" anchor="t">
            <a:normAutofit/>
          </a:bodyPr>
          <a:lstStyle/>
          <a:p>
            <a:pPr marL="0" indent="0">
              <a:buNone/>
            </a:pPr>
            <a:r>
              <a:rPr lang="en-US" sz="1500" dirty="0">
                <a:solidFill>
                  <a:srgbClr val="111827"/>
                </a:solidFill>
                <a:latin typeface="Aptos" pitchFamily="34" charset="0"/>
                <a:ea typeface="Aptos" pitchFamily="34" charset="-122"/>
                <a:cs typeface="Aptos" pitchFamily="34" charset="-120"/>
              </a:rPr>
              <a:t>The goal is not only to list risks. The goal is to show which risks are most likely to affect performance, how severe the losses could become, and which indicators should trigger management action early.</a:t>
            </a:r>
            <a:endParaRPr lang="en-US" sz="1500" dirty="0"/>
          </a:p>
        </p:txBody>
      </p:sp>
      <p:sp>
        <p:nvSpPr>
          <p:cNvPr id="14" name="Text 12"/>
          <p:cNvSpPr/>
          <p:nvPr/>
        </p:nvSpPr>
        <p:spPr>
          <a:xfrm>
            <a:off x="594360" y="6492240"/>
            <a:ext cx="5120640" cy="201168"/>
          </a:xfrm>
          <a:prstGeom prst="rect">
            <a:avLst/>
          </a:prstGeom>
          <a:noFill/>
          <a:ln/>
        </p:spPr>
        <p:txBody>
          <a:bodyPr wrap="square" lIns="0" tIns="0" rIns="0" bIns="0" rtlCol="0" anchor="ctr"/>
          <a:lstStyle/>
          <a:p>
            <a:pPr marL="0" indent="0">
              <a:buNone/>
            </a:pPr>
            <a:r>
              <a:rPr lang="en-US" sz="850" dirty="0">
                <a:solidFill>
                  <a:srgbClr val="5A6670"/>
                </a:solidFill>
                <a:latin typeface="Aptos" pitchFamily="34" charset="0"/>
                <a:ea typeface="Aptos" pitchFamily="34" charset="-122"/>
                <a:cs typeface="Aptos" pitchFamily="34" charset="-120"/>
              </a:rPr>
              <a:t>ALY6130 Risk Management for Analytics</a:t>
            </a:r>
            <a:endParaRPr lang="en-US" sz="850" dirty="0"/>
          </a:p>
        </p:txBody>
      </p:sp>
      <p:sp>
        <p:nvSpPr>
          <p:cNvPr id="15" name="Text 13"/>
          <p:cNvSpPr/>
          <p:nvPr/>
        </p:nvSpPr>
        <p:spPr>
          <a:xfrm>
            <a:off x="11292840" y="6492240"/>
            <a:ext cx="320040" cy="201168"/>
          </a:xfrm>
          <a:prstGeom prst="rect">
            <a:avLst/>
          </a:prstGeom>
          <a:noFill/>
          <a:ln/>
        </p:spPr>
        <p:txBody>
          <a:bodyPr wrap="square" lIns="0" tIns="0" rIns="0" bIns="0" rtlCol="0" anchor="ctr"/>
          <a:lstStyle/>
          <a:p>
            <a:pPr marL="0" indent="0" algn="r">
              <a:buNone/>
            </a:pPr>
            <a:r>
              <a:rPr lang="en-US" sz="850" dirty="0">
                <a:solidFill>
                  <a:srgbClr val="5A6670"/>
                </a:solidFill>
                <a:latin typeface="Aptos" pitchFamily="34" charset="0"/>
                <a:ea typeface="Aptos" pitchFamily="34" charset="-122"/>
                <a:cs typeface="Aptos"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3EB"/>
          </a:solidFill>
          <a:ln w="12700">
            <a:solidFill>
              <a:srgbClr val="F7F3EB">
                <a:alpha val="0"/>
              </a:srgbClr>
            </a:solidFill>
            <a:prstDash val="solid"/>
          </a:ln>
        </p:spPr>
      </p:sp>
      <p:sp>
        <p:nvSpPr>
          <p:cNvPr id="3" name="Text 1"/>
          <p:cNvSpPr/>
          <p:nvPr/>
        </p:nvSpPr>
        <p:spPr>
          <a:xfrm>
            <a:off x="566928" y="320040"/>
            <a:ext cx="9875520" cy="438912"/>
          </a:xfrm>
          <a:prstGeom prst="rect">
            <a:avLst/>
          </a:prstGeom>
          <a:noFill/>
          <a:ln/>
        </p:spPr>
        <p:txBody>
          <a:bodyPr wrap="square" lIns="0" tIns="0" rIns="0" bIns="0" rtlCol="0" anchor="ctr"/>
          <a:lstStyle/>
          <a:p>
            <a:pPr marL="0" indent="0">
              <a:buNone/>
            </a:pPr>
            <a:r>
              <a:rPr lang="en-US" sz="2800" b="1" dirty="0">
                <a:solidFill>
                  <a:srgbClr val="172A3A"/>
                </a:solidFill>
                <a:latin typeface="Aptos Display" pitchFamily="34" charset="0"/>
                <a:ea typeface="Aptos Display" pitchFamily="34" charset="-122"/>
                <a:cs typeface="Aptos Display" pitchFamily="34" charset="-120"/>
              </a:rPr>
              <a:t>Integrated situation assessment</a:t>
            </a:r>
            <a:endParaRPr lang="en-US" sz="2800" dirty="0"/>
          </a:p>
        </p:txBody>
      </p:sp>
      <p:sp>
        <p:nvSpPr>
          <p:cNvPr id="4" name="Shape 2"/>
          <p:cNvSpPr/>
          <p:nvPr/>
        </p:nvSpPr>
        <p:spPr>
          <a:xfrm>
            <a:off x="566928" y="896112"/>
            <a:ext cx="11064240" cy="0"/>
          </a:xfrm>
          <a:prstGeom prst="line">
            <a:avLst/>
          </a:prstGeom>
          <a:noFill/>
          <a:ln w="19050">
            <a:solidFill>
              <a:srgbClr val="FF9900"/>
            </a:solidFill>
            <a:prstDash val="solid"/>
          </a:ln>
        </p:spPr>
      </p:sp>
      <p:sp>
        <p:nvSpPr>
          <p:cNvPr id="5" name="Text 3"/>
          <p:cNvSpPr/>
          <p:nvPr/>
        </p:nvSpPr>
        <p:spPr>
          <a:xfrm>
            <a:off x="585216" y="960120"/>
            <a:ext cx="10698480" cy="256032"/>
          </a:xfrm>
          <a:prstGeom prst="rect">
            <a:avLst/>
          </a:prstGeom>
          <a:noFill/>
          <a:ln/>
        </p:spPr>
        <p:txBody>
          <a:bodyPr wrap="square" lIns="0" tIns="0" rIns="0" bIns="0" rtlCol="0" anchor="ctr"/>
          <a:lstStyle/>
          <a:p>
            <a:pPr marL="0" indent="0">
              <a:buNone/>
            </a:pPr>
            <a:r>
              <a:rPr lang="en-US" sz="1100" dirty="0">
                <a:solidFill>
                  <a:srgbClr val="5A6670"/>
                </a:solidFill>
                <a:latin typeface="Aptos" pitchFamily="34" charset="0"/>
                <a:ea typeface="Aptos" pitchFamily="34" charset="-122"/>
                <a:cs typeface="Aptos" pitchFamily="34" charset="-120"/>
              </a:rPr>
              <a:t>Business and nonbusiness conditions shaping the model inputs</a:t>
            </a:r>
            <a:endParaRPr lang="en-US" sz="1100" dirty="0"/>
          </a:p>
        </p:txBody>
      </p:sp>
      <p:sp>
        <p:nvSpPr>
          <p:cNvPr id="6" name="Text 4"/>
          <p:cNvSpPr/>
          <p:nvPr/>
        </p:nvSpPr>
        <p:spPr>
          <a:xfrm>
            <a:off x="685800" y="1261872"/>
            <a:ext cx="3657600" cy="292608"/>
          </a:xfrm>
          <a:prstGeom prst="rect">
            <a:avLst/>
          </a:prstGeom>
          <a:noFill/>
          <a:ln/>
        </p:spPr>
        <p:txBody>
          <a:bodyPr wrap="square" lIns="508" tIns="508" rIns="508" bIns="508" rtlCol="0" anchor="t">
            <a:normAutofit/>
          </a:bodyPr>
          <a:lstStyle/>
          <a:p>
            <a:pPr marL="0" indent="0">
              <a:buNone/>
            </a:pPr>
            <a:r>
              <a:rPr lang="en-US" sz="1900" dirty="0">
                <a:solidFill>
                  <a:srgbClr val="111827"/>
                </a:solidFill>
                <a:latin typeface="Aptos" pitchFamily="34" charset="0"/>
                <a:ea typeface="Aptos" pitchFamily="34" charset="-122"/>
                <a:cs typeface="Aptos" pitchFamily="34" charset="-120"/>
              </a:rPr>
              <a:t>Business environment</a:t>
            </a:r>
            <a:endParaRPr lang="en-US" sz="1900" dirty="0"/>
          </a:p>
        </p:txBody>
      </p:sp>
      <p:sp>
        <p:nvSpPr>
          <p:cNvPr id="7" name="Text 5"/>
          <p:cNvSpPr/>
          <p:nvPr/>
        </p:nvSpPr>
        <p:spPr>
          <a:xfrm>
            <a:off x="713232" y="1737360"/>
            <a:ext cx="5029200" cy="1828800"/>
          </a:xfrm>
          <a:prstGeom prst="rect">
            <a:avLst/>
          </a:prstGeom>
          <a:noFill/>
          <a:ln/>
        </p:spPr>
        <p:txBody>
          <a:bodyPr wrap="square" lIns="508" tIns="508" rIns="508" bIns="508" rtlCol="0" anchor="t">
            <a:normAutofit/>
          </a:bodyPr>
          <a:lstStyle/>
          <a:p>
            <a:pPr marL="0" indent="0">
              <a:buNone/>
            </a:pPr>
            <a:r>
              <a:rPr lang="en-US" sz="1480" dirty="0">
                <a:solidFill>
                  <a:srgbClr val="111827"/>
                </a:solidFill>
                <a:latin typeface="Aptos" pitchFamily="34" charset="0"/>
                <a:ea typeface="Aptos" pitchFamily="34" charset="-122"/>
                <a:cs typeface="Aptos" pitchFamily="34" charset="-120"/>
              </a:rPr>
              <a:t>Market competition from cloud providers and specialist AI platforms increases urgency. Financial pressure matters because delayed ROI and cost overruns can weaken the acquisition case. Supply chain and warehouse performance also influence fulfilment reliability and customer trust.</a:t>
            </a:r>
            <a:endParaRPr lang="en-US" sz="1480" dirty="0"/>
          </a:p>
        </p:txBody>
      </p:sp>
      <p:sp>
        <p:nvSpPr>
          <p:cNvPr id="8" name="Text 6"/>
          <p:cNvSpPr/>
          <p:nvPr/>
        </p:nvSpPr>
        <p:spPr>
          <a:xfrm>
            <a:off x="6446520" y="1261872"/>
            <a:ext cx="4023360" cy="292608"/>
          </a:xfrm>
          <a:prstGeom prst="rect">
            <a:avLst/>
          </a:prstGeom>
          <a:noFill/>
          <a:ln/>
        </p:spPr>
        <p:txBody>
          <a:bodyPr wrap="square" lIns="508" tIns="508" rIns="508" bIns="508" rtlCol="0" anchor="t">
            <a:normAutofit/>
          </a:bodyPr>
          <a:lstStyle/>
          <a:p>
            <a:pPr marL="0" indent="0">
              <a:buNone/>
            </a:pPr>
            <a:r>
              <a:rPr lang="en-US" sz="1900" dirty="0">
                <a:solidFill>
                  <a:srgbClr val="111827"/>
                </a:solidFill>
                <a:latin typeface="Aptos" pitchFamily="34" charset="0"/>
                <a:ea typeface="Aptos" pitchFamily="34" charset="-122"/>
                <a:cs typeface="Aptos" pitchFamily="34" charset="-120"/>
              </a:rPr>
              <a:t>Nonbusiness environment</a:t>
            </a:r>
            <a:endParaRPr lang="en-US" sz="1900" dirty="0"/>
          </a:p>
        </p:txBody>
      </p:sp>
      <p:sp>
        <p:nvSpPr>
          <p:cNvPr id="9" name="Text 7"/>
          <p:cNvSpPr/>
          <p:nvPr/>
        </p:nvSpPr>
        <p:spPr>
          <a:xfrm>
            <a:off x="6473952" y="1737360"/>
            <a:ext cx="4800600" cy="1828800"/>
          </a:xfrm>
          <a:prstGeom prst="rect">
            <a:avLst/>
          </a:prstGeom>
          <a:noFill/>
          <a:ln/>
        </p:spPr>
        <p:txBody>
          <a:bodyPr wrap="square" lIns="508" tIns="508" rIns="508" bIns="508" rtlCol="0" anchor="t">
            <a:normAutofit/>
          </a:bodyPr>
          <a:lstStyle/>
          <a:p>
            <a:pPr marL="0" indent="0">
              <a:buNone/>
            </a:pPr>
            <a:r>
              <a:rPr lang="en-US" sz="1480" dirty="0">
                <a:solidFill>
                  <a:srgbClr val="111827"/>
                </a:solidFill>
                <a:latin typeface="Aptos" pitchFamily="34" charset="0"/>
                <a:ea typeface="Aptos" pitchFamily="34" charset="-122"/>
                <a:cs typeface="Aptos" pitchFamily="34" charset="-120"/>
              </a:rPr>
              <a:t>Technology changes quickly, so AI models may lose advantage within a short period. Regulation creates privacy and compliance pressure across markets. Cyber threats and cloud disruptions also affect customer data, service continuity, and public confidence.</a:t>
            </a:r>
            <a:endParaRPr lang="en-US" sz="1480" dirty="0"/>
          </a:p>
        </p:txBody>
      </p:sp>
      <p:sp>
        <p:nvSpPr>
          <p:cNvPr id="10" name="Shape 8"/>
          <p:cNvSpPr/>
          <p:nvPr/>
        </p:nvSpPr>
        <p:spPr>
          <a:xfrm>
            <a:off x="6089904" y="1234440"/>
            <a:ext cx="0" cy="4023360"/>
          </a:xfrm>
          <a:prstGeom prst="line">
            <a:avLst/>
          </a:prstGeom>
          <a:noFill/>
          <a:ln w="25400">
            <a:solidFill>
              <a:srgbClr val="FF9900"/>
            </a:solidFill>
            <a:prstDash val="solid"/>
          </a:ln>
        </p:spPr>
      </p:sp>
      <p:sp>
        <p:nvSpPr>
          <p:cNvPr id="11" name="Text 9"/>
          <p:cNvSpPr/>
          <p:nvPr/>
        </p:nvSpPr>
        <p:spPr>
          <a:xfrm>
            <a:off x="868680" y="4626864"/>
            <a:ext cx="2651760" cy="219456"/>
          </a:xfrm>
          <a:prstGeom prst="rect">
            <a:avLst/>
          </a:prstGeom>
          <a:noFill/>
          <a:ln/>
        </p:spPr>
        <p:txBody>
          <a:bodyPr wrap="square" lIns="0" tIns="0" rIns="0" bIns="0" rtlCol="0" anchor="ctr"/>
          <a:lstStyle/>
          <a:p>
            <a:pPr marL="0" indent="0">
              <a:buNone/>
            </a:pPr>
            <a:r>
              <a:rPr lang="en-US" sz="1080" dirty="0">
                <a:solidFill>
                  <a:srgbClr val="172A3A"/>
                </a:solidFill>
                <a:latin typeface="Aptos" pitchFamily="34" charset="0"/>
                <a:ea typeface="Aptos" pitchFamily="34" charset="-122"/>
                <a:cs typeface="Aptos" pitchFamily="34" charset="-120"/>
              </a:rPr>
              <a:t>Competition intensity</a:t>
            </a:r>
            <a:endParaRPr lang="en-US" sz="1080" dirty="0"/>
          </a:p>
        </p:txBody>
      </p:sp>
      <p:sp>
        <p:nvSpPr>
          <p:cNvPr id="12" name="Shape 10"/>
          <p:cNvSpPr/>
          <p:nvPr/>
        </p:nvSpPr>
        <p:spPr>
          <a:xfrm>
            <a:off x="3657600" y="4672584"/>
            <a:ext cx="1828800" cy="109728"/>
          </a:xfrm>
          <a:prstGeom prst="rect">
            <a:avLst/>
          </a:prstGeom>
          <a:solidFill>
            <a:srgbClr val="D9D2C4"/>
          </a:solidFill>
          <a:ln w="12700">
            <a:solidFill>
              <a:srgbClr val="D9D2C4">
                <a:alpha val="0"/>
              </a:srgbClr>
            </a:solidFill>
            <a:prstDash val="solid"/>
          </a:ln>
        </p:spPr>
      </p:sp>
      <p:sp>
        <p:nvSpPr>
          <p:cNvPr id="13" name="Shape 11"/>
          <p:cNvSpPr/>
          <p:nvPr/>
        </p:nvSpPr>
        <p:spPr>
          <a:xfrm>
            <a:off x="3657600" y="4672584"/>
            <a:ext cx="1463040" cy="109728"/>
          </a:xfrm>
          <a:prstGeom prst="rect">
            <a:avLst/>
          </a:prstGeom>
          <a:solidFill>
            <a:srgbClr val="FF9900"/>
          </a:solidFill>
          <a:ln w="12700">
            <a:solidFill>
              <a:srgbClr val="FF9900">
                <a:alpha val="0"/>
              </a:srgbClr>
            </a:solidFill>
            <a:prstDash val="solid"/>
          </a:ln>
        </p:spPr>
      </p:sp>
      <p:sp>
        <p:nvSpPr>
          <p:cNvPr id="14" name="Text 12"/>
          <p:cNvSpPr/>
          <p:nvPr/>
        </p:nvSpPr>
        <p:spPr>
          <a:xfrm>
            <a:off x="5623560" y="4626864"/>
            <a:ext cx="502920" cy="219456"/>
          </a:xfrm>
          <a:prstGeom prst="rect">
            <a:avLst/>
          </a:prstGeom>
          <a:noFill/>
          <a:ln/>
        </p:spPr>
        <p:txBody>
          <a:bodyPr wrap="square" lIns="0" tIns="0" rIns="0" bIns="0" rtlCol="0" anchor="ctr"/>
          <a:lstStyle/>
          <a:p>
            <a:pPr marL="0" indent="0">
              <a:buNone/>
            </a:pPr>
            <a:r>
              <a:rPr lang="en-US" sz="1020" dirty="0">
                <a:solidFill>
                  <a:srgbClr val="5A6670"/>
                </a:solidFill>
                <a:latin typeface="Aptos" pitchFamily="34" charset="0"/>
                <a:ea typeface="Aptos" pitchFamily="34" charset="-122"/>
                <a:cs typeface="Aptos" pitchFamily="34" charset="-120"/>
              </a:rPr>
              <a:t>80%</a:t>
            </a:r>
            <a:endParaRPr lang="en-US" sz="1020" dirty="0"/>
          </a:p>
        </p:txBody>
      </p:sp>
      <p:sp>
        <p:nvSpPr>
          <p:cNvPr id="15" name="Text 13"/>
          <p:cNvSpPr/>
          <p:nvPr/>
        </p:nvSpPr>
        <p:spPr>
          <a:xfrm>
            <a:off x="868680" y="5038344"/>
            <a:ext cx="2651760" cy="219456"/>
          </a:xfrm>
          <a:prstGeom prst="rect">
            <a:avLst/>
          </a:prstGeom>
          <a:noFill/>
          <a:ln/>
        </p:spPr>
        <p:txBody>
          <a:bodyPr wrap="square" lIns="0" tIns="0" rIns="0" bIns="0" rtlCol="0" anchor="ctr"/>
          <a:lstStyle/>
          <a:p>
            <a:pPr marL="0" indent="0">
              <a:buNone/>
            </a:pPr>
            <a:r>
              <a:rPr lang="en-US" sz="1080" dirty="0">
                <a:solidFill>
                  <a:srgbClr val="172A3A"/>
                </a:solidFill>
                <a:latin typeface="Aptos" pitchFamily="34" charset="0"/>
                <a:ea typeface="Aptos" pitchFamily="34" charset="-122"/>
                <a:cs typeface="Aptos" pitchFamily="34" charset="-120"/>
              </a:rPr>
              <a:t>Financial pressure</a:t>
            </a:r>
            <a:endParaRPr lang="en-US" sz="1080" dirty="0"/>
          </a:p>
        </p:txBody>
      </p:sp>
      <p:sp>
        <p:nvSpPr>
          <p:cNvPr id="16" name="Shape 14"/>
          <p:cNvSpPr/>
          <p:nvPr/>
        </p:nvSpPr>
        <p:spPr>
          <a:xfrm>
            <a:off x="3657600" y="5084064"/>
            <a:ext cx="1828800" cy="109728"/>
          </a:xfrm>
          <a:prstGeom prst="rect">
            <a:avLst/>
          </a:prstGeom>
          <a:solidFill>
            <a:srgbClr val="D9D2C4"/>
          </a:solidFill>
          <a:ln w="12700">
            <a:solidFill>
              <a:srgbClr val="D9D2C4">
                <a:alpha val="0"/>
              </a:srgbClr>
            </a:solidFill>
            <a:prstDash val="solid"/>
          </a:ln>
        </p:spPr>
      </p:sp>
      <p:sp>
        <p:nvSpPr>
          <p:cNvPr id="17" name="Shape 15"/>
          <p:cNvSpPr/>
          <p:nvPr/>
        </p:nvSpPr>
        <p:spPr>
          <a:xfrm>
            <a:off x="3657600" y="5084064"/>
            <a:ext cx="1316736" cy="109728"/>
          </a:xfrm>
          <a:prstGeom prst="rect">
            <a:avLst/>
          </a:prstGeom>
          <a:solidFill>
            <a:srgbClr val="C84B31"/>
          </a:solidFill>
          <a:ln w="12700">
            <a:solidFill>
              <a:srgbClr val="C84B31">
                <a:alpha val="0"/>
              </a:srgbClr>
            </a:solidFill>
            <a:prstDash val="solid"/>
          </a:ln>
        </p:spPr>
      </p:sp>
      <p:sp>
        <p:nvSpPr>
          <p:cNvPr id="18" name="Text 16"/>
          <p:cNvSpPr/>
          <p:nvPr/>
        </p:nvSpPr>
        <p:spPr>
          <a:xfrm>
            <a:off x="5623560" y="5038344"/>
            <a:ext cx="502920" cy="219456"/>
          </a:xfrm>
          <a:prstGeom prst="rect">
            <a:avLst/>
          </a:prstGeom>
          <a:noFill/>
          <a:ln/>
        </p:spPr>
        <p:txBody>
          <a:bodyPr wrap="square" lIns="0" tIns="0" rIns="0" bIns="0" rtlCol="0" anchor="ctr"/>
          <a:lstStyle/>
          <a:p>
            <a:pPr marL="0" indent="0">
              <a:buNone/>
            </a:pPr>
            <a:r>
              <a:rPr lang="en-US" sz="1020" dirty="0">
                <a:solidFill>
                  <a:srgbClr val="5A6670"/>
                </a:solidFill>
                <a:latin typeface="Aptos" pitchFamily="34" charset="0"/>
                <a:ea typeface="Aptos" pitchFamily="34" charset="-122"/>
                <a:cs typeface="Aptos" pitchFamily="34" charset="-120"/>
              </a:rPr>
              <a:t>72%</a:t>
            </a:r>
            <a:endParaRPr lang="en-US" sz="1020" dirty="0"/>
          </a:p>
        </p:txBody>
      </p:sp>
      <p:sp>
        <p:nvSpPr>
          <p:cNvPr id="19" name="Text 17"/>
          <p:cNvSpPr/>
          <p:nvPr/>
        </p:nvSpPr>
        <p:spPr>
          <a:xfrm>
            <a:off x="6446520" y="4626864"/>
            <a:ext cx="2651760" cy="219456"/>
          </a:xfrm>
          <a:prstGeom prst="rect">
            <a:avLst/>
          </a:prstGeom>
          <a:noFill/>
          <a:ln/>
        </p:spPr>
        <p:txBody>
          <a:bodyPr wrap="square" lIns="0" tIns="0" rIns="0" bIns="0" rtlCol="0" anchor="ctr"/>
          <a:lstStyle/>
          <a:p>
            <a:pPr marL="0" indent="0">
              <a:buNone/>
            </a:pPr>
            <a:r>
              <a:rPr lang="en-US" sz="1080" dirty="0">
                <a:solidFill>
                  <a:srgbClr val="172A3A"/>
                </a:solidFill>
                <a:latin typeface="Aptos" pitchFamily="34" charset="0"/>
                <a:ea typeface="Aptos" pitchFamily="34" charset="-122"/>
                <a:cs typeface="Aptos" pitchFamily="34" charset="-120"/>
              </a:rPr>
              <a:t>Regulatory pressure</a:t>
            </a:r>
            <a:endParaRPr lang="en-US" sz="1080" dirty="0"/>
          </a:p>
        </p:txBody>
      </p:sp>
      <p:sp>
        <p:nvSpPr>
          <p:cNvPr id="20" name="Shape 18"/>
          <p:cNvSpPr/>
          <p:nvPr/>
        </p:nvSpPr>
        <p:spPr>
          <a:xfrm>
            <a:off x="9235440" y="4672584"/>
            <a:ext cx="1828800" cy="109728"/>
          </a:xfrm>
          <a:prstGeom prst="rect">
            <a:avLst/>
          </a:prstGeom>
          <a:solidFill>
            <a:srgbClr val="D9D2C4"/>
          </a:solidFill>
          <a:ln w="12700">
            <a:solidFill>
              <a:srgbClr val="D9D2C4">
                <a:alpha val="0"/>
              </a:srgbClr>
            </a:solidFill>
            <a:prstDash val="solid"/>
          </a:ln>
        </p:spPr>
      </p:sp>
      <p:sp>
        <p:nvSpPr>
          <p:cNvPr id="21" name="Shape 19"/>
          <p:cNvSpPr/>
          <p:nvPr/>
        </p:nvSpPr>
        <p:spPr>
          <a:xfrm>
            <a:off x="9235440" y="4672584"/>
            <a:ext cx="1389888" cy="109728"/>
          </a:xfrm>
          <a:prstGeom prst="rect">
            <a:avLst/>
          </a:prstGeom>
          <a:solidFill>
            <a:srgbClr val="1F77B4"/>
          </a:solidFill>
          <a:ln w="12700">
            <a:solidFill>
              <a:srgbClr val="1F77B4">
                <a:alpha val="0"/>
              </a:srgbClr>
            </a:solidFill>
            <a:prstDash val="solid"/>
          </a:ln>
        </p:spPr>
      </p:sp>
      <p:sp>
        <p:nvSpPr>
          <p:cNvPr id="22" name="Text 20"/>
          <p:cNvSpPr/>
          <p:nvPr/>
        </p:nvSpPr>
        <p:spPr>
          <a:xfrm>
            <a:off x="11201400" y="4626864"/>
            <a:ext cx="502920" cy="219456"/>
          </a:xfrm>
          <a:prstGeom prst="rect">
            <a:avLst/>
          </a:prstGeom>
          <a:noFill/>
          <a:ln/>
        </p:spPr>
        <p:txBody>
          <a:bodyPr wrap="square" lIns="0" tIns="0" rIns="0" bIns="0" rtlCol="0" anchor="ctr"/>
          <a:lstStyle/>
          <a:p>
            <a:pPr marL="0" indent="0">
              <a:buNone/>
            </a:pPr>
            <a:r>
              <a:rPr lang="en-US" sz="1020" dirty="0">
                <a:solidFill>
                  <a:srgbClr val="5A6670"/>
                </a:solidFill>
                <a:latin typeface="Aptos" pitchFamily="34" charset="0"/>
                <a:ea typeface="Aptos" pitchFamily="34" charset="-122"/>
                <a:cs typeface="Aptos" pitchFamily="34" charset="-120"/>
              </a:rPr>
              <a:t>76%</a:t>
            </a:r>
            <a:endParaRPr lang="en-US" sz="1020" dirty="0"/>
          </a:p>
        </p:txBody>
      </p:sp>
      <p:sp>
        <p:nvSpPr>
          <p:cNvPr id="23" name="Text 21"/>
          <p:cNvSpPr/>
          <p:nvPr/>
        </p:nvSpPr>
        <p:spPr>
          <a:xfrm>
            <a:off x="6446520" y="5038344"/>
            <a:ext cx="2651760" cy="219456"/>
          </a:xfrm>
          <a:prstGeom prst="rect">
            <a:avLst/>
          </a:prstGeom>
          <a:noFill/>
          <a:ln/>
        </p:spPr>
        <p:txBody>
          <a:bodyPr wrap="square" lIns="0" tIns="0" rIns="0" bIns="0" rtlCol="0" anchor="ctr"/>
          <a:lstStyle/>
          <a:p>
            <a:pPr marL="0" indent="0">
              <a:buNone/>
            </a:pPr>
            <a:r>
              <a:rPr lang="en-US" sz="1080" dirty="0">
                <a:solidFill>
                  <a:srgbClr val="172A3A"/>
                </a:solidFill>
                <a:latin typeface="Aptos" pitchFamily="34" charset="0"/>
                <a:ea typeface="Aptos" pitchFamily="34" charset="-122"/>
                <a:cs typeface="Aptos" pitchFamily="34" charset="-120"/>
              </a:rPr>
              <a:t>Technology volatility</a:t>
            </a:r>
            <a:endParaRPr lang="en-US" sz="1080" dirty="0"/>
          </a:p>
        </p:txBody>
      </p:sp>
      <p:sp>
        <p:nvSpPr>
          <p:cNvPr id="24" name="Shape 22"/>
          <p:cNvSpPr/>
          <p:nvPr/>
        </p:nvSpPr>
        <p:spPr>
          <a:xfrm>
            <a:off x="9235440" y="5084064"/>
            <a:ext cx="1828800" cy="109728"/>
          </a:xfrm>
          <a:prstGeom prst="rect">
            <a:avLst/>
          </a:prstGeom>
          <a:solidFill>
            <a:srgbClr val="D9D2C4"/>
          </a:solidFill>
          <a:ln w="12700">
            <a:solidFill>
              <a:srgbClr val="D9D2C4">
                <a:alpha val="0"/>
              </a:srgbClr>
            </a:solidFill>
            <a:prstDash val="solid"/>
          </a:ln>
        </p:spPr>
      </p:sp>
      <p:sp>
        <p:nvSpPr>
          <p:cNvPr id="25" name="Shape 23"/>
          <p:cNvSpPr/>
          <p:nvPr/>
        </p:nvSpPr>
        <p:spPr>
          <a:xfrm>
            <a:off x="9235440" y="5084064"/>
            <a:ext cx="1536192" cy="109728"/>
          </a:xfrm>
          <a:prstGeom prst="rect">
            <a:avLst/>
          </a:prstGeom>
          <a:solidFill>
            <a:srgbClr val="2A9D8F"/>
          </a:solidFill>
          <a:ln w="12700">
            <a:solidFill>
              <a:srgbClr val="2A9D8F">
                <a:alpha val="0"/>
              </a:srgbClr>
            </a:solidFill>
            <a:prstDash val="solid"/>
          </a:ln>
        </p:spPr>
      </p:sp>
      <p:sp>
        <p:nvSpPr>
          <p:cNvPr id="26" name="Text 24"/>
          <p:cNvSpPr/>
          <p:nvPr/>
        </p:nvSpPr>
        <p:spPr>
          <a:xfrm>
            <a:off x="11201400" y="5038344"/>
            <a:ext cx="502920" cy="219456"/>
          </a:xfrm>
          <a:prstGeom prst="rect">
            <a:avLst/>
          </a:prstGeom>
          <a:noFill/>
          <a:ln/>
        </p:spPr>
        <p:txBody>
          <a:bodyPr wrap="square" lIns="0" tIns="0" rIns="0" bIns="0" rtlCol="0" anchor="ctr"/>
          <a:lstStyle/>
          <a:p>
            <a:pPr marL="0" indent="0">
              <a:buNone/>
            </a:pPr>
            <a:r>
              <a:rPr lang="en-US" sz="1020" dirty="0">
                <a:solidFill>
                  <a:srgbClr val="5A6670"/>
                </a:solidFill>
                <a:latin typeface="Aptos" pitchFamily="34" charset="0"/>
                <a:ea typeface="Aptos" pitchFamily="34" charset="-122"/>
                <a:cs typeface="Aptos" pitchFamily="34" charset="-120"/>
              </a:rPr>
              <a:t>84%</a:t>
            </a:r>
            <a:endParaRPr lang="en-US" sz="1020" dirty="0"/>
          </a:p>
        </p:txBody>
      </p:sp>
      <p:sp>
        <p:nvSpPr>
          <p:cNvPr id="27" name="Text 25"/>
          <p:cNvSpPr/>
          <p:nvPr/>
        </p:nvSpPr>
        <p:spPr>
          <a:xfrm>
            <a:off x="594360" y="6492240"/>
            <a:ext cx="5120640" cy="201168"/>
          </a:xfrm>
          <a:prstGeom prst="rect">
            <a:avLst/>
          </a:prstGeom>
          <a:noFill/>
          <a:ln/>
        </p:spPr>
        <p:txBody>
          <a:bodyPr wrap="square" lIns="0" tIns="0" rIns="0" bIns="0" rtlCol="0" anchor="ctr"/>
          <a:lstStyle/>
          <a:p>
            <a:pPr marL="0" indent="0">
              <a:buNone/>
            </a:pPr>
            <a:r>
              <a:rPr lang="en-US" sz="850" dirty="0">
                <a:solidFill>
                  <a:srgbClr val="5A6670"/>
                </a:solidFill>
                <a:latin typeface="Aptos" pitchFamily="34" charset="0"/>
                <a:ea typeface="Aptos" pitchFamily="34" charset="-122"/>
                <a:cs typeface="Aptos" pitchFamily="34" charset="-120"/>
              </a:rPr>
              <a:t>ALY6130 Risk Management for Analytics</a:t>
            </a:r>
            <a:endParaRPr lang="en-US" sz="850" dirty="0"/>
          </a:p>
        </p:txBody>
      </p:sp>
      <p:sp>
        <p:nvSpPr>
          <p:cNvPr id="28" name="Text 26"/>
          <p:cNvSpPr/>
          <p:nvPr/>
        </p:nvSpPr>
        <p:spPr>
          <a:xfrm>
            <a:off x="11292840" y="6492240"/>
            <a:ext cx="320040" cy="201168"/>
          </a:xfrm>
          <a:prstGeom prst="rect">
            <a:avLst/>
          </a:prstGeom>
          <a:noFill/>
          <a:ln/>
        </p:spPr>
        <p:txBody>
          <a:bodyPr wrap="square" lIns="0" tIns="0" rIns="0" bIns="0" rtlCol="0" anchor="ctr"/>
          <a:lstStyle/>
          <a:p>
            <a:pPr marL="0" indent="0" algn="r">
              <a:buNone/>
            </a:pPr>
            <a:r>
              <a:rPr lang="en-US" sz="850" dirty="0">
                <a:solidFill>
                  <a:srgbClr val="5A6670"/>
                </a:solidFill>
                <a:latin typeface="Aptos" pitchFamily="34" charset="0"/>
                <a:ea typeface="Aptos" pitchFamily="34" charset="-122"/>
                <a:cs typeface="Aptos"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3EB"/>
          </a:solidFill>
          <a:ln w="12700">
            <a:solidFill>
              <a:srgbClr val="F7F3EB">
                <a:alpha val="0"/>
              </a:srgbClr>
            </a:solidFill>
            <a:prstDash val="solid"/>
          </a:ln>
        </p:spPr>
      </p:sp>
      <p:sp>
        <p:nvSpPr>
          <p:cNvPr id="3" name="Text 1"/>
          <p:cNvSpPr/>
          <p:nvPr/>
        </p:nvSpPr>
        <p:spPr>
          <a:xfrm>
            <a:off x="566928" y="320040"/>
            <a:ext cx="9875520" cy="438912"/>
          </a:xfrm>
          <a:prstGeom prst="rect">
            <a:avLst/>
          </a:prstGeom>
          <a:noFill/>
          <a:ln/>
        </p:spPr>
        <p:txBody>
          <a:bodyPr wrap="square" lIns="0" tIns="0" rIns="0" bIns="0" rtlCol="0" anchor="ctr"/>
          <a:lstStyle/>
          <a:p>
            <a:pPr marL="0" indent="0">
              <a:buNone/>
            </a:pPr>
            <a:r>
              <a:rPr lang="en-US" sz="2800" b="1" dirty="0">
                <a:solidFill>
                  <a:srgbClr val="172A3A"/>
                </a:solidFill>
                <a:latin typeface="Aptos Display" pitchFamily="34" charset="0"/>
                <a:ea typeface="Aptos Display" pitchFamily="34" charset="-122"/>
                <a:cs typeface="Aptos Display" pitchFamily="34" charset="-120"/>
              </a:rPr>
              <a:t>Risk identification</a:t>
            </a:r>
            <a:endParaRPr lang="en-US" sz="2800" dirty="0"/>
          </a:p>
        </p:txBody>
      </p:sp>
      <p:sp>
        <p:nvSpPr>
          <p:cNvPr id="4" name="Shape 2"/>
          <p:cNvSpPr/>
          <p:nvPr/>
        </p:nvSpPr>
        <p:spPr>
          <a:xfrm>
            <a:off x="566928" y="896112"/>
            <a:ext cx="11064240" cy="0"/>
          </a:xfrm>
          <a:prstGeom prst="line">
            <a:avLst/>
          </a:prstGeom>
          <a:noFill/>
          <a:ln w="19050">
            <a:solidFill>
              <a:srgbClr val="FF9900"/>
            </a:solidFill>
            <a:prstDash val="solid"/>
          </a:ln>
        </p:spPr>
      </p:sp>
      <p:sp>
        <p:nvSpPr>
          <p:cNvPr id="5" name="Text 3"/>
          <p:cNvSpPr/>
          <p:nvPr/>
        </p:nvSpPr>
        <p:spPr>
          <a:xfrm>
            <a:off x="585216" y="960120"/>
            <a:ext cx="10698480" cy="256032"/>
          </a:xfrm>
          <a:prstGeom prst="rect">
            <a:avLst/>
          </a:prstGeom>
          <a:noFill/>
          <a:ln/>
        </p:spPr>
        <p:txBody>
          <a:bodyPr wrap="square" lIns="0" tIns="0" rIns="0" bIns="0" rtlCol="0" anchor="ctr"/>
          <a:lstStyle/>
          <a:p>
            <a:pPr marL="0" indent="0">
              <a:buNone/>
            </a:pPr>
            <a:r>
              <a:rPr lang="en-US" sz="1100" dirty="0">
                <a:solidFill>
                  <a:srgbClr val="5A6670"/>
                </a:solidFill>
                <a:latin typeface="Aptos" pitchFamily="34" charset="0"/>
                <a:ea typeface="Aptos" pitchFamily="34" charset="-122"/>
                <a:cs typeface="Aptos" pitchFamily="34" charset="-120"/>
              </a:rPr>
              <a:t>Only the 10 risks requested by the lecturer are used</a:t>
            </a:r>
            <a:endParaRPr lang="en-US" sz="1100" dirty="0"/>
          </a:p>
        </p:txBody>
      </p:sp>
      <p:sp>
        <p:nvSpPr>
          <p:cNvPr id="6" name="Shape 4"/>
          <p:cNvSpPr/>
          <p:nvPr/>
        </p:nvSpPr>
        <p:spPr>
          <a:xfrm>
            <a:off x="731520" y="1325880"/>
            <a:ext cx="5074920" cy="438912"/>
          </a:xfrm>
          <a:prstGeom prst="roundRect">
            <a:avLst>
              <a:gd name="adj" fmla="val 16667"/>
            </a:avLst>
          </a:prstGeom>
          <a:solidFill>
            <a:srgbClr val="FFFFFF"/>
          </a:solidFill>
          <a:ln w="10160">
            <a:solidFill>
              <a:srgbClr val="EDE7DB"/>
            </a:solidFill>
            <a:prstDash val="solid"/>
          </a:ln>
        </p:spPr>
      </p:sp>
      <p:sp>
        <p:nvSpPr>
          <p:cNvPr id="7" name="Text 5"/>
          <p:cNvSpPr/>
          <p:nvPr/>
        </p:nvSpPr>
        <p:spPr>
          <a:xfrm>
            <a:off x="804672" y="1408176"/>
            <a:ext cx="301752" cy="201168"/>
          </a:xfrm>
          <a:prstGeom prst="rect">
            <a:avLst/>
          </a:prstGeom>
          <a:noFill/>
          <a:ln/>
        </p:spPr>
        <p:txBody>
          <a:bodyPr wrap="square" lIns="0" tIns="0" rIns="0" bIns="0" rtlCol="0" anchor="ctr"/>
          <a:lstStyle/>
          <a:p>
            <a:pPr marL="0" indent="0" algn="ctr">
              <a:buNone/>
            </a:pPr>
            <a:r>
              <a:rPr lang="en-US" sz="1150" b="1" dirty="0">
                <a:solidFill>
                  <a:srgbClr val="FF9900"/>
                </a:solidFill>
                <a:latin typeface="Aptos" pitchFamily="34" charset="0"/>
                <a:ea typeface="Aptos" pitchFamily="34" charset="-122"/>
                <a:cs typeface="Aptos" pitchFamily="34" charset="-120"/>
              </a:rPr>
              <a:t>1</a:t>
            </a:r>
            <a:endParaRPr lang="en-US" sz="1150" dirty="0"/>
          </a:p>
        </p:txBody>
      </p:sp>
      <p:sp>
        <p:nvSpPr>
          <p:cNvPr id="8" name="Text 6"/>
          <p:cNvSpPr/>
          <p:nvPr/>
        </p:nvSpPr>
        <p:spPr>
          <a:xfrm>
            <a:off x="1170432" y="1389888"/>
            <a:ext cx="4544568" cy="347472"/>
          </a:xfrm>
          <a:prstGeom prst="rect">
            <a:avLst/>
          </a:prstGeom>
          <a:noFill/>
          <a:ln/>
        </p:spPr>
        <p:txBody>
          <a:bodyPr wrap="square" lIns="254" tIns="254" rIns="254" bIns="254" rtlCol="0" anchor="ctr">
            <a:normAutofit/>
          </a:bodyPr>
          <a:lstStyle/>
          <a:p>
            <a:pPr marL="0" indent="0">
              <a:buNone/>
            </a:pPr>
            <a:r>
              <a:rPr lang="en-US" sz="1150" dirty="0">
                <a:solidFill>
                  <a:srgbClr val="172A3A"/>
                </a:solidFill>
                <a:latin typeface="Aptos" pitchFamily="34" charset="0"/>
                <a:ea typeface="Aptos" pitchFamily="34" charset="-122"/>
                <a:cs typeface="Aptos" pitchFamily="34" charset="-120"/>
              </a:rPr>
              <a:t>Competitor AI Advantage</a:t>
            </a:r>
            <a:endParaRPr lang="en-US" sz="1150" dirty="0"/>
          </a:p>
        </p:txBody>
      </p:sp>
      <p:sp>
        <p:nvSpPr>
          <p:cNvPr id="9" name="Shape 7"/>
          <p:cNvSpPr/>
          <p:nvPr/>
        </p:nvSpPr>
        <p:spPr>
          <a:xfrm>
            <a:off x="731520" y="2020824"/>
            <a:ext cx="5074920" cy="438912"/>
          </a:xfrm>
          <a:prstGeom prst="roundRect">
            <a:avLst>
              <a:gd name="adj" fmla="val 16667"/>
            </a:avLst>
          </a:prstGeom>
          <a:solidFill>
            <a:srgbClr val="FFFFFF"/>
          </a:solidFill>
          <a:ln w="10160">
            <a:solidFill>
              <a:srgbClr val="EDE7DB"/>
            </a:solidFill>
            <a:prstDash val="solid"/>
          </a:ln>
        </p:spPr>
      </p:sp>
      <p:sp>
        <p:nvSpPr>
          <p:cNvPr id="10" name="Text 8"/>
          <p:cNvSpPr/>
          <p:nvPr/>
        </p:nvSpPr>
        <p:spPr>
          <a:xfrm>
            <a:off x="804672" y="2103120"/>
            <a:ext cx="301752" cy="201168"/>
          </a:xfrm>
          <a:prstGeom prst="rect">
            <a:avLst/>
          </a:prstGeom>
          <a:noFill/>
          <a:ln/>
        </p:spPr>
        <p:txBody>
          <a:bodyPr wrap="square" lIns="0" tIns="0" rIns="0" bIns="0" rtlCol="0" anchor="ctr"/>
          <a:lstStyle/>
          <a:p>
            <a:pPr marL="0" indent="0" algn="ctr">
              <a:buNone/>
            </a:pPr>
            <a:r>
              <a:rPr lang="en-US" sz="1150" b="1" dirty="0">
                <a:solidFill>
                  <a:srgbClr val="FF9900"/>
                </a:solidFill>
                <a:latin typeface="Aptos" pitchFamily="34" charset="0"/>
                <a:ea typeface="Aptos" pitchFamily="34" charset="-122"/>
                <a:cs typeface="Aptos" pitchFamily="34" charset="-120"/>
              </a:rPr>
              <a:t>2</a:t>
            </a:r>
            <a:endParaRPr lang="en-US" sz="1150" dirty="0"/>
          </a:p>
        </p:txBody>
      </p:sp>
      <p:sp>
        <p:nvSpPr>
          <p:cNvPr id="11" name="Text 9"/>
          <p:cNvSpPr/>
          <p:nvPr/>
        </p:nvSpPr>
        <p:spPr>
          <a:xfrm>
            <a:off x="1170432" y="2084832"/>
            <a:ext cx="4544568" cy="347472"/>
          </a:xfrm>
          <a:prstGeom prst="rect">
            <a:avLst/>
          </a:prstGeom>
          <a:noFill/>
          <a:ln/>
        </p:spPr>
        <p:txBody>
          <a:bodyPr wrap="square" lIns="254" tIns="254" rIns="254" bIns="254" rtlCol="0" anchor="ctr">
            <a:normAutofit/>
          </a:bodyPr>
          <a:lstStyle/>
          <a:p>
            <a:pPr marL="0" indent="0">
              <a:buNone/>
            </a:pPr>
            <a:r>
              <a:rPr lang="en-US" sz="1150" dirty="0">
                <a:solidFill>
                  <a:srgbClr val="172A3A"/>
                </a:solidFill>
                <a:latin typeface="Aptos" pitchFamily="34" charset="0"/>
                <a:ea typeface="Aptos" pitchFamily="34" charset="-122"/>
                <a:cs typeface="Aptos" pitchFamily="34" charset="-120"/>
              </a:rPr>
              <a:t>AI Warehouse Strategy Failure</a:t>
            </a:r>
            <a:endParaRPr lang="en-US" sz="1150" dirty="0"/>
          </a:p>
        </p:txBody>
      </p:sp>
      <p:sp>
        <p:nvSpPr>
          <p:cNvPr id="12" name="Shape 10"/>
          <p:cNvSpPr/>
          <p:nvPr/>
        </p:nvSpPr>
        <p:spPr>
          <a:xfrm>
            <a:off x="731520" y="2715768"/>
            <a:ext cx="5074920" cy="438912"/>
          </a:xfrm>
          <a:prstGeom prst="roundRect">
            <a:avLst>
              <a:gd name="adj" fmla="val 16667"/>
            </a:avLst>
          </a:prstGeom>
          <a:solidFill>
            <a:srgbClr val="FFFFFF"/>
          </a:solidFill>
          <a:ln w="10160">
            <a:solidFill>
              <a:srgbClr val="EDE7DB"/>
            </a:solidFill>
            <a:prstDash val="solid"/>
          </a:ln>
        </p:spPr>
      </p:sp>
      <p:sp>
        <p:nvSpPr>
          <p:cNvPr id="13" name="Text 11"/>
          <p:cNvSpPr/>
          <p:nvPr/>
        </p:nvSpPr>
        <p:spPr>
          <a:xfrm>
            <a:off x="804672" y="2798064"/>
            <a:ext cx="301752" cy="201168"/>
          </a:xfrm>
          <a:prstGeom prst="rect">
            <a:avLst/>
          </a:prstGeom>
          <a:noFill/>
          <a:ln/>
        </p:spPr>
        <p:txBody>
          <a:bodyPr wrap="square" lIns="0" tIns="0" rIns="0" bIns="0" rtlCol="0" anchor="ctr"/>
          <a:lstStyle/>
          <a:p>
            <a:pPr marL="0" indent="0" algn="ctr">
              <a:buNone/>
            </a:pPr>
            <a:r>
              <a:rPr lang="en-US" sz="1150" b="1" dirty="0">
                <a:solidFill>
                  <a:srgbClr val="FF9900"/>
                </a:solidFill>
                <a:latin typeface="Aptos" pitchFamily="34" charset="0"/>
                <a:ea typeface="Aptos" pitchFamily="34" charset="-122"/>
                <a:cs typeface="Aptos" pitchFamily="34" charset="-120"/>
              </a:rPr>
              <a:t>3</a:t>
            </a:r>
            <a:endParaRPr lang="en-US" sz="1150" dirty="0"/>
          </a:p>
        </p:txBody>
      </p:sp>
      <p:sp>
        <p:nvSpPr>
          <p:cNvPr id="14" name="Text 12"/>
          <p:cNvSpPr/>
          <p:nvPr/>
        </p:nvSpPr>
        <p:spPr>
          <a:xfrm>
            <a:off x="1170432" y="2779776"/>
            <a:ext cx="4544568" cy="347472"/>
          </a:xfrm>
          <a:prstGeom prst="rect">
            <a:avLst/>
          </a:prstGeom>
          <a:noFill/>
          <a:ln/>
        </p:spPr>
        <p:txBody>
          <a:bodyPr wrap="square" lIns="254" tIns="254" rIns="254" bIns="254" rtlCol="0" anchor="ctr">
            <a:normAutofit/>
          </a:bodyPr>
          <a:lstStyle/>
          <a:p>
            <a:pPr marL="0" indent="0">
              <a:buNone/>
            </a:pPr>
            <a:r>
              <a:rPr lang="en-US" sz="1150" dirty="0">
                <a:solidFill>
                  <a:srgbClr val="172A3A"/>
                </a:solidFill>
                <a:latin typeface="Aptos" pitchFamily="34" charset="0"/>
                <a:ea typeface="Aptos" pitchFamily="34" charset="-122"/>
                <a:cs typeface="Aptos" pitchFamily="34" charset="-120"/>
              </a:rPr>
              <a:t>Cybersecurity and Data Breach</a:t>
            </a:r>
            <a:endParaRPr lang="en-US" sz="1150" dirty="0"/>
          </a:p>
        </p:txBody>
      </p:sp>
      <p:sp>
        <p:nvSpPr>
          <p:cNvPr id="15" name="Shape 13"/>
          <p:cNvSpPr/>
          <p:nvPr/>
        </p:nvSpPr>
        <p:spPr>
          <a:xfrm>
            <a:off x="731520" y="3410712"/>
            <a:ext cx="5074920" cy="438912"/>
          </a:xfrm>
          <a:prstGeom prst="roundRect">
            <a:avLst>
              <a:gd name="adj" fmla="val 16667"/>
            </a:avLst>
          </a:prstGeom>
          <a:solidFill>
            <a:srgbClr val="FFFFFF"/>
          </a:solidFill>
          <a:ln w="10160">
            <a:solidFill>
              <a:srgbClr val="EDE7DB"/>
            </a:solidFill>
            <a:prstDash val="solid"/>
          </a:ln>
        </p:spPr>
      </p:sp>
      <p:sp>
        <p:nvSpPr>
          <p:cNvPr id="16" name="Text 14"/>
          <p:cNvSpPr/>
          <p:nvPr/>
        </p:nvSpPr>
        <p:spPr>
          <a:xfrm>
            <a:off x="804672" y="3493008"/>
            <a:ext cx="301752" cy="201168"/>
          </a:xfrm>
          <a:prstGeom prst="rect">
            <a:avLst/>
          </a:prstGeom>
          <a:noFill/>
          <a:ln/>
        </p:spPr>
        <p:txBody>
          <a:bodyPr wrap="square" lIns="0" tIns="0" rIns="0" bIns="0" rtlCol="0" anchor="ctr"/>
          <a:lstStyle/>
          <a:p>
            <a:pPr marL="0" indent="0" algn="ctr">
              <a:buNone/>
            </a:pPr>
            <a:r>
              <a:rPr lang="en-US" sz="1150" b="1" dirty="0">
                <a:solidFill>
                  <a:srgbClr val="1F77B4"/>
                </a:solidFill>
                <a:latin typeface="Aptos" pitchFamily="34" charset="0"/>
                <a:ea typeface="Aptos" pitchFamily="34" charset="-122"/>
                <a:cs typeface="Aptos" pitchFamily="34" charset="-120"/>
              </a:rPr>
              <a:t>4</a:t>
            </a:r>
            <a:endParaRPr lang="en-US" sz="1150" dirty="0"/>
          </a:p>
        </p:txBody>
      </p:sp>
      <p:sp>
        <p:nvSpPr>
          <p:cNvPr id="17" name="Text 15"/>
          <p:cNvSpPr/>
          <p:nvPr/>
        </p:nvSpPr>
        <p:spPr>
          <a:xfrm>
            <a:off x="1170432" y="3474720"/>
            <a:ext cx="4544568" cy="347472"/>
          </a:xfrm>
          <a:prstGeom prst="rect">
            <a:avLst/>
          </a:prstGeom>
          <a:noFill/>
          <a:ln/>
        </p:spPr>
        <p:txBody>
          <a:bodyPr wrap="square" lIns="254" tIns="254" rIns="254" bIns="254" rtlCol="0" anchor="ctr">
            <a:normAutofit/>
          </a:bodyPr>
          <a:lstStyle/>
          <a:p>
            <a:pPr marL="0" indent="0">
              <a:buNone/>
            </a:pPr>
            <a:r>
              <a:rPr lang="en-US" sz="1150" dirty="0">
                <a:solidFill>
                  <a:srgbClr val="172A3A"/>
                </a:solidFill>
                <a:latin typeface="Aptos" pitchFamily="34" charset="0"/>
                <a:ea typeface="Aptos" pitchFamily="34" charset="-122"/>
                <a:cs typeface="Aptos" pitchFamily="34" charset="-120"/>
              </a:rPr>
              <a:t>AI Forecasting Failure</a:t>
            </a:r>
            <a:endParaRPr lang="en-US" sz="1150" dirty="0"/>
          </a:p>
        </p:txBody>
      </p:sp>
      <p:sp>
        <p:nvSpPr>
          <p:cNvPr id="18" name="Shape 16"/>
          <p:cNvSpPr/>
          <p:nvPr/>
        </p:nvSpPr>
        <p:spPr>
          <a:xfrm>
            <a:off x="731520" y="4105656"/>
            <a:ext cx="5074920" cy="438912"/>
          </a:xfrm>
          <a:prstGeom prst="roundRect">
            <a:avLst>
              <a:gd name="adj" fmla="val 16667"/>
            </a:avLst>
          </a:prstGeom>
          <a:solidFill>
            <a:srgbClr val="FFFFFF"/>
          </a:solidFill>
          <a:ln w="10160">
            <a:solidFill>
              <a:srgbClr val="EDE7DB"/>
            </a:solidFill>
            <a:prstDash val="solid"/>
          </a:ln>
        </p:spPr>
      </p:sp>
      <p:sp>
        <p:nvSpPr>
          <p:cNvPr id="19" name="Text 17"/>
          <p:cNvSpPr/>
          <p:nvPr/>
        </p:nvSpPr>
        <p:spPr>
          <a:xfrm>
            <a:off x="804672" y="4187952"/>
            <a:ext cx="301752" cy="201168"/>
          </a:xfrm>
          <a:prstGeom prst="rect">
            <a:avLst/>
          </a:prstGeom>
          <a:noFill/>
          <a:ln/>
        </p:spPr>
        <p:txBody>
          <a:bodyPr wrap="square" lIns="0" tIns="0" rIns="0" bIns="0" rtlCol="0" anchor="ctr"/>
          <a:lstStyle/>
          <a:p>
            <a:pPr marL="0" indent="0" algn="ctr">
              <a:buNone/>
            </a:pPr>
            <a:r>
              <a:rPr lang="en-US" sz="1150" b="1" dirty="0">
                <a:solidFill>
                  <a:srgbClr val="1F77B4"/>
                </a:solidFill>
                <a:latin typeface="Aptos" pitchFamily="34" charset="0"/>
                <a:ea typeface="Aptos" pitchFamily="34" charset="-122"/>
                <a:cs typeface="Aptos" pitchFamily="34" charset="-120"/>
              </a:rPr>
              <a:t>5</a:t>
            </a:r>
            <a:endParaRPr lang="en-US" sz="1150" dirty="0"/>
          </a:p>
        </p:txBody>
      </p:sp>
      <p:sp>
        <p:nvSpPr>
          <p:cNvPr id="20" name="Text 18"/>
          <p:cNvSpPr/>
          <p:nvPr/>
        </p:nvSpPr>
        <p:spPr>
          <a:xfrm>
            <a:off x="1170432" y="4169664"/>
            <a:ext cx="4544568" cy="347472"/>
          </a:xfrm>
          <a:prstGeom prst="rect">
            <a:avLst/>
          </a:prstGeom>
          <a:noFill/>
          <a:ln/>
        </p:spPr>
        <p:txBody>
          <a:bodyPr wrap="square" lIns="254" tIns="254" rIns="254" bIns="254" rtlCol="0" anchor="ctr">
            <a:normAutofit/>
          </a:bodyPr>
          <a:lstStyle/>
          <a:p>
            <a:pPr marL="0" indent="0">
              <a:buNone/>
            </a:pPr>
            <a:r>
              <a:rPr lang="en-US" sz="1150" dirty="0">
                <a:solidFill>
                  <a:srgbClr val="172A3A"/>
                </a:solidFill>
                <a:latin typeface="Aptos" pitchFamily="34" charset="0"/>
                <a:ea typeface="Aptos" pitchFamily="34" charset="-122"/>
                <a:cs typeface="Aptos" pitchFamily="34" charset="-120"/>
              </a:rPr>
              <a:t>System Integration Failure</a:t>
            </a:r>
            <a:endParaRPr lang="en-US" sz="1150" dirty="0"/>
          </a:p>
        </p:txBody>
      </p:sp>
      <p:sp>
        <p:nvSpPr>
          <p:cNvPr id="21" name="Shape 19"/>
          <p:cNvSpPr/>
          <p:nvPr/>
        </p:nvSpPr>
        <p:spPr>
          <a:xfrm>
            <a:off x="6355080" y="1325880"/>
            <a:ext cx="5166360" cy="438912"/>
          </a:xfrm>
          <a:prstGeom prst="roundRect">
            <a:avLst>
              <a:gd name="adj" fmla="val 16667"/>
            </a:avLst>
          </a:prstGeom>
          <a:solidFill>
            <a:srgbClr val="FFFFFF"/>
          </a:solidFill>
          <a:ln w="10160">
            <a:solidFill>
              <a:srgbClr val="EDE7DB"/>
            </a:solidFill>
            <a:prstDash val="solid"/>
          </a:ln>
        </p:spPr>
      </p:sp>
      <p:sp>
        <p:nvSpPr>
          <p:cNvPr id="22" name="Text 20"/>
          <p:cNvSpPr/>
          <p:nvPr/>
        </p:nvSpPr>
        <p:spPr>
          <a:xfrm>
            <a:off x="6428232" y="1408176"/>
            <a:ext cx="301752" cy="201168"/>
          </a:xfrm>
          <a:prstGeom prst="rect">
            <a:avLst/>
          </a:prstGeom>
          <a:noFill/>
          <a:ln/>
        </p:spPr>
        <p:txBody>
          <a:bodyPr wrap="square" lIns="0" tIns="0" rIns="0" bIns="0" rtlCol="0" anchor="ctr"/>
          <a:lstStyle/>
          <a:p>
            <a:pPr marL="0" indent="0" algn="ctr">
              <a:buNone/>
            </a:pPr>
            <a:r>
              <a:rPr lang="en-US" sz="1150" b="1" dirty="0">
                <a:solidFill>
                  <a:srgbClr val="1F77B4"/>
                </a:solidFill>
                <a:latin typeface="Aptos" pitchFamily="34" charset="0"/>
                <a:ea typeface="Aptos" pitchFamily="34" charset="-122"/>
                <a:cs typeface="Aptos" pitchFamily="34" charset="-120"/>
              </a:rPr>
              <a:t>6</a:t>
            </a:r>
            <a:endParaRPr lang="en-US" sz="1150" dirty="0"/>
          </a:p>
        </p:txBody>
      </p:sp>
      <p:sp>
        <p:nvSpPr>
          <p:cNvPr id="23" name="Text 21"/>
          <p:cNvSpPr/>
          <p:nvPr/>
        </p:nvSpPr>
        <p:spPr>
          <a:xfrm>
            <a:off x="6793992" y="1389888"/>
            <a:ext cx="4636008" cy="347472"/>
          </a:xfrm>
          <a:prstGeom prst="rect">
            <a:avLst/>
          </a:prstGeom>
          <a:noFill/>
          <a:ln/>
        </p:spPr>
        <p:txBody>
          <a:bodyPr wrap="square" lIns="254" tIns="254" rIns="254" bIns="254" rtlCol="0" anchor="ctr">
            <a:normAutofit/>
          </a:bodyPr>
          <a:lstStyle/>
          <a:p>
            <a:pPr marL="0" indent="0">
              <a:buNone/>
            </a:pPr>
            <a:r>
              <a:rPr lang="en-US" sz="1150" dirty="0">
                <a:solidFill>
                  <a:srgbClr val="172A3A"/>
                </a:solidFill>
                <a:latin typeface="Aptos" pitchFamily="34" charset="0"/>
                <a:ea typeface="Aptos" pitchFamily="34" charset="-122"/>
                <a:cs typeface="Aptos" pitchFamily="34" charset="-120"/>
              </a:rPr>
              <a:t>Cloud Service Outage</a:t>
            </a:r>
            <a:endParaRPr lang="en-US" sz="1150" dirty="0"/>
          </a:p>
        </p:txBody>
      </p:sp>
      <p:sp>
        <p:nvSpPr>
          <p:cNvPr id="24" name="Shape 22"/>
          <p:cNvSpPr/>
          <p:nvPr/>
        </p:nvSpPr>
        <p:spPr>
          <a:xfrm>
            <a:off x="6355080" y="2020824"/>
            <a:ext cx="5166360" cy="438912"/>
          </a:xfrm>
          <a:prstGeom prst="roundRect">
            <a:avLst>
              <a:gd name="adj" fmla="val 16667"/>
            </a:avLst>
          </a:prstGeom>
          <a:solidFill>
            <a:srgbClr val="FFFFFF"/>
          </a:solidFill>
          <a:ln w="10160">
            <a:solidFill>
              <a:srgbClr val="EDE7DB"/>
            </a:solidFill>
            <a:prstDash val="solid"/>
          </a:ln>
        </p:spPr>
      </p:sp>
      <p:sp>
        <p:nvSpPr>
          <p:cNvPr id="25" name="Text 23"/>
          <p:cNvSpPr/>
          <p:nvPr/>
        </p:nvSpPr>
        <p:spPr>
          <a:xfrm>
            <a:off x="6428232" y="2103120"/>
            <a:ext cx="301752" cy="201168"/>
          </a:xfrm>
          <a:prstGeom prst="rect">
            <a:avLst/>
          </a:prstGeom>
          <a:noFill/>
          <a:ln/>
        </p:spPr>
        <p:txBody>
          <a:bodyPr wrap="square" lIns="0" tIns="0" rIns="0" bIns="0" rtlCol="0" anchor="ctr"/>
          <a:lstStyle/>
          <a:p>
            <a:pPr marL="0" indent="0" algn="ctr">
              <a:buNone/>
            </a:pPr>
            <a:r>
              <a:rPr lang="en-US" sz="1150" b="1" dirty="0">
                <a:solidFill>
                  <a:srgbClr val="1F77B4"/>
                </a:solidFill>
                <a:latin typeface="Aptos" pitchFamily="34" charset="0"/>
                <a:ea typeface="Aptos" pitchFamily="34" charset="-122"/>
                <a:cs typeface="Aptos" pitchFamily="34" charset="-120"/>
              </a:rPr>
              <a:t>7</a:t>
            </a:r>
            <a:endParaRPr lang="en-US" sz="1150" dirty="0"/>
          </a:p>
        </p:txBody>
      </p:sp>
      <p:sp>
        <p:nvSpPr>
          <p:cNvPr id="26" name="Text 24"/>
          <p:cNvSpPr/>
          <p:nvPr/>
        </p:nvSpPr>
        <p:spPr>
          <a:xfrm>
            <a:off x="6793992" y="2084832"/>
            <a:ext cx="4636008" cy="347472"/>
          </a:xfrm>
          <a:prstGeom prst="rect">
            <a:avLst/>
          </a:prstGeom>
          <a:noFill/>
          <a:ln/>
        </p:spPr>
        <p:txBody>
          <a:bodyPr wrap="square" lIns="254" tIns="254" rIns="254" bIns="254" rtlCol="0" anchor="ctr">
            <a:normAutofit/>
          </a:bodyPr>
          <a:lstStyle/>
          <a:p>
            <a:pPr marL="0" indent="0">
              <a:buNone/>
            </a:pPr>
            <a:r>
              <a:rPr lang="en-US" sz="1150" dirty="0">
                <a:solidFill>
                  <a:srgbClr val="172A3A"/>
                </a:solidFill>
                <a:latin typeface="Aptos" pitchFamily="34" charset="0"/>
                <a:ea typeface="Aptos" pitchFamily="34" charset="-122"/>
                <a:cs typeface="Aptos" pitchFamily="34" charset="-120"/>
              </a:rPr>
              <a:t>Workforce Adoption Failure</a:t>
            </a:r>
            <a:endParaRPr lang="en-US" sz="1150" dirty="0"/>
          </a:p>
        </p:txBody>
      </p:sp>
      <p:sp>
        <p:nvSpPr>
          <p:cNvPr id="27" name="Shape 25"/>
          <p:cNvSpPr/>
          <p:nvPr/>
        </p:nvSpPr>
        <p:spPr>
          <a:xfrm>
            <a:off x="6355080" y="2715768"/>
            <a:ext cx="5166360" cy="438912"/>
          </a:xfrm>
          <a:prstGeom prst="roundRect">
            <a:avLst>
              <a:gd name="adj" fmla="val 16667"/>
            </a:avLst>
          </a:prstGeom>
          <a:solidFill>
            <a:srgbClr val="FFFFFF"/>
          </a:solidFill>
          <a:ln w="10160">
            <a:solidFill>
              <a:srgbClr val="EDE7DB"/>
            </a:solidFill>
            <a:prstDash val="solid"/>
          </a:ln>
        </p:spPr>
      </p:sp>
      <p:sp>
        <p:nvSpPr>
          <p:cNvPr id="28" name="Text 26"/>
          <p:cNvSpPr/>
          <p:nvPr/>
        </p:nvSpPr>
        <p:spPr>
          <a:xfrm>
            <a:off x="6428232" y="2798064"/>
            <a:ext cx="301752" cy="201168"/>
          </a:xfrm>
          <a:prstGeom prst="rect">
            <a:avLst/>
          </a:prstGeom>
          <a:noFill/>
          <a:ln/>
        </p:spPr>
        <p:txBody>
          <a:bodyPr wrap="square" lIns="0" tIns="0" rIns="0" bIns="0" rtlCol="0" anchor="ctr"/>
          <a:lstStyle/>
          <a:p>
            <a:pPr marL="0" indent="0" algn="ctr">
              <a:buNone/>
            </a:pPr>
            <a:r>
              <a:rPr lang="en-US" sz="1150" b="1" dirty="0">
                <a:solidFill>
                  <a:srgbClr val="1F77B4"/>
                </a:solidFill>
                <a:latin typeface="Aptos" pitchFamily="34" charset="0"/>
                <a:ea typeface="Aptos" pitchFamily="34" charset="-122"/>
                <a:cs typeface="Aptos" pitchFamily="34" charset="-120"/>
              </a:rPr>
              <a:t>8</a:t>
            </a:r>
            <a:endParaRPr lang="en-US" sz="1150" dirty="0"/>
          </a:p>
        </p:txBody>
      </p:sp>
      <p:sp>
        <p:nvSpPr>
          <p:cNvPr id="29" name="Text 27"/>
          <p:cNvSpPr/>
          <p:nvPr/>
        </p:nvSpPr>
        <p:spPr>
          <a:xfrm>
            <a:off x="6793992" y="2779776"/>
            <a:ext cx="4636008" cy="347472"/>
          </a:xfrm>
          <a:prstGeom prst="rect">
            <a:avLst/>
          </a:prstGeom>
          <a:noFill/>
          <a:ln/>
        </p:spPr>
        <p:txBody>
          <a:bodyPr wrap="square" lIns="254" tIns="254" rIns="254" bIns="254" rtlCol="0" anchor="ctr">
            <a:normAutofit/>
          </a:bodyPr>
          <a:lstStyle/>
          <a:p>
            <a:pPr marL="0" indent="0">
              <a:buNone/>
            </a:pPr>
            <a:r>
              <a:rPr lang="en-US" sz="1150" dirty="0">
                <a:solidFill>
                  <a:srgbClr val="172A3A"/>
                </a:solidFill>
                <a:latin typeface="Aptos" pitchFamily="34" charset="0"/>
                <a:ea typeface="Aptos" pitchFamily="34" charset="-122"/>
                <a:cs typeface="Aptos" pitchFamily="34" charset="-120"/>
              </a:rPr>
              <a:t>Cost Overrun and Delayed ROI</a:t>
            </a:r>
            <a:endParaRPr lang="en-US" sz="1150" dirty="0"/>
          </a:p>
        </p:txBody>
      </p:sp>
      <p:sp>
        <p:nvSpPr>
          <p:cNvPr id="30" name="Shape 28"/>
          <p:cNvSpPr/>
          <p:nvPr/>
        </p:nvSpPr>
        <p:spPr>
          <a:xfrm>
            <a:off x="6355080" y="3410712"/>
            <a:ext cx="5166360" cy="438912"/>
          </a:xfrm>
          <a:prstGeom prst="roundRect">
            <a:avLst>
              <a:gd name="adj" fmla="val 16667"/>
            </a:avLst>
          </a:prstGeom>
          <a:solidFill>
            <a:srgbClr val="FFFFFF"/>
          </a:solidFill>
          <a:ln w="10160">
            <a:solidFill>
              <a:srgbClr val="EDE7DB"/>
            </a:solidFill>
            <a:prstDash val="solid"/>
          </a:ln>
        </p:spPr>
      </p:sp>
      <p:sp>
        <p:nvSpPr>
          <p:cNvPr id="31" name="Text 29"/>
          <p:cNvSpPr/>
          <p:nvPr/>
        </p:nvSpPr>
        <p:spPr>
          <a:xfrm>
            <a:off x="6428232" y="3493008"/>
            <a:ext cx="301752" cy="201168"/>
          </a:xfrm>
          <a:prstGeom prst="rect">
            <a:avLst/>
          </a:prstGeom>
          <a:noFill/>
          <a:ln/>
        </p:spPr>
        <p:txBody>
          <a:bodyPr wrap="square" lIns="0" tIns="0" rIns="0" bIns="0" rtlCol="0" anchor="ctr"/>
          <a:lstStyle/>
          <a:p>
            <a:pPr marL="0" indent="0" algn="ctr">
              <a:buNone/>
            </a:pPr>
            <a:r>
              <a:rPr lang="en-US" sz="1150" b="1" dirty="0">
                <a:solidFill>
                  <a:srgbClr val="C84B31"/>
                </a:solidFill>
                <a:latin typeface="Aptos" pitchFamily="34" charset="0"/>
                <a:ea typeface="Aptos" pitchFamily="34" charset="-122"/>
                <a:cs typeface="Aptos" pitchFamily="34" charset="-120"/>
              </a:rPr>
              <a:t>9</a:t>
            </a:r>
            <a:endParaRPr lang="en-US" sz="1150" dirty="0"/>
          </a:p>
        </p:txBody>
      </p:sp>
      <p:sp>
        <p:nvSpPr>
          <p:cNvPr id="32" name="Text 30"/>
          <p:cNvSpPr/>
          <p:nvPr/>
        </p:nvSpPr>
        <p:spPr>
          <a:xfrm>
            <a:off x="6793992" y="3474720"/>
            <a:ext cx="4636008" cy="347472"/>
          </a:xfrm>
          <a:prstGeom prst="rect">
            <a:avLst/>
          </a:prstGeom>
          <a:noFill/>
          <a:ln/>
        </p:spPr>
        <p:txBody>
          <a:bodyPr wrap="square" lIns="254" tIns="254" rIns="254" bIns="254" rtlCol="0" anchor="ctr">
            <a:normAutofit/>
          </a:bodyPr>
          <a:lstStyle/>
          <a:p>
            <a:pPr marL="0" indent="0">
              <a:buNone/>
            </a:pPr>
            <a:r>
              <a:rPr lang="en-US" sz="1150" dirty="0">
                <a:solidFill>
                  <a:srgbClr val="172A3A"/>
                </a:solidFill>
                <a:latin typeface="Aptos" pitchFamily="34" charset="0"/>
                <a:ea typeface="Aptos" pitchFamily="34" charset="-122"/>
                <a:cs typeface="Aptos" pitchFamily="34" charset="-120"/>
              </a:rPr>
              <a:t>Regulatory and Privacy Non Compliance</a:t>
            </a:r>
            <a:endParaRPr lang="en-US" sz="1150" dirty="0"/>
          </a:p>
        </p:txBody>
      </p:sp>
      <p:sp>
        <p:nvSpPr>
          <p:cNvPr id="33" name="Shape 31"/>
          <p:cNvSpPr/>
          <p:nvPr/>
        </p:nvSpPr>
        <p:spPr>
          <a:xfrm>
            <a:off x="6355080" y="4105656"/>
            <a:ext cx="5166360" cy="438912"/>
          </a:xfrm>
          <a:prstGeom prst="roundRect">
            <a:avLst>
              <a:gd name="adj" fmla="val 16667"/>
            </a:avLst>
          </a:prstGeom>
          <a:solidFill>
            <a:srgbClr val="FFFFFF"/>
          </a:solidFill>
          <a:ln w="10160">
            <a:solidFill>
              <a:srgbClr val="EDE7DB"/>
            </a:solidFill>
            <a:prstDash val="solid"/>
          </a:ln>
        </p:spPr>
      </p:sp>
      <p:sp>
        <p:nvSpPr>
          <p:cNvPr id="34" name="Text 32"/>
          <p:cNvSpPr/>
          <p:nvPr/>
        </p:nvSpPr>
        <p:spPr>
          <a:xfrm>
            <a:off x="6428232" y="4187952"/>
            <a:ext cx="301752" cy="201168"/>
          </a:xfrm>
          <a:prstGeom prst="rect">
            <a:avLst/>
          </a:prstGeom>
          <a:noFill/>
          <a:ln/>
        </p:spPr>
        <p:txBody>
          <a:bodyPr wrap="square" lIns="0" tIns="0" rIns="0" bIns="0" rtlCol="0" anchor="ctr"/>
          <a:lstStyle/>
          <a:p>
            <a:pPr marL="0" indent="0" algn="ctr">
              <a:buNone/>
            </a:pPr>
            <a:r>
              <a:rPr lang="en-US" sz="1150" b="1" dirty="0">
                <a:solidFill>
                  <a:srgbClr val="C84B31"/>
                </a:solidFill>
                <a:latin typeface="Aptos" pitchFamily="34" charset="0"/>
                <a:ea typeface="Aptos" pitchFamily="34" charset="-122"/>
                <a:cs typeface="Aptos" pitchFamily="34" charset="-120"/>
              </a:rPr>
              <a:t>10</a:t>
            </a:r>
            <a:endParaRPr lang="en-US" sz="1150" dirty="0"/>
          </a:p>
        </p:txBody>
      </p:sp>
      <p:sp>
        <p:nvSpPr>
          <p:cNvPr id="35" name="Text 33"/>
          <p:cNvSpPr/>
          <p:nvPr/>
        </p:nvSpPr>
        <p:spPr>
          <a:xfrm>
            <a:off x="6793992" y="4169664"/>
            <a:ext cx="4636008" cy="347472"/>
          </a:xfrm>
          <a:prstGeom prst="rect">
            <a:avLst/>
          </a:prstGeom>
          <a:noFill/>
          <a:ln/>
        </p:spPr>
        <p:txBody>
          <a:bodyPr wrap="square" lIns="254" tIns="254" rIns="254" bIns="254" rtlCol="0" anchor="ctr">
            <a:normAutofit/>
          </a:bodyPr>
          <a:lstStyle/>
          <a:p>
            <a:pPr marL="0" indent="0">
              <a:buNone/>
            </a:pPr>
            <a:r>
              <a:rPr lang="en-US" sz="1150" dirty="0">
                <a:solidFill>
                  <a:srgbClr val="172A3A"/>
                </a:solidFill>
                <a:latin typeface="Aptos" pitchFamily="34" charset="0"/>
                <a:ea typeface="Aptos" pitchFamily="34" charset="-122"/>
                <a:cs typeface="Aptos" pitchFamily="34" charset="-120"/>
              </a:rPr>
              <a:t>AI Governance and Ethics Failure</a:t>
            </a:r>
            <a:endParaRPr lang="en-US" sz="1150" dirty="0"/>
          </a:p>
        </p:txBody>
      </p:sp>
      <p:sp>
        <p:nvSpPr>
          <p:cNvPr id="36" name="Text 34"/>
          <p:cNvSpPr/>
          <p:nvPr/>
        </p:nvSpPr>
        <p:spPr>
          <a:xfrm>
            <a:off x="749808" y="5074920"/>
            <a:ext cx="10607040" cy="777240"/>
          </a:xfrm>
          <a:prstGeom prst="rect">
            <a:avLst/>
          </a:prstGeom>
          <a:noFill/>
          <a:ln/>
        </p:spPr>
        <p:txBody>
          <a:bodyPr wrap="square" lIns="508" tIns="508" rIns="508" bIns="508" rtlCol="0" anchor="t">
            <a:normAutofit/>
          </a:bodyPr>
          <a:lstStyle/>
          <a:p>
            <a:pPr marL="0" indent="0">
              <a:buNone/>
            </a:pPr>
            <a:r>
              <a:rPr lang="en-US" sz="1480" dirty="0">
                <a:solidFill>
                  <a:srgbClr val="111827"/>
                </a:solidFill>
                <a:latin typeface="Aptos" pitchFamily="34" charset="0"/>
                <a:ea typeface="Aptos" pitchFamily="34" charset="-122"/>
                <a:cs typeface="Aptos" pitchFamily="34" charset="-120"/>
              </a:rPr>
              <a:t>These risks connect strategy, operations, technology, information security, finance, compliance, people, and governance. This makes the assessment suitable for enterprise wide decision making rather than a narrow IT review.</a:t>
            </a:r>
            <a:endParaRPr lang="en-US" sz="1480" dirty="0"/>
          </a:p>
        </p:txBody>
      </p:sp>
      <p:sp>
        <p:nvSpPr>
          <p:cNvPr id="37" name="Text 35"/>
          <p:cNvSpPr/>
          <p:nvPr/>
        </p:nvSpPr>
        <p:spPr>
          <a:xfrm>
            <a:off x="594360" y="6492240"/>
            <a:ext cx="5120640" cy="201168"/>
          </a:xfrm>
          <a:prstGeom prst="rect">
            <a:avLst/>
          </a:prstGeom>
          <a:noFill/>
          <a:ln/>
        </p:spPr>
        <p:txBody>
          <a:bodyPr wrap="square" lIns="0" tIns="0" rIns="0" bIns="0" rtlCol="0" anchor="ctr"/>
          <a:lstStyle/>
          <a:p>
            <a:pPr marL="0" indent="0">
              <a:buNone/>
            </a:pPr>
            <a:r>
              <a:rPr lang="en-US" sz="850" dirty="0">
                <a:solidFill>
                  <a:srgbClr val="5A6670"/>
                </a:solidFill>
                <a:latin typeface="Aptos" pitchFamily="34" charset="0"/>
                <a:ea typeface="Aptos" pitchFamily="34" charset="-122"/>
                <a:cs typeface="Aptos" pitchFamily="34" charset="-120"/>
              </a:rPr>
              <a:t>ALY6130 Risk Management for Analytics</a:t>
            </a:r>
            <a:endParaRPr lang="en-US" sz="850" dirty="0"/>
          </a:p>
        </p:txBody>
      </p:sp>
      <p:sp>
        <p:nvSpPr>
          <p:cNvPr id="38" name="Text 36"/>
          <p:cNvSpPr/>
          <p:nvPr/>
        </p:nvSpPr>
        <p:spPr>
          <a:xfrm>
            <a:off x="11292840" y="6492240"/>
            <a:ext cx="320040" cy="201168"/>
          </a:xfrm>
          <a:prstGeom prst="rect">
            <a:avLst/>
          </a:prstGeom>
          <a:noFill/>
          <a:ln/>
        </p:spPr>
        <p:txBody>
          <a:bodyPr wrap="square" lIns="0" tIns="0" rIns="0" bIns="0" rtlCol="0" anchor="ctr"/>
          <a:lstStyle/>
          <a:p>
            <a:pPr marL="0" indent="0" algn="r">
              <a:buNone/>
            </a:pPr>
            <a:r>
              <a:rPr lang="en-US" sz="850" dirty="0">
                <a:solidFill>
                  <a:srgbClr val="5A6670"/>
                </a:solidFill>
                <a:latin typeface="Aptos" pitchFamily="34" charset="0"/>
                <a:ea typeface="Aptos" pitchFamily="34" charset="-122"/>
                <a:cs typeface="Aptos"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B"/>
        </a:solidFill>
        <a:effectLst/>
      </p:bgPr>
    </p:bg>
    <p:spTree>
      <p:nvGrpSpPr>
        <p:cNvPr id="1" name=""/>
        <p:cNvGrpSpPr/>
        <p:nvPr/>
      </p:nvGrpSpPr>
      <p:grpSpPr>
        <a:xfrm>
          <a:off x="0" y="0"/>
          <a:ext cx="0" cy="0"/>
          <a:chOff x="0" y="0"/>
          <a:chExt cx="0" cy="0"/>
        </a:xfrm>
      </p:grpSpPr>
      <p:sp>
        <p:nvSpPr>
          <p:cNvPr id="2" name="Shape 0"/>
          <p:cNvSpPr/>
          <p:nvPr/>
        </p:nvSpPr>
        <p:spPr>
          <a:xfrm>
            <a:off x="0" y="14748"/>
            <a:ext cx="12191695" cy="6858000"/>
          </a:xfrm>
          <a:prstGeom prst="rect">
            <a:avLst/>
          </a:prstGeom>
          <a:solidFill>
            <a:srgbClr val="F7F3EB"/>
          </a:solidFill>
          <a:ln w="12700">
            <a:solidFill>
              <a:srgbClr val="F7F3EB">
                <a:alpha val="0"/>
              </a:srgbClr>
            </a:solidFill>
            <a:prstDash val="solid"/>
          </a:ln>
        </p:spPr>
      </p:sp>
      <p:sp>
        <p:nvSpPr>
          <p:cNvPr id="3" name="Text 1"/>
          <p:cNvSpPr/>
          <p:nvPr/>
        </p:nvSpPr>
        <p:spPr>
          <a:xfrm>
            <a:off x="566928" y="320040"/>
            <a:ext cx="9875520" cy="438912"/>
          </a:xfrm>
          <a:prstGeom prst="rect">
            <a:avLst/>
          </a:prstGeom>
          <a:noFill/>
          <a:ln/>
        </p:spPr>
        <p:txBody>
          <a:bodyPr wrap="square" lIns="0" tIns="0" rIns="0" bIns="0" rtlCol="0" anchor="ctr"/>
          <a:lstStyle/>
          <a:p>
            <a:pPr marL="0" indent="0">
              <a:buNone/>
            </a:pPr>
            <a:r>
              <a:rPr lang="en-US" sz="2800" b="1" dirty="0">
                <a:solidFill>
                  <a:srgbClr val="172A3A"/>
                </a:solidFill>
                <a:latin typeface="Aptos Display" pitchFamily="34" charset="0"/>
                <a:ea typeface="Aptos Display" pitchFamily="34" charset="-122"/>
                <a:cs typeface="Aptos Display" pitchFamily="34" charset="-120"/>
              </a:rPr>
              <a:t>Qualitative risk assessment</a:t>
            </a:r>
            <a:endParaRPr lang="en-US" sz="2800" dirty="0"/>
          </a:p>
        </p:txBody>
      </p:sp>
      <p:sp>
        <p:nvSpPr>
          <p:cNvPr id="4" name="Shape 2"/>
          <p:cNvSpPr/>
          <p:nvPr/>
        </p:nvSpPr>
        <p:spPr>
          <a:xfrm>
            <a:off x="566928" y="896112"/>
            <a:ext cx="11064240" cy="0"/>
          </a:xfrm>
          <a:prstGeom prst="line">
            <a:avLst/>
          </a:prstGeom>
          <a:noFill/>
          <a:ln w="19050">
            <a:solidFill>
              <a:srgbClr val="FF9900"/>
            </a:solidFill>
            <a:prstDash val="solid"/>
          </a:ln>
        </p:spPr>
      </p:sp>
      <p:sp>
        <p:nvSpPr>
          <p:cNvPr id="5" name="Text 3"/>
          <p:cNvSpPr/>
          <p:nvPr/>
        </p:nvSpPr>
        <p:spPr>
          <a:xfrm>
            <a:off x="585216" y="960120"/>
            <a:ext cx="10698480" cy="256032"/>
          </a:xfrm>
          <a:prstGeom prst="rect">
            <a:avLst/>
          </a:prstGeom>
          <a:noFill/>
          <a:ln/>
        </p:spPr>
        <p:txBody>
          <a:bodyPr wrap="square" lIns="0" tIns="0" rIns="0" bIns="0" rtlCol="0" anchor="ctr"/>
          <a:lstStyle/>
          <a:p>
            <a:pPr marL="0" indent="0">
              <a:buNone/>
            </a:pPr>
            <a:r>
              <a:rPr lang="en-US" sz="1100" dirty="0">
                <a:solidFill>
                  <a:srgbClr val="5A6670"/>
                </a:solidFill>
                <a:latin typeface="Aptos" pitchFamily="34" charset="0"/>
                <a:ea typeface="Aptos" pitchFamily="34" charset="-122"/>
                <a:cs typeface="Aptos" pitchFamily="34" charset="-120"/>
              </a:rPr>
              <a:t>Probability and impact show where management attention should go first</a:t>
            </a:r>
            <a:endParaRPr lang="en-US" sz="1100" dirty="0"/>
          </a:p>
        </p:txBody>
      </p:sp>
      <p:pic>
        <p:nvPicPr>
          <p:cNvPr id="6" name="Image 0" descr="/mnt/data/presentation_assets/risk_heatmap.png"/>
          <p:cNvPicPr>
            <a:picLocks noChangeAspect="1"/>
          </p:cNvPicPr>
          <p:nvPr/>
        </p:nvPicPr>
        <p:blipFill>
          <a:blip r:embed="rId3"/>
          <a:stretch>
            <a:fillRect/>
          </a:stretch>
        </p:blipFill>
        <p:spPr>
          <a:xfrm>
            <a:off x="640080" y="1243584"/>
            <a:ext cx="6400800" cy="3840480"/>
          </a:xfrm>
          <a:prstGeom prst="rect">
            <a:avLst/>
          </a:prstGeom>
        </p:spPr>
      </p:pic>
      <p:sp>
        <p:nvSpPr>
          <p:cNvPr id="7" name="Text 4"/>
          <p:cNvSpPr/>
          <p:nvPr/>
        </p:nvSpPr>
        <p:spPr>
          <a:xfrm>
            <a:off x="7406640" y="1335024"/>
            <a:ext cx="3474720" cy="292608"/>
          </a:xfrm>
          <a:prstGeom prst="rect">
            <a:avLst/>
          </a:prstGeom>
          <a:noFill/>
          <a:ln/>
        </p:spPr>
        <p:txBody>
          <a:bodyPr wrap="square" lIns="508" tIns="508" rIns="508" bIns="508" rtlCol="0" anchor="t">
            <a:normAutofit/>
          </a:bodyPr>
          <a:lstStyle/>
          <a:p>
            <a:pPr marL="0" indent="0">
              <a:buNone/>
            </a:pPr>
            <a:r>
              <a:rPr lang="en-US" sz="1900" dirty="0">
                <a:solidFill>
                  <a:srgbClr val="111827"/>
                </a:solidFill>
                <a:latin typeface="Aptos" pitchFamily="34" charset="0"/>
                <a:ea typeface="Aptos" pitchFamily="34" charset="-122"/>
                <a:cs typeface="Aptos" pitchFamily="34" charset="-120"/>
              </a:rPr>
              <a:t>Interpretation</a:t>
            </a:r>
            <a:endParaRPr lang="en-US" sz="1900" dirty="0"/>
          </a:p>
        </p:txBody>
      </p:sp>
      <p:sp>
        <p:nvSpPr>
          <p:cNvPr id="8" name="Text 5"/>
          <p:cNvSpPr/>
          <p:nvPr/>
        </p:nvSpPr>
        <p:spPr>
          <a:xfrm>
            <a:off x="7406640" y="1783080"/>
            <a:ext cx="3977640" cy="1353312"/>
          </a:xfrm>
          <a:prstGeom prst="rect">
            <a:avLst/>
          </a:prstGeom>
          <a:noFill/>
          <a:ln/>
        </p:spPr>
        <p:txBody>
          <a:bodyPr wrap="square" lIns="508" tIns="508" rIns="508" bIns="508" rtlCol="0" anchor="t">
            <a:normAutofit/>
          </a:bodyPr>
          <a:lstStyle/>
          <a:p>
            <a:pPr marL="0" indent="0">
              <a:buNone/>
            </a:pPr>
            <a:r>
              <a:rPr lang="en-US" sz="1500" dirty="0">
                <a:solidFill>
                  <a:srgbClr val="111827"/>
                </a:solidFill>
                <a:latin typeface="Aptos" pitchFamily="34" charset="0"/>
                <a:ea typeface="Aptos" pitchFamily="34" charset="-122"/>
                <a:cs typeface="Aptos" pitchFamily="34" charset="-120"/>
              </a:rPr>
              <a:t>The priority zone contains risks with both high expected impact and meaningful likelihood. Cost overrun, regulatory non compliance, cybersecurity, and AI warehouse strategy failure sit close to the highest concern area.</a:t>
            </a:r>
            <a:endParaRPr lang="en-US" sz="1500" dirty="0"/>
          </a:p>
        </p:txBody>
      </p:sp>
      <p:sp>
        <p:nvSpPr>
          <p:cNvPr id="9" name="Text 6"/>
          <p:cNvSpPr/>
          <p:nvPr/>
        </p:nvSpPr>
        <p:spPr>
          <a:xfrm>
            <a:off x="7406640" y="3128788"/>
            <a:ext cx="3977640" cy="822960"/>
          </a:xfrm>
          <a:prstGeom prst="rect">
            <a:avLst/>
          </a:prstGeom>
          <a:noFill/>
          <a:ln/>
        </p:spPr>
        <p:txBody>
          <a:bodyPr wrap="square" lIns="508" tIns="508" rIns="508" bIns="508" rtlCol="0" anchor="t">
            <a:normAutofit/>
          </a:bodyPr>
          <a:lstStyle/>
          <a:p>
            <a:pPr marL="0" indent="0">
              <a:buNone/>
            </a:pPr>
            <a:r>
              <a:rPr lang="en-US" sz="1500" dirty="0">
                <a:solidFill>
                  <a:srgbClr val="111827"/>
                </a:solidFill>
                <a:latin typeface="Aptos" pitchFamily="34" charset="0"/>
                <a:ea typeface="Aptos" pitchFamily="34" charset="-122"/>
                <a:cs typeface="Aptos" pitchFamily="34" charset="-120"/>
              </a:rPr>
              <a:t>Qualitative assessment was used to set assumptions for probability, impact ranges, KRI thresholds, and treatment urgency.</a:t>
            </a:r>
            <a:endParaRPr lang="en-US" sz="1500" dirty="0"/>
          </a:p>
        </p:txBody>
      </p:sp>
      <p:sp>
        <p:nvSpPr>
          <p:cNvPr id="10" name="Text 7"/>
          <p:cNvSpPr/>
          <p:nvPr/>
        </p:nvSpPr>
        <p:spPr>
          <a:xfrm>
            <a:off x="685800" y="5248656"/>
            <a:ext cx="6583680" cy="256032"/>
          </a:xfrm>
          <a:prstGeom prst="rect">
            <a:avLst/>
          </a:prstGeom>
          <a:noFill/>
          <a:ln/>
        </p:spPr>
        <p:txBody>
          <a:bodyPr wrap="square" lIns="0" tIns="0" rIns="0" bIns="0" rtlCol="0" anchor="ctr"/>
          <a:lstStyle/>
          <a:p>
            <a:pPr marL="0" indent="0">
              <a:buNone/>
            </a:pPr>
            <a:r>
              <a:rPr lang="en-US" sz="850" i="1" dirty="0">
                <a:solidFill>
                  <a:srgbClr val="5A6670"/>
                </a:solidFill>
                <a:latin typeface="Aptos" pitchFamily="34" charset="0"/>
                <a:ea typeface="Aptos" pitchFamily="34" charset="-122"/>
                <a:cs typeface="Aptos" pitchFamily="34" charset="-120"/>
              </a:rPr>
              <a:t>R1 to R10  risk ranking.</a:t>
            </a:r>
            <a:endParaRPr lang="en-US" sz="850" dirty="0"/>
          </a:p>
        </p:txBody>
      </p:sp>
      <p:sp>
        <p:nvSpPr>
          <p:cNvPr id="11" name="Text 8"/>
          <p:cNvSpPr/>
          <p:nvPr/>
        </p:nvSpPr>
        <p:spPr>
          <a:xfrm>
            <a:off x="594360" y="6492240"/>
            <a:ext cx="5120640" cy="201168"/>
          </a:xfrm>
          <a:prstGeom prst="rect">
            <a:avLst/>
          </a:prstGeom>
          <a:noFill/>
          <a:ln/>
        </p:spPr>
        <p:txBody>
          <a:bodyPr wrap="square" lIns="0" tIns="0" rIns="0" bIns="0" rtlCol="0" anchor="ctr"/>
          <a:lstStyle/>
          <a:p>
            <a:pPr marL="0" indent="0">
              <a:buNone/>
            </a:pPr>
            <a:r>
              <a:rPr lang="en-US" sz="850" dirty="0">
                <a:solidFill>
                  <a:srgbClr val="5A6670"/>
                </a:solidFill>
                <a:latin typeface="Aptos" pitchFamily="34" charset="0"/>
                <a:ea typeface="Aptos" pitchFamily="34" charset="-122"/>
                <a:cs typeface="Aptos" pitchFamily="34" charset="-120"/>
              </a:rPr>
              <a:t>ALY6130 Risk Management for Analytics</a:t>
            </a:r>
            <a:endParaRPr lang="en-US" sz="850" dirty="0"/>
          </a:p>
        </p:txBody>
      </p:sp>
      <p:sp>
        <p:nvSpPr>
          <p:cNvPr id="12" name="Text 9"/>
          <p:cNvSpPr/>
          <p:nvPr/>
        </p:nvSpPr>
        <p:spPr>
          <a:xfrm>
            <a:off x="11292840" y="6492240"/>
            <a:ext cx="320040" cy="201168"/>
          </a:xfrm>
          <a:prstGeom prst="rect">
            <a:avLst/>
          </a:prstGeom>
          <a:noFill/>
          <a:ln/>
        </p:spPr>
        <p:txBody>
          <a:bodyPr wrap="square" lIns="0" tIns="0" rIns="0" bIns="0" rtlCol="0" anchor="ctr"/>
          <a:lstStyle/>
          <a:p>
            <a:pPr marL="0" indent="0" algn="r">
              <a:buNone/>
            </a:pPr>
            <a:r>
              <a:rPr lang="en-US" sz="850" dirty="0">
                <a:solidFill>
                  <a:srgbClr val="5A6670"/>
                </a:solidFill>
                <a:latin typeface="Aptos" pitchFamily="34" charset="0"/>
                <a:ea typeface="Aptos" pitchFamily="34" charset="-122"/>
                <a:cs typeface="Aptos" pitchFamily="34" charset="-120"/>
              </a:rPr>
              <a:t>5</a:t>
            </a:r>
            <a:endParaRPr lang="en-US" sz="850" dirty="0"/>
          </a:p>
        </p:txBody>
      </p:sp>
      <p:sp>
        <p:nvSpPr>
          <p:cNvPr id="14" name="Text 27">
            <a:extLst>
              <a:ext uri="{FF2B5EF4-FFF2-40B4-BE49-F238E27FC236}">
                <a16:creationId xmlns:a16="http://schemas.microsoft.com/office/drawing/2014/main" id="{6B252070-9E57-5BA8-ED6A-6C2A3F14CF57}"/>
              </a:ext>
            </a:extLst>
          </p:cNvPr>
          <p:cNvSpPr/>
          <p:nvPr/>
        </p:nvSpPr>
        <p:spPr>
          <a:xfrm>
            <a:off x="8394192" y="5830332"/>
            <a:ext cx="4636008" cy="347472"/>
          </a:xfrm>
          <a:prstGeom prst="rect">
            <a:avLst/>
          </a:prstGeom>
          <a:noFill/>
          <a:ln/>
        </p:spPr>
        <p:txBody>
          <a:bodyPr wrap="square" lIns="254" tIns="254" rIns="254" bIns="254" rtlCol="0" anchor="ctr">
            <a:normAutofit/>
          </a:bodyPr>
          <a:lstStyle/>
          <a:p>
            <a:pPr marL="0" indent="0">
              <a:buNone/>
            </a:pPr>
            <a:endParaRPr lang="en-US" sz="1150" dirty="0"/>
          </a:p>
        </p:txBody>
      </p:sp>
      <p:grpSp>
        <p:nvGrpSpPr>
          <p:cNvPr id="24" name="Group 23">
            <a:extLst>
              <a:ext uri="{FF2B5EF4-FFF2-40B4-BE49-F238E27FC236}">
                <a16:creationId xmlns:a16="http://schemas.microsoft.com/office/drawing/2014/main" id="{D113E22C-5CAB-4F43-7B5A-1B7D738DA076}"/>
              </a:ext>
            </a:extLst>
          </p:cNvPr>
          <p:cNvGrpSpPr/>
          <p:nvPr/>
        </p:nvGrpSpPr>
        <p:grpSpPr>
          <a:xfrm>
            <a:off x="7386552" y="4023359"/>
            <a:ext cx="4181772" cy="885661"/>
            <a:chOff x="7416588" y="4164956"/>
            <a:chExt cx="4181772" cy="885661"/>
          </a:xfrm>
        </p:grpSpPr>
        <p:sp>
          <p:nvSpPr>
            <p:cNvPr id="16" name="Text 12">
              <a:extLst>
                <a:ext uri="{FF2B5EF4-FFF2-40B4-BE49-F238E27FC236}">
                  <a16:creationId xmlns:a16="http://schemas.microsoft.com/office/drawing/2014/main" id="{82EA56AD-58F1-198A-1FFF-FE4405B86ECC}"/>
                </a:ext>
              </a:extLst>
            </p:cNvPr>
            <p:cNvSpPr/>
            <p:nvPr/>
          </p:nvSpPr>
          <p:spPr>
            <a:xfrm>
              <a:off x="7808172" y="4227658"/>
              <a:ext cx="3790188" cy="822959"/>
            </a:xfrm>
            <a:prstGeom prst="rect">
              <a:avLst/>
            </a:prstGeom>
            <a:noFill/>
            <a:ln/>
          </p:spPr>
          <p:txBody>
            <a:bodyPr wrap="square" lIns="254" tIns="254" rIns="254" bIns="254" rtlCol="0" anchor="ctr">
              <a:normAutofit/>
            </a:bodyPr>
            <a:lstStyle/>
            <a:p>
              <a:pPr marL="285750" indent="-285750">
                <a:buFont typeface="Wingdings" panose="05000000000000000000" pitchFamily="2" charset="2"/>
                <a:buChar char="Ø"/>
              </a:pPr>
              <a:r>
                <a:rPr lang="en-US" sz="1500" dirty="0">
                  <a:solidFill>
                    <a:srgbClr val="111827"/>
                  </a:solidFill>
                  <a:latin typeface="Aptos" pitchFamily="34" charset="0"/>
                </a:rPr>
                <a:t>AI Warehouse Strategy Failure</a:t>
              </a:r>
            </a:p>
            <a:p>
              <a:pPr marL="285750" indent="-285750">
                <a:buFont typeface="Wingdings" panose="05000000000000000000" pitchFamily="2" charset="2"/>
                <a:buChar char="Ø"/>
              </a:pPr>
              <a:endParaRPr lang="en-US" sz="1500" dirty="0">
                <a:solidFill>
                  <a:srgbClr val="111827"/>
                </a:solidFill>
                <a:latin typeface="Aptos" pitchFamily="34" charset="0"/>
              </a:endParaRPr>
            </a:p>
            <a:p>
              <a:pPr marL="285750" indent="-285750">
                <a:buFont typeface="Wingdings" panose="05000000000000000000" pitchFamily="2" charset="2"/>
                <a:buChar char="Ø"/>
              </a:pPr>
              <a:r>
                <a:rPr lang="en-US" sz="1500" dirty="0">
                  <a:solidFill>
                    <a:srgbClr val="111827"/>
                  </a:solidFill>
                  <a:latin typeface="Aptos" pitchFamily="34" charset="0"/>
                </a:rPr>
                <a:t>Cost Overrun and Delayed ROI</a:t>
              </a:r>
            </a:p>
            <a:p>
              <a:pPr marL="0" indent="0">
                <a:buNone/>
              </a:pPr>
              <a:endParaRPr lang="en-US" sz="1150" dirty="0"/>
            </a:p>
          </p:txBody>
        </p:sp>
        <p:sp>
          <p:nvSpPr>
            <p:cNvPr id="17" name="Flowchart: Connector 16">
              <a:extLst>
                <a:ext uri="{FF2B5EF4-FFF2-40B4-BE49-F238E27FC236}">
                  <a16:creationId xmlns:a16="http://schemas.microsoft.com/office/drawing/2014/main" id="{C03EC46E-CAA2-F876-BA8D-F14500A480D2}"/>
                </a:ext>
              </a:extLst>
            </p:cNvPr>
            <p:cNvSpPr/>
            <p:nvPr/>
          </p:nvSpPr>
          <p:spPr>
            <a:xfrm>
              <a:off x="7463790" y="4164956"/>
              <a:ext cx="297180" cy="297180"/>
            </a:xfrm>
            <a:prstGeom prst="flowChartConnector">
              <a:avLst/>
            </a:prstGeom>
            <a:solidFill>
              <a:srgbClr val="F7945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p:txBody>
        </p:sp>
        <p:sp>
          <p:nvSpPr>
            <p:cNvPr id="18" name="Flowchart: Connector 17">
              <a:extLst>
                <a:ext uri="{FF2B5EF4-FFF2-40B4-BE49-F238E27FC236}">
                  <a16:creationId xmlns:a16="http://schemas.microsoft.com/office/drawing/2014/main" id="{2AD381AA-A57A-C09F-1710-46F82C81FFE4}"/>
                </a:ext>
              </a:extLst>
            </p:cNvPr>
            <p:cNvSpPr/>
            <p:nvPr/>
          </p:nvSpPr>
          <p:spPr>
            <a:xfrm>
              <a:off x="7463790" y="4616761"/>
              <a:ext cx="297180" cy="297180"/>
            </a:xfrm>
            <a:prstGeom prst="flowChartConnector">
              <a:avLst/>
            </a:prstGeom>
            <a:solidFill>
              <a:srgbClr val="9A5B4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5BEA05D2-3F7D-79CB-3D19-6116285DD072}"/>
                </a:ext>
              </a:extLst>
            </p:cNvPr>
            <p:cNvSpPr txBox="1"/>
            <p:nvPr/>
          </p:nvSpPr>
          <p:spPr>
            <a:xfrm>
              <a:off x="7416588" y="4182741"/>
              <a:ext cx="391584" cy="261610"/>
            </a:xfrm>
            <a:prstGeom prst="rect">
              <a:avLst/>
            </a:prstGeom>
            <a:noFill/>
          </p:spPr>
          <p:txBody>
            <a:bodyPr wrap="square" rtlCol="0">
              <a:spAutoFit/>
            </a:bodyPr>
            <a:lstStyle/>
            <a:p>
              <a:pPr algn="ctr"/>
              <a:r>
                <a:rPr lang="en-US" sz="1100" b="1" dirty="0">
                  <a:latin typeface="Arial" panose="020B0604020202020204" pitchFamily="34" charset="0"/>
                  <a:cs typeface="Arial" panose="020B0604020202020204" pitchFamily="34" charset="0"/>
                </a:rPr>
                <a:t>R2</a:t>
              </a:r>
            </a:p>
          </p:txBody>
        </p:sp>
        <p:sp>
          <p:nvSpPr>
            <p:cNvPr id="21" name="TextBox 20">
              <a:extLst>
                <a:ext uri="{FF2B5EF4-FFF2-40B4-BE49-F238E27FC236}">
                  <a16:creationId xmlns:a16="http://schemas.microsoft.com/office/drawing/2014/main" id="{E4222925-7737-25F8-2CFA-B40F0FE07D67}"/>
                </a:ext>
              </a:extLst>
            </p:cNvPr>
            <p:cNvSpPr txBox="1"/>
            <p:nvPr/>
          </p:nvSpPr>
          <p:spPr>
            <a:xfrm>
              <a:off x="7432992" y="4638670"/>
              <a:ext cx="391584" cy="261610"/>
            </a:xfrm>
            <a:prstGeom prst="rect">
              <a:avLst/>
            </a:prstGeom>
            <a:noFill/>
          </p:spPr>
          <p:txBody>
            <a:bodyPr wrap="square" rtlCol="0">
              <a:spAutoFit/>
            </a:bodyPr>
            <a:lstStyle/>
            <a:p>
              <a:pPr algn="ctr"/>
              <a:r>
                <a:rPr lang="en-US" sz="1100" b="1" dirty="0">
                  <a:latin typeface="Arial" panose="020B0604020202020204" pitchFamily="34" charset="0"/>
                  <a:cs typeface="Arial" panose="020B0604020202020204" pitchFamily="34" charset="0"/>
                </a:rPr>
                <a:t>R8</a:t>
              </a:r>
            </a:p>
          </p:txBody>
        </p:sp>
      </p:grpSp>
      <p:grpSp>
        <p:nvGrpSpPr>
          <p:cNvPr id="32" name="Group 31">
            <a:extLst>
              <a:ext uri="{FF2B5EF4-FFF2-40B4-BE49-F238E27FC236}">
                <a16:creationId xmlns:a16="http://schemas.microsoft.com/office/drawing/2014/main" id="{585699D7-CDBD-7FCA-9D8E-7826B59C4A08}"/>
              </a:ext>
            </a:extLst>
          </p:cNvPr>
          <p:cNvGrpSpPr/>
          <p:nvPr/>
        </p:nvGrpSpPr>
        <p:grpSpPr>
          <a:xfrm>
            <a:off x="7381176" y="5199885"/>
            <a:ext cx="4187148" cy="883594"/>
            <a:chOff x="7364772" y="5453192"/>
            <a:chExt cx="4187148" cy="883594"/>
          </a:xfrm>
        </p:grpSpPr>
        <p:grpSp>
          <p:nvGrpSpPr>
            <p:cNvPr id="25" name="Group 24">
              <a:extLst>
                <a:ext uri="{FF2B5EF4-FFF2-40B4-BE49-F238E27FC236}">
                  <a16:creationId xmlns:a16="http://schemas.microsoft.com/office/drawing/2014/main" id="{2830AA77-50BC-AA1E-A901-231D875C650F}"/>
                </a:ext>
              </a:extLst>
            </p:cNvPr>
            <p:cNvGrpSpPr/>
            <p:nvPr/>
          </p:nvGrpSpPr>
          <p:grpSpPr>
            <a:xfrm>
              <a:off x="7364772" y="5453192"/>
              <a:ext cx="4187148" cy="883594"/>
              <a:chOff x="7416588" y="4139028"/>
              <a:chExt cx="4187148" cy="883594"/>
            </a:xfrm>
          </p:grpSpPr>
          <p:sp>
            <p:nvSpPr>
              <p:cNvPr id="26" name="Text 12">
                <a:extLst>
                  <a:ext uri="{FF2B5EF4-FFF2-40B4-BE49-F238E27FC236}">
                    <a16:creationId xmlns:a16="http://schemas.microsoft.com/office/drawing/2014/main" id="{01D9993D-E99C-1D7C-D9D8-761734EE97C7}"/>
                  </a:ext>
                </a:extLst>
              </p:cNvPr>
              <p:cNvSpPr/>
              <p:nvPr/>
            </p:nvSpPr>
            <p:spPr>
              <a:xfrm>
                <a:off x="7813548" y="4199663"/>
                <a:ext cx="3790188" cy="822959"/>
              </a:xfrm>
              <a:prstGeom prst="rect">
                <a:avLst/>
              </a:prstGeom>
              <a:noFill/>
              <a:ln/>
            </p:spPr>
            <p:txBody>
              <a:bodyPr wrap="square" lIns="254" tIns="254" rIns="254" bIns="254" rtlCol="0" anchor="ctr">
                <a:normAutofit/>
              </a:bodyPr>
              <a:lstStyle/>
              <a:p>
                <a:pPr marL="285750" indent="-285750">
                  <a:buFont typeface="Wingdings" panose="05000000000000000000" pitchFamily="2" charset="2"/>
                  <a:buChar char="Ø"/>
                </a:pPr>
                <a:r>
                  <a:rPr lang="en-US" sz="1500" dirty="0">
                    <a:solidFill>
                      <a:srgbClr val="111827"/>
                    </a:solidFill>
                    <a:latin typeface="Aptos" pitchFamily="34" charset="0"/>
                  </a:rPr>
                  <a:t>Cybersecurity and Data Breach</a:t>
                </a:r>
              </a:p>
              <a:p>
                <a:pPr marL="285750" indent="-285750">
                  <a:buFont typeface="Wingdings" panose="05000000000000000000" pitchFamily="2" charset="2"/>
                  <a:buChar char="Ø"/>
                </a:pPr>
                <a:endParaRPr lang="en-US" sz="1500" dirty="0">
                  <a:solidFill>
                    <a:srgbClr val="111827"/>
                  </a:solidFill>
                  <a:latin typeface="Aptos" pitchFamily="34" charset="0"/>
                </a:endParaRPr>
              </a:p>
              <a:p>
                <a:pPr marL="285750" indent="-285750">
                  <a:buFont typeface="Wingdings" panose="05000000000000000000" pitchFamily="2" charset="2"/>
                  <a:buChar char="Ø"/>
                </a:pPr>
                <a:r>
                  <a:rPr lang="en-US" sz="1500" dirty="0">
                    <a:solidFill>
                      <a:srgbClr val="111827"/>
                    </a:solidFill>
                    <a:latin typeface="Aptos" pitchFamily="34" charset="0"/>
                  </a:rPr>
                  <a:t>Regulatory and Privacy Non Compliance</a:t>
                </a:r>
              </a:p>
              <a:p>
                <a:pPr marL="0" indent="0">
                  <a:buNone/>
                </a:pPr>
                <a:endParaRPr lang="en-US" sz="1150" dirty="0"/>
              </a:p>
            </p:txBody>
          </p:sp>
          <p:sp>
            <p:nvSpPr>
              <p:cNvPr id="27" name="Flowchart: Connector 26">
                <a:extLst>
                  <a:ext uri="{FF2B5EF4-FFF2-40B4-BE49-F238E27FC236}">
                    <a16:creationId xmlns:a16="http://schemas.microsoft.com/office/drawing/2014/main" id="{1503CC5B-30B5-2870-55EA-4640589B09FB}"/>
                  </a:ext>
                </a:extLst>
              </p:cNvPr>
              <p:cNvSpPr/>
              <p:nvPr/>
            </p:nvSpPr>
            <p:spPr>
              <a:xfrm>
                <a:off x="7463790" y="4139028"/>
                <a:ext cx="297180" cy="297180"/>
              </a:xfrm>
              <a:prstGeom prst="flowChartConnector">
                <a:avLst/>
              </a:prstGeom>
              <a:solidFill>
                <a:srgbClr val="BE613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p:txBody>
          </p:sp>
          <p:sp>
            <p:nvSpPr>
              <p:cNvPr id="28" name="Flowchart: Connector 27">
                <a:extLst>
                  <a:ext uri="{FF2B5EF4-FFF2-40B4-BE49-F238E27FC236}">
                    <a16:creationId xmlns:a16="http://schemas.microsoft.com/office/drawing/2014/main" id="{84F5C81E-AD2D-457E-7773-4942E466D685}"/>
                  </a:ext>
                </a:extLst>
              </p:cNvPr>
              <p:cNvSpPr/>
              <p:nvPr/>
            </p:nvSpPr>
            <p:spPr>
              <a:xfrm>
                <a:off x="7463790" y="4604063"/>
                <a:ext cx="297180" cy="297180"/>
              </a:xfrm>
              <a:prstGeom prst="flowChartConnector">
                <a:avLst/>
              </a:prstGeom>
              <a:solidFill>
                <a:srgbClr val="B65D3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TextBox 28">
                <a:extLst>
                  <a:ext uri="{FF2B5EF4-FFF2-40B4-BE49-F238E27FC236}">
                    <a16:creationId xmlns:a16="http://schemas.microsoft.com/office/drawing/2014/main" id="{13627E2B-4EB8-4130-AEBA-CB175000BD10}"/>
                  </a:ext>
                </a:extLst>
              </p:cNvPr>
              <p:cNvSpPr txBox="1"/>
              <p:nvPr/>
            </p:nvSpPr>
            <p:spPr>
              <a:xfrm>
                <a:off x="7416588" y="4156813"/>
                <a:ext cx="391584" cy="261610"/>
              </a:xfrm>
              <a:prstGeom prst="rect">
                <a:avLst/>
              </a:prstGeom>
              <a:noFill/>
            </p:spPr>
            <p:txBody>
              <a:bodyPr wrap="square" rtlCol="0">
                <a:spAutoFit/>
              </a:bodyPr>
              <a:lstStyle/>
              <a:p>
                <a:pPr algn="ctr"/>
                <a:r>
                  <a:rPr lang="en-US" sz="1100" b="1" dirty="0">
                    <a:latin typeface="Arial" panose="020B0604020202020204" pitchFamily="34" charset="0"/>
                    <a:cs typeface="Arial" panose="020B0604020202020204" pitchFamily="34" charset="0"/>
                  </a:rPr>
                  <a:t>R3</a:t>
                </a:r>
              </a:p>
            </p:txBody>
          </p:sp>
        </p:grpSp>
        <p:sp>
          <p:nvSpPr>
            <p:cNvPr id="31" name="TextBox 30">
              <a:extLst>
                <a:ext uri="{FF2B5EF4-FFF2-40B4-BE49-F238E27FC236}">
                  <a16:creationId xmlns:a16="http://schemas.microsoft.com/office/drawing/2014/main" id="{511B6844-A97A-CA33-E3E2-454BEBD4FF0F}"/>
                </a:ext>
              </a:extLst>
            </p:cNvPr>
            <p:cNvSpPr txBox="1"/>
            <p:nvPr/>
          </p:nvSpPr>
          <p:spPr>
            <a:xfrm>
              <a:off x="7381176" y="5940136"/>
              <a:ext cx="391584" cy="261610"/>
            </a:xfrm>
            <a:prstGeom prst="rect">
              <a:avLst/>
            </a:prstGeom>
            <a:noFill/>
          </p:spPr>
          <p:txBody>
            <a:bodyPr wrap="square" rtlCol="0">
              <a:spAutoFit/>
            </a:bodyPr>
            <a:lstStyle/>
            <a:p>
              <a:pPr algn="ctr"/>
              <a:r>
                <a:rPr lang="en-US" sz="1100" b="1" dirty="0">
                  <a:latin typeface="Arial" panose="020B0604020202020204" pitchFamily="34" charset="0"/>
                  <a:cs typeface="Arial" panose="020B0604020202020204" pitchFamily="34" charset="0"/>
                </a:rPr>
                <a:t>R9</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3EB"/>
          </a:solidFill>
          <a:ln w="12700">
            <a:solidFill>
              <a:srgbClr val="F7F3EB">
                <a:alpha val="0"/>
              </a:srgbClr>
            </a:solidFill>
            <a:prstDash val="solid"/>
          </a:ln>
        </p:spPr>
      </p:sp>
      <p:sp>
        <p:nvSpPr>
          <p:cNvPr id="3" name="Text 1"/>
          <p:cNvSpPr/>
          <p:nvPr/>
        </p:nvSpPr>
        <p:spPr>
          <a:xfrm>
            <a:off x="566928" y="320040"/>
            <a:ext cx="9875520" cy="438912"/>
          </a:xfrm>
          <a:prstGeom prst="rect">
            <a:avLst/>
          </a:prstGeom>
          <a:noFill/>
          <a:ln/>
        </p:spPr>
        <p:txBody>
          <a:bodyPr wrap="square" lIns="0" tIns="0" rIns="0" bIns="0" rtlCol="0" anchor="ctr"/>
          <a:lstStyle/>
          <a:p>
            <a:pPr marL="0" indent="0">
              <a:buNone/>
            </a:pPr>
            <a:r>
              <a:rPr lang="en-US" sz="2800" b="1" dirty="0">
                <a:solidFill>
                  <a:srgbClr val="172A3A"/>
                </a:solidFill>
                <a:latin typeface="Aptos Display" pitchFamily="34" charset="0"/>
                <a:ea typeface="Aptos Display" pitchFamily="34" charset="-122"/>
                <a:cs typeface="Aptos Display" pitchFamily="34" charset="-120"/>
              </a:rPr>
              <a:t>Quantitative risk modelling approach</a:t>
            </a:r>
            <a:endParaRPr lang="en-US" sz="2800" dirty="0"/>
          </a:p>
        </p:txBody>
      </p:sp>
      <p:sp>
        <p:nvSpPr>
          <p:cNvPr id="4" name="Shape 2"/>
          <p:cNvSpPr/>
          <p:nvPr/>
        </p:nvSpPr>
        <p:spPr>
          <a:xfrm>
            <a:off x="566928" y="896112"/>
            <a:ext cx="11064240" cy="0"/>
          </a:xfrm>
          <a:prstGeom prst="line">
            <a:avLst/>
          </a:prstGeom>
          <a:noFill/>
          <a:ln w="19050">
            <a:solidFill>
              <a:srgbClr val="FF9900"/>
            </a:solidFill>
            <a:prstDash val="solid"/>
          </a:ln>
        </p:spPr>
      </p:sp>
      <p:sp>
        <p:nvSpPr>
          <p:cNvPr id="5" name="Text 3"/>
          <p:cNvSpPr/>
          <p:nvPr/>
        </p:nvSpPr>
        <p:spPr>
          <a:xfrm>
            <a:off x="585216" y="960120"/>
            <a:ext cx="10698480" cy="256032"/>
          </a:xfrm>
          <a:prstGeom prst="rect">
            <a:avLst/>
          </a:prstGeom>
          <a:noFill/>
          <a:ln/>
        </p:spPr>
        <p:txBody>
          <a:bodyPr wrap="square" lIns="0" tIns="0" rIns="0" bIns="0" rtlCol="0" anchor="ctr"/>
          <a:lstStyle/>
          <a:p>
            <a:pPr marL="0" indent="0">
              <a:buNone/>
            </a:pPr>
            <a:r>
              <a:rPr lang="en-US" sz="1100" dirty="0">
                <a:solidFill>
                  <a:srgbClr val="5A6670"/>
                </a:solidFill>
                <a:latin typeface="Aptos" pitchFamily="34" charset="0"/>
                <a:ea typeface="Aptos" pitchFamily="34" charset="-122"/>
                <a:cs typeface="Aptos" pitchFamily="34" charset="-120"/>
              </a:rPr>
              <a:t>Moving beyond descriptive risk assessment</a:t>
            </a:r>
            <a:endParaRPr lang="en-US" sz="1100" dirty="0"/>
          </a:p>
        </p:txBody>
      </p:sp>
      <p:sp>
        <p:nvSpPr>
          <p:cNvPr id="6" name="Text 4"/>
          <p:cNvSpPr/>
          <p:nvPr/>
        </p:nvSpPr>
        <p:spPr>
          <a:xfrm>
            <a:off x="822960" y="1463040"/>
            <a:ext cx="566928" cy="566928"/>
          </a:xfrm>
          <a:prstGeom prst="rect">
            <a:avLst/>
          </a:prstGeom>
          <a:noFill/>
          <a:ln/>
        </p:spPr>
        <p:txBody>
          <a:bodyPr wrap="square" lIns="0" tIns="0" rIns="0" bIns="0" rtlCol="0" anchor="ctr"/>
          <a:lstStyle/>
          <a:p>
            <a:pPr marL="0" indent="0" algn="ctr">
              <a:buNone/>
            </a:pPr>
            <a:r>
              <a:rPr lang="en-US" sz="2400" b="1" dirty="0">
                <a:solidFill>
                  <a:srgbClr val="FF9900"/>
                </a:solidFill>
                <a:latin typeface="Aptos Display" pitchFamily="34" charset="0"/>
                <a:ea typeface="Aptos Display" pitchFamily="34" charset="-122"/>
                <a:cs typeface="Aptos Display" pitchFamily="34" charset="-120"/>
              </a:rPr>
              <a:t>1</a:t>
            </a:r>
            <a:endParaRPr lang="en-US" sz="2400" dirty="0"/>
          </a:p>
        </p:txBody>
      </p:sp>
      <p:sp>
        <p:nvSpPr>
          <p:cNvPr id="7" name="Shape 5"/>
          <p:cNvSpPr/>
          <p:nvPr/>
        </p:nvSpPr>
        <p:spPr>
          <a:xfrm>
            <a:off x="1481328" y="1746504"/>
            <a:ext cx="1417320" cy="0"/>
          </a:xfrm>
          <a:prstGeom prst="line">
            <a:avLst/>
          </a:prstGeom>
          <a:noFill/>
          <a:ln w="17780">
            <a:solidFill>
              <a:srgbClr val="FF9900"/>
            </a:solidFill>
            <a:prstDash val="solid"/>
          </a:ln>
        </p:spPr>
      </p:sp>
      <p:sp>
        <p:nvSpPr>
          <p:cNvPr id="8" name="Text 6"/>
          <p:cNvSpPr/>
          <p:nvPr/>
        </p:nvSpPr>
        <p:spPr>
          <a:xfrm>
            <a:off x="822960" y="2304288"/>
            <a:ext cx="2148840" cy="411480"/>
          </a:xfrm>
          <a:prstGeom prst="rect">
            <a:avLst/>
          </a:prstGeom>
          <a:noFill/>
          <a:ln/>
        </p:spPr>
        <p:txBody>
          <a:bodyPr wrap="square" lIns="0" tIns="0" rIns="0" bIns="0" rtlCol="0" anchor="ctr"/>
          <a:lstStyle/>
          <a:p>
            <a:pPr marL="0" indent="0">
              <a:buNone/>
            </a:pPr>
            <a:r>
              <a:rPr lang="en-US" sz="1700" b="1" dirty="0">
                <a:solidFill>
                  <a:srgbClr val="172A3A"/>
                </a:solidFill>
                <a:latin typeface="Aptos Display" pitchFamily="34" charset="0"/>
                <a:ea typeface="Aptos Display" pitchFamily="34" charset="-122"/>
                <a:cs typeface="Aptos Display" pitchFamily="34" charset="-120"/>
              </a:rPr>
              <a:t>Probability distribution</a:t>
            </a:r>
            <a:endParaRPr lang="en-US" sz="1700" dirty="0"/>
          </a:p>
        </p:txBody>
      </p:sp>
      <p:sp>
        <p:nvSpPr>
          <p:cNvPr id="9" name="Text 7"/>
          <p:cNvSpPr/>
          <p:nvPr/>
        </p:nvSpPr>
        <p:spPr>
          <a:xfrm>
            <a:off x="822960" y="2852928"/>
            <a:ext cx="2148840" cy="1234440"/>
          </a:xfrm>
          <a:prstGeom prst="rect">
            <a:avLst/>
          </a:prstGeom>
          <a:noFill/>
          <a:ln/>
        </p:spPr>
        <p:txBody>
          <a:bodyPr wrap="square" lIns="254" tIns="254" rIns="254" bIns="254" rtlCol="0" anchor="ctr">
            <a:normAutofit/>
          </a:bodyPr>
          <a:lstStyle/>
          <a:p>
            <a:pPr marL="0" indent="0">
              <a:buNone/>
            </a:pPr>
            <a:r>
              <a:rPr lang="en-US" sz="1250" dirty="0">
                <a:solidFill>
                  <a:srgbClr val="111827"/>
                </a:solidFill>
                <a:latin typeface="Aptos" pitchFamily="34" charset="0"/>
                <a:ea typeface="Aptos" pitchFamily="34" charset="-122"/>
                <a:cs typeface="Aptos" pitchFamily="34" charset="-120"/>
              </a:rPr>
              <a:t>Each risk uses a beta distribution to represent uncertainty around likelihood.</a:t>
            </a:r>
            <a:endParaRPr lang="en-US" sz="1250" dirty="0"/>
          </a:p>
        </p:txBody>
      </p:sp>
      <p:sp>
        <p:nvSpPr>
          <p:cNvPr id="10" name="Text 8"/>
          <p:cNvSpPr/>
          <p:nvPr/>
        </p:nvSpPr>
        <p:spPr>
          <a:xfrm>
            <a:off x="3611880" y="1463040"/>
            <a:ext cx="566928" cy="566928"/>
          </a:xfrm>
          <a:prstGeom prst="rect">
            <a:avLst/>
          </a:prstGeom>
          <a:noFill/>
          <a:ln/>
        </p:spPr>
        <p:txBody>
          <a:bodyPr wrap="square" lIns="0" tIns="0" rIns="0" bIns="0" rtlCol="0" anchor="ctr"/>
          <a:lstStyle/>
          <a:p>
            <a:pPr marL="0" indent="0" algn="ctr">
              <a:buNone/>
            </a:pPr>
            <a:r>
              <a:rPr lang="en-US" sz="2400" b="1" dirty="0">
                <a:solidFill>
                  <a:srgbClr val="FF9900"/>
                </a:solidFill>
                <a:latin typeface="Aptos Display" pitchFamily="34" charset="0"/>
                <a:ea typeface="Aptos Display" pitchFamily="34" charset="-122"/>
                <a:cs typeface="Aptos Display" pitchFamily="34" charset="-120"/>
              </a:rPr>
              <a:t>2</a:t>
            </a:r>
            <a:endParaRPr lang="en-US" sz="2400" dirty="0"/>
          </a:p>
        </p:txBody>
      </p:sp>
      <p:sp>
        <p:nvSpPr>
          <p:cNvPr id="11" name="Shape 9"/>
          <p:cNvSpPr/>
          <p:nvPr/>
        </p:nvSpPr>
        <p:spPr>
          <a:xfrm>
            <a:off x="4270248" y="1746504"/>
            <a:ext cx="1417320" cy="0"/>
          </a:xfrm>
          <a:prstGeom prst="line">
            <a:avLst/>
          </a:prstGeom>
          <a:noFill/>
          <a:ln w="17780">
            <a:solidFill>
              <a:srgbClr val="FF9900"/>
            </a:solidFill>
            <a:prstDash val="solid"/>
          </a:ln>
        </p:spPr>
      </p:sp>
      <p:sp>
        <p:nvSpPr>
          <p:cNvPr id="12" name="Text 10"/>
          <p:cNvSpPr/>
          <p:nvPr/>
        </p:nvSpPr>
        <p:spPr>
          <a:xfrm>
            <a:off x="3611880" y="2304288"/>
            <a:ext cx="2148840" cy="411480"/>
          </a:xfrm>
          <a:prstGeom prst="rect">
            <a:avLst/>
          </a:prstGeom>
          <a:noFill/>
          <a:ln/>
        </p:spPr>
        <p:txBody>
          <a:bodyPr wrap="square" lIns="0" tIns="0" rIns="0" bIns="0" rtlCol="0" anchor="ctr"/>
          <a:lstStyle/>
          <a:p>
            <a:pPr marL="0" indent="0">
              <a:buNone/>
            </a:pPr>
            <a:r>
              <a:rPr lang="en-US" sz="1700" b="1" dirty="0">
                <a:solidFill>
                  <a:srgbClr val="172A3A"/>
                </a:solidFill>
                <a:latin typeface="Aptos Display" pitchFamily="34" charset="0"/>
                <a:ea typeface="Aptos Display" pitchFamily="34" charset="-122"/>
                <a:cs typeface="Aptos Display" pitchFamily="34" charset="-120"/>
              </a:rPr>
              <a:t>Impact distribution</a:t>
            </a:r>
            <a:endParaRPr lang="en-US" sz="1700" dirty="0"/>
          </a:p>
        </p:txBody>
      </p:sp>
      <p:sp>
        <p:nvSpPr>
          <p:cNvPr id="13" name="Text 11"/>
          <p:cNvSpPr/>
          <p:nvPr/>
        </p:nvSpPr>
        <p:spPr>
          <a:xfrm>
            <a:off x="3611880" y="2852928"/>
            <a:ext cx="2148840" cy="1234440"/>
          </a:xfrm>
          <a:prstGeom prst="rect">
            <a:avLst/>
          </a:prstGeom>
          <a:noFill/>
          <a:ln/>
        </p:spPr>
        <p:txBody>
          <a:bodyPr wrap="square" lIns="254" tIns="254" rIns="254" bIns="254" rtlCol="0" anchor="ctr">
            <a:normAutofit/>
          </a:bodyPr>
          <a:lstStyle/>
          <a:p>
            <a:pPr marL="0" indent="0">
              <a:buNone/>
            </a:pPr>
            <a:r>
              <a:rPr lang="en-US" sz="1250" dirty="0">
                <a:solidFill>
                  <a:srgbClr val="111827"/>
                </a:solidFill>
                <a:latin typeface="Aptos" pitchFamily="34" charset="0"/>
                <a:ea typeface="Aptos" pitchFamily="34" charset="-122"/>
                <a:cs typeface="Aptos" pitchFamily="34" charset="-120"/>
              </a:rPr>
              <a:t>Each risk uses a triangular loss range with minimum, most likely, and maximum impact.</a:t>
            </a:r>
            <a:endParaRPr lang="en-US" sz="1250" dirty="0"/>
          </a:p>
        </p:txBody>
      </p:sp>
      <p:sp>
        <p:nvSpPr>
          <p:cNvPr id="14" name="Text 12"/>
          <p:cNvSpPr/>
          <p:nvPr/>
        </p:nvSpPr>
        <p:spPr>
          <a:xfrm>
            <a:off x="6400800" y="1463040"/>
            <a:ext cx="566928" cy="566928"/>
          </a:xfrm>
          <a:prstGeom prst="rect">
            <a:avLst/>
          </a:prstGeom>
          <a:noFill/>
          <a:ln/>
        </p:spPr>
        <p:txBody>
          <a:bodyPr wrap="square" lIns="0" tIns="0" rIns="0" bIns="0" rtlCol="0" anchor="ctr"/>
          <a:lstStyle/>
          <a:p>
            <a:pPr marL="0" indent="0" algn="ctr">
              <a:buNone/>
            </a:pPr>
            <a:r>
              <a:rPr lang="en-US" sz="2400" b="1" dirty="0">
                <a:solidFill>
                  <a:srgbClr val="FF9900"/>
                </a:solidFill>
                <a:latin typeface="Aptos Display" pitchFamily="34" charset="0"/>
                <a:ea typeface="Aptos Display" pitchFamily="34" charset="-122"/>
                <a:cs typeface="Aptos Display" pitchFamily="34" charset="-120"/>
              </a:rPr>
              <a:t>3</a:t>
            </a:r>
            <a:endParaRPr lang="en-US" sz="2400" dirty="0"/>
          </a:p>
        </p:txBody>
      </p:sp>
      <p:sp>
        <p:nvSpPr>
          <p:cNvPr id="15" name="Shape 13"/>
          <p:cNvSpPr/>
          <p:nvPr/>
        </p:nvSpPr>
        <p:spPr>
          <a:xfrm>
            <a:off x="7059168" y="1746504"/>
            <a:ext cx="1417320" cy="0"/>
          </a:xfrm>
          <a:prstGeom prst="line">
            <a:avLst/>
          </a:prstGeom>
          <a:noFill/>
          <a:ln w="17780">
            <a:solidFill>
              <a:srgbClr val="FF9900"/>
            </a:solidFill>
            <a:prstDash val="solid"/>
          </a:ln>
        </p:spPr>
      </p:sp>
      <p:sp>
        <p:nvSpPr>
          <p:cNvPr id="16" name="Text 14"/>
          <p:cNvSpPr/>
          <p:nvPr/>
        </p:nvSpPr>
        <p:spPr>
          <a:xfrm>
            <a:off x="6400800" y="2304288"/>
            <a:ext cx="2148840" cy="411480"/>
          </a:xfrm>
          <a:prstGeom prst="rect">
            <a:avLst/>
          </a:prstGeom>
          <a:noFill/>
          <a:ln/>
        </p:spPr>
        <p:txBody>
          <a:bodyPr wrap="square" lIns="0" tIns="0" rIns="0" bIns="0" rtlCol="0" anchor="ctr"/>
          <a:lstStyle/>
          <a:p>
            <a:pPr marL="0" indent="0">
              <a:buNone/>
            </a:pPr>
            <a:r>
              <a:rPr lang="en-US" sz="1700" b="1" dirty="0">
                <a:solidFill>
                  <a:srgbClr val="172A3A"/>
                </a:solidFill>
                <a:latin typeface="Aptos Display" pitchFamily="34" charset="0"/>
                <a:ea typeface="Aptos Display" pitchFamily="34" charset="-122"/>
                <a:cs typeface="Aptos Display" pitchFamily="34" charset="-120"/>
              </a:rPr>
              <a:t>Expected loss</a:t>
            </a:r>
            <a:endParaRPr lang="en-US" sz="1700" dirty="0"/>
          </a:p>
        </p:txBody>
      </p:sp>
      <p:sp>
        <p:nvSpPr>
          <p:cNvPr id="17" name="Text 15"/>
          <p:cNvSpPr/>
          <p:nvPr/>
        </p:nvSpPr>
        <p:spPr>
          <a:xfrm>
            <a:off x="6400800" y="2852928"/>
            <a:ext cx="2148840" cy="1234440"/>
          </a:xfrm>
          <a:prstGeom prst="rect">
            <a:avLst/>
          </a:prstGeom>
          <a:noFill/>
          <a:ln/>
        </p:spPr>
        <p:txBody>
          <a:bodyPr wrap="square" lIns="254" tIns="254" rIns="254" bIns="254" rtlCol="0" anchor="ctr">
            <a:normAutofit/>
          </a:bodyPr>
          <a:lstStyle/>
          <a:p>
            <a:pPr marL="0" indent="0">
              <a:buNone/>
            </a:pPr>
            <a:r>
              <a:rPr lang="en-US" sz="1250" dirty="0">
                <a:solidFill>
                  <a:srgbClr val="111827"/>
                </a:solidFill>
                <a:latin typeface="Aptos" pitchFamily="34" charset="0"/>
                <a:ea typeface="Aptos" pitchFamily="34" charset="-122"/>
                <a:cs typeface="Aptos" pitchFamily="34" charset="-120"/>
              </a:rPr>
              <a:t>Expected loss combines estimated probability and expected impact.</a:t>
            </a:r>
            <a:endParaRPr lang="en-US" sz="1250" dirty="0"/>
          </a:p>
        </p:txBody>
      </p:sp>
      <p:sp>
        <p:nvSpPr>
          <p:cNvPr id="18" name="Text 16"/>
          <p:cNvSpPr/>
          <p:nvPr/>
        </p:nvSpPr>
        <p:spPr>
          <a:xfrm>
            <a:off x="9189720" y="1463040"/>
            <a:ext cx="566928" cy="566928"/>
          </a:xfrm>
          <a:prstGeom prst="rect">
            <a:avLst/>
          </a:prstGeom>
          <a:noFill/>
          <a:ln/>
        </p:spPr>
        <p:txBody>
          <a:bodyPr wrap="square" lIns="0" tIns="0" rIns="0" bIns="0" rtlCol="0" anchor="ctr"/>
          <a:lstStyle/>
          <a:p>
            <a:pPr marL="0" indent="0" algn="ctr">
              <a:buNone/>
            </a:pPr>
            <a:r>
              <a:rPr lang="en-US" sz="2400" b="1" dirty="0">
                <a:solidFill>
                  <a:srgbClr val="FF9900"/>
                </a:solidFill>
                <a:latin typeface="Aptos Display" pitchFamily="34" charset="0"/>
                <a:ea typeface="Aptos Display" pitchFamily="34" charset="-122"/>
                <a:cs typeface="Aptos Display" pitchFamily="34" charset="-120"/>
              </a:rPr>
              <a:t>4</a:t>
            </a:r>
            <a:endParaRPr lang="en-US" sz="2400" dirty="0"/>
          </a:p>
        </p:txBody>
      </p:sp>
      <p:sp>
        <p:nvSpPr>
          <p:cNvPr id="19" name="Shape 17"/>
          <p:cNvSpPr/>
          <p:nvPr/>
        </p:nvSpPr>
        <p:spPr>
          <a:xfrm>
            <a:off x="9848088" y="1746504"/>
            <a:ext cx="1417320" cy="0"/>
          </a:xfrm>
          <a:prstGeom prst="line">
            <a:avLst/>
          </a:prstGeom>
          <a:noFill/>
          <a:ln w="17780">
            <a:solidFill>
              <a:srgbClr val="FF9900"/>
            </a:solidFill>
            <a:prstDash val="solid"/>
          </a:ln>
        </p:spPr>
      </p:sp>
      <p:sp>
        <p:nvSpPr>
          <p:cNvPr id="20" name="Text 18"/>
          <p:cNvSpPr/>
          <p:nvPr/>
        </p:nvSpPr>
        <p:spPr>
          <a:xfrm>
            <a:off x="9189720" y="2304288"/>
            <a:ext cx="2148840" cy="411480"/>
          </a:xfrm>
          <a:prstGeom prst="rect">
            <a:avLst/>
          </a:prstGeom>
          <a:noFill/>
          <a:ln/>
        </p:spPr>
        <p:txBody>
          <a:bodyPr wrap="square" lIns="0" tIns="0" rIns="0" bIns="0" rtlCol="0" anchor="ctr"/>
          <a:lstStyle/>
          <a:p>
            <a:pPr marL="0" indent="0">
              <a:buNone/>
            </a:pPr>
            <a:r>
              <a:rPr lang="en-US" sz="1700" b="1" dirty="0">
                <a:solidFill>
                  <a:srgbClr val="172A3A"/>
                </a:solidFill>
                <a:latin typeface="Aptos Display" pitchFamily="34" charset="0"/>
                <a:ea typeface="Aptos Display" pitchFamily="34" charset="-122"/>
                <a:cs typeface="Aptos Display" pitchFamily="34" charset="-120"/>
              </a:rPr>
              <a:t>Scenario model</a:t>
            </a:r>
            <a:endParaRPr lang="en-US" sz="1700" dirty="0"/>
          </a:p>
        </p:txBody>
      </p:sp>
      <p:sp>
        <p:nvSpPr>
          <p:cNvPr id="21" name="Text 19"/>
          <p:cNvSpPr/>
          <p:nvPr/>
        </p:nvSpPr>
        <p:spPr>
          <a:xfrm>
            <a:off x="9189720" y="2852928"/>
            <a:ext cx="2148840" cy="1234440"/>
          </a:xfrm>
          <a:prstGeom prst="rect">
            <a:avLst/>
          </a:prstGeom>
          <a:noFill/>
          <a:ln/>
        </p:spPr>
        <p:txBody>
          <a:bodyPr wrap="square" lIns="254" tIns="254" rIns="254" bIns="254" rtlCol="0" anchor="ctr">
            <a:normAutofit/>
          </a:bodyPr>
          <a:lstStyle/>
          <a:p>
            <a:pPr marL="0" indent="0">
              <a:buNone/>
            </a:pPr>
            <a:r>
              <a:rPr lang="en-US" sz="1250" dirty="0">
                <a:solidFill>
                  <a:srgbClr val="111827"/>
                </a:solidFill>
                <a:latin typeface="Aptos" pitchFamily="34" charset="0"/>
                <a:ea typeface="Aptos" pitchFamily="34" charset="-122"/>
                <a:cs typeface="Aptos" pitchFamily="34" charset="-120"/>
              </a:rPr>
              <a:t>Monte Carlo simulation combines all risk events to estimate annual exposure.</a:t>
            </a:r>
            <a:endParaRPr lang="en-US" sz="1250" dirty="0"/>
          </a:p>
        </p:txBody>
      </p:sp>
      <p:sp>
        <p:nvSpPr>
          <p:cNvPr id="22" name="Text 20"/>
          <p:cNvSpPr/>
          <p:nvPr/>
        </p:nvSpPr>
        <p:spPr>
          <a:xfrm>
            <a:off x="822960" y="4892040"/>
            <a:ext cx="10332720" cy="713232"/>
          </a:xfrm>
          <a:prstGeom prst="rect">
            <a:avLst/>
          </a:prstGeom>
          <a:noFill/>
          <a:ln/>
        </p:spPr>
        <p:txBody>
          <a:bodyPr wrap="square" lIns="508" tIns="508" rIns="508" bIns="508" rtlCol="0" anchor="t">
            <a:normAutofit/>
          </a:bodyPr>
          <a:lstStyle/>
          <a:p>
            <a:pPr marL="0" indent="0">
              <a:buNone/>
            </a:pPr>
            <a:r>
              <a:rPr lang="en-US" sz="1500" dirty="0">
                <a:solidFill>
                  <a:srgbClr val="111827"/>
                </a:solidFill>
                <a:latin typeface="Aptos" pitchFamily="34" charset="0"/>
                <a:ea typeface="Aptos" pitchFamily="34" charset="-122"/>
                <a:cs typeface="Aptos" pitchFamily="34" charset="-120"/>
              </a:rPr>
              <a:t>Where real data was unavailable, synthetic and proxy data were used. The assumptions were grounded in the earlier SWOT findings and in the risk register logic from the prior assignment.</a:t>
            </a:r>
            <a:endParaRPr lang="en-US" sz="1500" dirty="0"/>
          </a:p>
        </p:txBody>
      </p:sp>
      <p:sp>
        <p:nvSpPr>
          <p:cNvPr id="23" name="Text 21"/>
          <p:cNvSpPr/>
          <p:nvPr/>
        </p:nvSpPr>
        <p:spPr>
          <a:xfrm>
            <a:off x="594360" y="6492240"/>
            <a:ext cx="5120640" cy="201168"/>
          </a:xfrm>
          <a:prstGeom prst="rect">
            <a:avLst/>
          </a:prstGeom>
          <a:noFill/>
          <a:ln/>
        </p:spPr>
        <p:txBody>
          <a:bodyPr wrap="square" lIns="0" tIns="0" rIns="0" bIns="0" rtlCol="0" anchor="ctr"/>
          <a:lstStyle/>
          <a:p>
            <a:pPr marL="0" indent="0">
              <a:buNone/>
            </a:pPr>
            <a:r>
              <a:rPr lang="en-US" sz="850" dirty="0">
                <a:solidFill>
                  <a:srgbClr val="5A6670"/>
                </a:solidFill>
                <a:latin typeface="Aptos" pitchFamily="34" charset="0"/>
                <a:ea typeface="Aptos" pitchFamily="34" charset="-122"/>
                <a:cs typeface="Aptos" pitchFamily="34" charset="-120"/>
              </a:rPr>
              <a:t>ALY6130 Risk Management for Analytics</a:t>
            </a:r>
            <a:endParaRPr lang="en-US" sz="850" dirty="0"/>
          </a:p>
        </p:txBody>
      </p:sp>
      <p:sp>
        <p:nvSpPr>
          <p:cNvPr id="24" name="Text 22"/>
          <p:cNvSpPr/>
          <p:nvPr/>
        </p:nvSpPr>
        <p:spPr>
          <a:xfrm>
            <a:off x="11292840" y="6492240"/>
            <a:ext cx="320040" cy="201168"/>
          </a:xfrm>
          <a:prstGeom prst="rect">
            <a:avLst/>
          </a:prstGeom>
          <a:noFill/>
          <a:ln/>
        </p:spPr>
        <p:txBody>
          <a:bodyPr wrap="square" lIns="0" tIns="0" rIns="0" bIns="0" rtlCol="0" anchor="ctr"/>
          <a:lstStyle/>
          <a:p>
            <a:pPr marL="0" indent="0" algn="r">
              <a:buNone/>
            </a:pPr>
            <a:r>
              <a:rPr lang="en-US" sz="850" dirty="0">
                <a:solidFill>
                  <a:srgbClr val="5A6670"/>
                </a:solidFill>
                <a:latin typeface="Aptos" pitchFamily="34" charset="0"/>
                <a:ea typeface="Aptos" pitchFamily="34" charset="-122"/>
                <a:cs typeface="Aptos"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3E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3EB"/>
          </a:solidFill>
          <a:ln w="12700">
            <a:solidFill>
              <a:srgbClr val="F7F3EB">
                <a:alpha val="0"/>
              </a:srgbClr>
            </a:solidFill>
            <a:prstDash val="solid"/>
          </a:ln>
        </p:spPr>
      </p:sp>
      <p:sp>
        <p:nvSpPr>
          <p:cNvPr id="3" name="Text 1"/>
          <p:cNvSpPr/>
          <p:nvPr/>
        </p:nvSpPr>
        <p:spPr>
          <a:xfrm>
            <a:off x="566928" y="320040"/>
            <a:ext cx="9875520" cy="438912"/>
          </a:xfrm>
          <a:prstGeom prst="rect">
            <a:avLst/>
          </a:prstGeom>
          <a:noFill/>
          <a:ln/>
        </p:spPr>
        <p:txBody>
          <a:bodyPr wrap="square" lIns="0" tIns="0" rIns="0" bIns="0" rtlCol="0" anchor="ctr"/>
          <a:lstStyle/>
          <a:p>
            <a:pPr marL="0" indent="0">
              <a:buNone/>
            </a:pPr>
            <a:r>
              <a:rPr lang="en-US" sz="2800" b="1" dirty="0">
                <a:solidFill>
                  <a:srgbClr val="172A3A"/>
                </a:solidFill>
                <a:latin typeface="Aptos Display" pitchFamily="34" charset="0"/>
                <a:ea typeface="Aptos Display" pitchFamily="34" charset="-122"/>
                <a:cs typeface="Aptos Display" pitchFamily="34" charset="-120"/>
              </a:rPr>
              <a:t>Expected loss results</a:t>
            </a:r>
            <a:endParaRPr lang="en-US" sz="2800" dirty="0"/>
          </a:p>
        </p:txBody>
      </p:sp>
      <p:sp>
        <p:nvSpPr>
          <p:cNvPr id="4" name="Shape 2"/>
          <p:cNvSpPr/>
          <p:nvPr/>
        </p:nvSpPr>
        <p:spPr>
          <a:xfrm>
            <a:off x="566928" y="896112"/>
            <a:ext cx="11064240" cy="0"/>
          </a:xfrm>
          <a:prstGeom prst="line">
            <a:avLst/>
          </a:prstGeom>
          <a:noFill/>
          <a:ln w="19050">
            <a:solidFill>
              <a:srgbClr val="FF9900"/>
            </a:solidFill>
            <a:prstDash val="solid"/>
          </a:ln>
        </p:spPr>
      </p:sp>
      <p:sp>
        <p:nvSpPr>
          <p:cNvPr id="5" name="Text 3"/>
          <p:cNvSpPr/>
          <p:nvPr/>
        </p:nvSpPr>
        <p:spPr>
          <a:xfrm>
            <a:off x="585216" y="960120"/>
            <a:ext cx="10698480" cy="256032"/>
          </a:xfrm>
          <a:prstGeom prst="rect">
            <a:avLst/>
          </a:prstGeom>
          <a:noFill/>
          <a:ln/>
        </p:spPr>
        <p:txBody>
          <a:bodyPr wrap="square" lIns="0" tIns="0" rIns="0" bIns="0" rtlCol="0" anchor="ctr"/>
          <a:lstStyle/>
          <a:p>
            <a:pPr marL="0" indent="0">
              <a:buNone/>
            </a:pPr>
            <a:r>
              <a:rPr lang="en-US" sz="1100" dirty="0">
                <a:solidFill>
                  <a:srgbClr val="5A6670"/>
                </a:solidFill>
                <a:latin typeface="Aptos" pitchFamily="34" charset="0"/>
                <a:ea typeface="Aptos" pitchFamily="34" charset="-122"/>
                <a:cs typeface="Aptos" pitchFamily="34" charset="-120"/>
              </a:rPr>
              <a:t>The strongest loss drivers are financial, compliance, and security risks</a:t>
            </a:r>
            <a:endParaRPr lang="en-US" sz="1100" dirty="0"/>
          </a:p>
        </p:txBody>
      </p:sp>
      <p:pic>
        <p:nvPicPr>
          <p:cNvPr id="6" name="Image 0" descr="/mnt/data/presentation_assets/expected_loss_clean.png"/>
          <p:cNvPicPr>
            <a:picLocks noChangeAspect="1"/>
          </p:cNvPicPr>
          <p:nvPr/>
        </p:nvPicPr>
        <p:blipFill>
          <a:blip r:embed="rId3"/>
          <a:stretch>
            <a:fillRect/>
          </a:stretch>
        </p:blipFill>
        <p:spPr>
          <a:xfrm>
            <a:off x="658368" y="1389888"/>
            <a:ext cx="6675120" cy="3886200"/>
          </a:xfrm>
          <a:prstGeom prst="rect">
            <a:avLst/>
          </a:prstGeom>
        </p:spPr>
      </p:pic>
      <p:sp>
        <p:nvSpPr>
          <p:cNvPr id="7" name="Text 4"/>
          <p:cNvSpPr/>
          <p:nvPr/>
        </p:nvSpPr>
        <p:spPr>
          <a:xfrm>
            <a:off x="7635240" y="1261872"/>
            <a:ext cx="3474720" cy="320040"/>
          </a:xfrm>
          <a:prstGeom prst="rect">
            <a:avLst/>
          </a:prstGeom>
          <a:noFill/>
          <a:ln/>
        </p:spPr>
        <p:txBody>
          <a:bodyPr wrap="square" lIns="508" tIns="508" rIns="508" bIns="508" rtlCol="0" anchor="t">
            <a:normAutofit/>
          </a:bodyPr>
          <a:lstStyle/>
          <a:p>
            <a:pPr marL="0" indent="0">
              <a:buNone/>
            </a:pPr>
            <a:r>
              <a:rPr lang="en-US" sz="1800" dirty="0">
                <a:solidFill>
                  <a:srgbClr val="111827"/>
                </a:solidFill>
                <a:latin typeface="Aptos" pitchFamily="34" charset="0"/>
                <a:ea typeface="Aptos" pitchFamily="34" charset="-122"/>
                <a:cs typeface="Aptos" pitchFamily="34" charset="-120"/>
              </a:rPr>
              <a:t>Top quantified exposures</a:t>
            </a:r>
            <a:endParaRPr lang="en-US" sz="1800" dirty="0"/>
          </a:p>
        </p:txBody>
      </p:sp>
      <p:sp>
        <p:nvSpPr>
          <p:cNvPr id="8" name="Text 5"/>
          <p:cNvSpPr/>
          <p:nvPr/>
        </p:nvSpPr>
        <p:spPr>
          <a:xfrm>
            <a:off x="7818120" y="1783080"/>
            <a:ext cx="1508760" cy="420624"/>
          </a:xfrm>
          <a:prstGeom prst="rect">
            <a:avLst/>
          </a:prstGeom>
          <a:noFill/>
          <a:ln/>
        </p:spPr>
        <p:txBody>
          <a:bodyPr wrap="square" lIns="0" tIns="0" rIns="0" bIns="0" rtlCol="0" anchor="ctr"/>
          <a:lstStyle/>
          <a:p>
            <a:pPr marL="0" indent="0" algn="ctr">
              <a:buNone/>
            </a:pPr>
            <a:r>
              <a:rPr lang="en-US" sz="2800" b="1" dirty="0">
                <a:solidFill>
                  <a:srgbClr val="C84B31"/>
                </a:solidFill>
                <a:latin typeface="Aptos Display" pitchFamily="34" charset="0"/>
                <a:ea typeface="Aptos Display" pitchFamily="34" charset="-122"/>
                <a:cs typeface="Aptos Display" pitchFamily="34" charset="-120"/>
              </a:rPr>
              <a:t>$113m</a:t>
            </a:r>
            <a:endParaRPr lang="en-US" sz="2800" dirty="0"/>
          </a:p>
        </p:txBody>
      </p:sp>
      <p:sp>
        <p:nvSpPr>
          <p:cNvPr id="9" name="Text 6"/>
          <p:cNvSpPr/>
          <p:nvPr/>
        </p:nvSpPr>
        <p:spPr>
          <a:xfrm>
            <a:off x="7818120" y="2258568"/>
            <a:ext cx="1508760" cy="512064"/>
          </a:xfrm>
          <a:prstGeom prst="rect">
            <a:avLst/>
          </a:prstGeom>
          <a:noFill/>
          <a:ln/>
        </p:spPr>
        <p:txBody>
          <a:bodyPr wrap="square" lIns="254" tIns="254" rIns="254" bIns="254" rtlCol="0" anchor="ctr">
            <a:normAutofit/>
          </a:bodyPr>
          <a:lstStyle/>
          <a:p>
            <a:pPr marL="0" indent="0" algn="ctr">
              <a:buNone/>
            </a:pPr>
            <a:r>
              <a:rPr lang="en-US" sz="1050" dirty="0">
                <a:solidFill>
                  <a:srgbClr val="172A3A"/>
                </a:solidFill>
                <a:latin typeface="Aptos" pitchFamily="34" charset="0"/>
                <a:ea typeface="Aptos" pitchFamily="34" charset="-122"/>
                <a:cs typeface="Aptos" pitchFamily="34" charset="-120"/>
              </a:rPr>
              <a:t>Cost Overrun and Delayed ROI</a:t>
            </a:r>
            <a:endParaRPr lang="en-US" sz="1050" dirty="0"/>
          </a:p>
        </p:txBody>
      </p:sp>
      <p:sp>
        <p:nvSpPr>
          <p:cNvPr id="10" name="Text 7"/>
          <p:cNvSpPr/>
          <p:nvPr/>
        </p:nvSpPr>
        <p:spPr>
          <a:xfrm>
            <a:off x="9646920" y="1783080"/>
            <a:ext cx="1737360" cy="420624"/>
          </a:xfrm>
          <a:prstGeom prst="rect">
            <a:avLst/>
          </a:prstGeom>
          <a:noFill/>
          <a:ln/>
        </p:spPr>
        <p:txBody>
          <a:bodyPr wrap="square" lIns="0" tIns="0" rIns="0" bIns="0" rtlCol="0" anchor="ctr"/>
          <a:lstStyle/>
          <a:p>
            <a:pPr marL="0" indent="0" algn="ctr">
              <a:buNone/>
            </a:pPr>
            <a:r>
              <a:rPr lang="en-US" sz="2800" b="1" dirty="0">
                <a:solidFill>
                  <a:srgbClr val="C84B31"/>
                </a:solidFill>
                <a:latin typeface="Aptos Display" pitchFamily="34" charset="0"/>
                <a:ea typeface="Aptos Display" pitchFamily="34" charset="-122"/>
                <a:cs typeface="Aptos Display" pitchFamily="34" charset="-120"/>
              </a:rPr>
              <a:t>$104m</a:t>
            </a:r>
            <a:endParaRPr lang="en-US" sz="2800" dirty="0"/>
          </a:p>
        </p:txBody>
      </p:sp>
      <p:sp>
        <p:nvSpPr>
          <p:cNvPr id="11" name="Text 8"/>
          <p:cNvSpPr/>
          <p:nvPr/>
        </p:nvSpPr>
        <p:spPr>
          <a:xfrm>
            <a:off x="9646920" y="2258568"/>
            <a:ext cx="1737360" cy="512064"/>
          </a:xfrm>
          <a:prstGeom prst="rect">
            <a:avLst/>
          </a:prstGeom>
          <a:noFill/>
          <a:ln/>
        </p:spPr>
        <p:txBody>
          <a:bodyPr wrap="square" lIns="254" tIns="254" rIns="254" bIns="254" rtlCol="0" anchor="ctr">
            <a:normAutofit/>
          </a:bodyPr>
          <a:lstStyle/>
          <a:p>
            <a:pPr marL="0" indent="0" algn="ctr">
              <a:buNone/>
            </a:pPr>
            <a:r>
              <a:rPr lang="en-US" sz="1050" dirty="0">
                <a:solidFill>
                  <a:srgbClr val="172A3A"/>
                </a:solidFill>
                <a:latin typeface="Aptos" pitchFamily="34" charset="0"/>
                <a:ea typeface="Aptos" pitchFamily="34" charset="-122"/>
                <a:cs typeface="Aptos" pitchFamily="34" charset="-120"/>
              </a:rPr>
              <a:t>Regulatory and Privacy Non Compliance</a:t>
            </a:r>
            <a:endParaRPr lang="en-US" sz="1050" dirty="0"/>
          </a:p>
        </p:txBody>
      </p:sp>
      <p:sp>
        <p:nvSpPr>
          <p:cNvPr id="12" name="Text 9"/>
          <p:cNvSpPr/>
          <p:nvPr/>
        </p:nvSpPr>
        <p:spPr>
          <a:xfrm>
            <a:off x="7818120" y="3291840"/>
            <a:ext cx="1508760" cy="420624"/>
          </a:xfrm>
          <a:prstGeom prst="rect">
            <a:avLst/>
          </a:prstGeom>
          <a:noFill/>
          <a:ln/>
        </p:spPr>
        <p:txBody>
          <a:bodyPr wrap="square" lIns="0" tIns="0" rIns="0" bIns="0" rtlCol="0" anchor="ctr"/>
          <a:lstStyle/>
          <a:p>
            <a:pPr marL="0" indent="0" algn="ctr">
              <a:buNone/>
            </a:pPr>
            <a:r>
              <a:rPr lang="en-US" sz="2800" b="1" dirty="0">
                <a:solidFill>
                  <a:srgbClr val="FF9900"/>
                </a:solidFill>
                <a:latin typeface="Aptos Display" pitchFamily="34" charset="0"/>
                <a:ea typeface="Aptos Display" pitchFamily="34" charset="-122"/>
                <a:cs typeface="Aptos Display" pitchFamily="34" charset="-120"/>
              </a:rPr>
              <a:t>$102m</a:t>
            </a:r>
            <a:endParaRPr lang="en-US" sz="2800" dirty="0"/>
          </a:p>
        </p:txBody>
      </p:sp>
      <p:sp>
        <p:nvSpPr>
          <p:cNvPr id="13" name="Text 10"/>
          <p:cNvSpPr/>
          <p:nvPr/>
        </p:nvSpPr>
        <p:spPr>
          <a:xfrm>
            <a:off x="7818120" y="3767328"/>
            <a:ext cx="1508760" cy="512064"/>
          </a:xfrm>
          <a:prstGeom prst="rect">
            <a:avLst/>
          </a:prstGeom>
          <a:noFill/>
          <a:ln/>
        </p:spPr>
        <p:txBody>
          <a:bodyPr wrap="square" lIns="254" tIns="254" rIns="254" bIns="254" rtlCol="0" anchor="ctr">
            <a:normAutofit/>
          </a:bodyPr>
          <a:lstStyle/>
          <a:p>
            <a:pPr marL="0" indent="0" algn="ctr">
              <a:buNone/>
            </a:pPr>
            <a:r>
              <a:rPr lang="en-US" sz="1050" dirty="0">
                <a:solidFill>
                  <a:srgbClr val="172A3A"/>
                </a:solidFill>
                <a:latin typeface="Aptos" pitchFamily="34" charset="0"/>
                <a:ea typeface="Aptos" pitchFamily="34" charset="-122"/>
                <a:cs typeface="Aptos" pitchFamily="34" charset="-120"/>
              </a:rPr>
              <a:t>Cybersecurity and Data Breach</a:t>
            </a:r>
            <a:endParaRPr lang="en-US" sz="1050" dirty="0"/>
          </a:p>
        </p:txBody>
      </p:sp>
      <p:sp>
        <p:nvSpPr>
          <p:cNvPr id="14" name="Text 11"/>
          <p:cNvSpPr/>
          <p:nvPr/>
        </p:nvSpPr>
        <p:spPr>
          <a:xfrm>
            <a:off x="9646920" y="3291840"/>
            <a:ext cx="1737360" cy="420624"/>
          </a:xfrm>
          <a:prstGeom prst="rect">
            <a:avLst/>
          </a:prstGeom>
          <a:noFill/>
          <a:ln/>
        </p:spPr>
        <p:txBody>
          <a:bodyPr wrap="square" lIns="0" tIns="0" rIns="0" bIns="0" rtlCol="0" anchor="ctr"/>
          <a:lstStyle/>
          <a:p>
            <a:pPr marL="0" indent="0" algn="ctr">
              <a:buNone/>
            </a:pPr>
            <a:r>
              <a:rPr lang="en-US" sz="2800" b="1" dirty="0">
                <a:solidFill>
                  <a:srgbClr val="FF9900"/>
                </a:solidFill>
                <a:latin typeface="Aptos Display" pitchFamily="34" charset="0"/>
                <a:ea typeface="Aptos Display" pitchFamily="34" charset="-122"/>
                <a:cs typeface="Aptos Display" pitchFamily="34" charset="-120"/>
              </a:rPr>
              <a:t>$80m</a:t>
            </a:r>
            <a:endParaRPr lang="en-US" sz="2800" dirty="0"/>
          </a:p>
        </p:txBody>
      </p:sp>
      <p:sp>
        <p:nvSpPr>
          <p:cNvPr id="15" name="Text 12"/>
          <p:cNvSpPr/>
          <p:nvPr/>
        </p:nvSpPr>
        <p:spPr>
          <a:xfrm>
            <a:off x="9646920" y="3767328"/>
            <a:ext cx="1737360" cy="512064"/>
          </a:xfrm>
          <a:prstGeom prst="rect">
            <a:avLst/>
          </a:prstGeom>
          <a:noFill/>
          <a:ln/>
        </p:spPr>
        <p:txBody>
          <a:bodyPr wrap="square" lIns="254" tIns="254" rIns="254" bIns="254" rtlCol="0" anchor="ctr">
            <a:normAutofit/>
          </a:bodyPr>
          <a:lstStyle/>
          <a:p>
            <a:pPr marL="0" indent="0" algn="ctr">
              <a:buNone/>
            </a:pPr>
            <a:r>
              <a:rPr lang="en-US" sz="1050" dirty="0">
                <a:solidFill>
                  <a:srgbClr val="172A3A"/>
                </a:solidFill>
                <a:latin typeface="Aptos" pitchFamily="34" charset="0"/>
                <a:ea typeface="Aptos" pitchFamily="34" charset="-122"/>
                <a:cs typeface="Aptos" pitchFamily="34" charset="-120"/>
              </a:rPr>
              <a:t>AI Warehouse Strategy Failure</a:t>
            </a:r>
            <a:endParaRPr lang="en-US" sz="1050" dirty="0"/>
          </a:p>
        </p:txBody>
      </p:sp>
      <p:sp>
        <p:nvSpPr>
          <p:cNvPr id="16" name="Text 13"/>
          <p:cNvSpPr/>
          <p:nvPr/>
        </p:nvSpPr>
        <p:spPr>
          <a:xfrm>
            <a:off x="7726680" y="4846320"/>
            <a:ext cx="3611880" cy="658368"/>
          </a:xfrm>
          <a:prstGeom prst="rect">
            <a:avLst/>
          </a:prstGeom>
          <a:noFill/>
          <a:ln/>
        </p:spPr>
        <p:txBody>
          <a:bodyPr wrap="square" lIns="508" tIns="508" rIns="508" bIns="508" rtlCol="0" anchor="t">
            <a:normAutofit fontScale="92500"/>
          </a:bodyPr>
          <a:lstStyle/>
          <a:p>
            <a:pPr marL="0" indent="0">
              <a:buNone/>
            </a:pPr>
            <a:r>
              <a:rPr lang="en-US" sz="1420" dirty="0">
                <a:solidFill>
                  <a:srgbClr val="111827"/>
                </a:solidFill>
                <a:latin typeface="Aptos" pitchFamily="34" charset="0"/>
                <a:ea typeface="Aptos" pitchFamily="34" charset="-122"/>
                <a:cs typeface="Aptos" pitchFamily="34" charset="-120"/>
              </a:rPr>
              <a:t>These four risks should receive the highest level of executive oversight because they explain a large portion of expected annual loss.</a:t>
            </a:r>
            <a:endParaRPr lang="en-US" sz="1420" dirty="0"/>
          </a:p>
        </p:txBody>
      </p:sp>
      <p:sp>
        <p:nvSpPr>
          <p:cNvPr id="17" name="Text 14"/>
          <p:cNvSpPr/>
          <p:nvPr/>
        </p:nvSpPr>
        <p:spPr>
          <a:xfrm>
            <a:off x="594360" y="6492240"/>
            <a:ext cx="5120640" cy="201168"/>
          </a:xfrm>
          <a:prstGeom prst="rect">
            <a:avLst/>
          </a:prstGeom>
          <a:noFill/>
          <a:ln/>
        </p:spPr>
        <p:txBody>
          <a:bodyPr wrap="square" lIns="0" tIns="0" rIns="0" bIns="0" rtlCol="0" anchor="ctr"/>
          <a:lstStyle/>
          <a:p>
            <a:pPr marL="0" indent="0">
              <a:buNone/>
            </a:pPr>
            <a:r>
              <a:rPr lang="en-US" sz="850" dirty="0">
                <a:solidFill>
                  <a:srgbClr val="5A6670"/>
                </a:solidFill>
                <a:latin typeface="Aptos" pitchFamily="34" charset="0"/>
                <a:ea typeface="Aptos" pitchFamily="34" charset="-122"/>
                <a:cs typeface="Aptos" pitchFamily="34" charset="-120"/>
              </a:rPr>
              <a:t>ALY6130 Risk Management for Analytics</a:t>
            </a:r>
            <a:endParaRPr lang="en-US" sz="850" dirty="0"/>
          </a:p>
        </p:txBody>
      </p:sp>
      <p:sp>
        <p:nvSpPr>
          <p:cNvPr id="18" name="Text 15"/>
          <p:cNvSpPr/>
          <p:nvPr/>
        </p:nvSpPr>
        <p:spPr>
          <a:xfrm>
            <a:off x="11292840" y="6492240"/>
            <a:ext cx="320040" cy="201168"/>
          </a:xfrm>
          <a:prstGeom prst="rect">
            <a:avLst/>
          </a:prstGeom>
          <a:noFill/>
          <a:ln/>
        </p:spPr>
        <p:txBody>
          <a:bodyPr wrap="square" lIns="0" tIns="0" rIns="0" bIns="0" rtlCol="0" anchor="ctr"/>
          <a:lstStyle/>
          <a:p>
            <a:pPr marL="0" indent="0" algn="r">
              <a:buNone/>
            </a:pPr>
            <a:r>
              <a:rPr lang="en-US" sz="850" dirty="0">
                <a:solidFill>
                  <a:srgbClr val="5A6670"/>
                </a:solidFill>
                <a:latin typeface="Aptos" pitchFamily="34" charset="0"/>
                <a:ea typeface="Aptos" pitchFamily="34" charset="-122"/>
                <a:cs typeface="Aptos"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CF5AD-62A8-3511-3E55-9A6DB021797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729066C-6E10-36B7-FF5C-D1B1BEC7C880}"/>
              </a:ext>
            </a:extLst>
          </p:cNvPr>
          <p:cNvSpPr/>
          <p:nvPr/>
        </p:nvSpPr>
        <p:spPr>
          <a:xfrm>
            <a:off x="0" y="0"/>
            <a:ext cx="12191695" cy="6858000"/>
          </a:xfrm>
          <a:prstGeom prst="rect">
            <a:avLst/>
          </a:prstGeom>
          <a:solidFill>
            <a:srgbClr val="F7F3EB"/>
          </a:solidFill>
          <a:ln w="12700">
            <a:solidFill>
              <a:srgbClr val="F7F3EB">
                <a:alpha val="0"/>
              </a:srgbClr>
            </a:solidFill>
            <a:prstDash val="solid"/>
          </a:ln>
        </p:spPr>
      </p:sp>
      <p:sp>
        <p:nvSpPr>
          <p:cNvPr id="3" name="Text 1">
            <a:extLst>
              <a:ext uri="{FF2B5EF4-FFF2-40B4-BE49-F238E27FC236}">
                <a16:creationId xmlns:a16="http://schemas.microsoft.com/office/drawing/2014/main" id="{A6B40CEC-9247-2A5E-E893-8136EF0EFA75}"/>
              </a:ext>
            </a:extLst>
          </p:cNvPr>
          <p:cNvSpPr/>
          <p:nvPr/>
        </p:nvSpPr>
        <p:spPr>
          <a:xfrm>
            <a:off x="566928" y="320040"/>
            <a:ext cx="9875520" cy="438912"/>
          </a:xfrm>
          <a:prstGeom prst="rect">
            <a:avLst/>
          </a:prstGeom>
          <a:noFill/>
          <a:ln/>
        </p:spPr>
        <p:txBody>
          <a:bodyPr wrap="square" lIns="0" tIns="0" rIns="0" bIns="0" rtlCol="0" anchor="ctr"/>
          <a:lstStyle/>
          <a:p>
            <a:pPr marL="0" indent="0">
              <a:buNone/>
            </a:pPr>
            <a:r>
              <a:rPr lang="en-US" sz="2800" b="1" dirty="0">
                <a:solidFill>
                  <a:srgbClr val="172A3A"/>
                </a:solidFill>
                <a:latin typeface="Aptos Display" pitchFamily="34" charset="0"/>
                <a:ea typeface="Aptos Display" pitchFamily="34" charset="-122"/>
                <a:cs typeface="Aptos Display" pitchFamily="34" charset="-120"/>
              </a:rPr>
              <a:t>Representative Decision Tree from Random Forest Model</a:t>
            </a:r>
            <a:endParaRPr lang="en-US" sz="2800" dirty="0"/>
          </a:p>
        </p:txBody>
      </p:sp>
      <p:sp>
        <p:nvSpPr>
          <p:cNvPr id="4" name="Shape 2">
            <a:extLst>
              <a:ext uri="{FF2B5EF4-FFF2-40B4-BE49-F238E27FC236}">
                <a16:creationId xmlns:a16="http://schemas.microsoft.com/office/drawing/2014/main" id="{9917B1E0-23CF-EB31-AE6E-2E61D5289A67}"/>
              </a:ext>
            </a:extLst>
          </p:cNvPr>
          <p:cNvSpPr/>
          <p:nvPr/>
        </p:nvSpPr>
        <p:spPr>
          <a:xfrm>
            <a:off x="566928" y="896112"/>
            <a:ext cx="11064240" cy="0"/>
          </a:xfrm>
          <a:prstGeom prst="line">
            <a:avLst/>
          </a:prstGeom>
          <a:noFill/>
          <a:ln w="19050">
            <a:solidFill>
              <a:srgbClr val="FF9900"/>
            </a:solidFill>
            <a:prstDash val="solid"/>
          </a:ln>
        </p:spPr>
      </p:sp>
      <p:sp>
        <p:nvSpPr>
          <p:cNvPr id="17" name="Text 14">
            <a:extLst>
              <a:ext uri="{FF2B5EF4-FFF2-40B4-BE49-F238E27FC236}">
                <a16:creationId xmlns:a16="http://schemas.microsoft.com/office/drawing/2014/main" id="{898012D9-FB50-B117-1971-AABEF3E848FC}"/>
              </a:ext>
            </a:extLst>
          </p:cNvPr>
          <p:cNvSpPr/>
          <p:nvPr/>
        </p:nvSpPr>
        <p:spPr>
          <a:xfrm>
            <a:off x="594360" y="6492240"/>
            <a:ext cx="5120640" cy="201168"/>
          </a:xfrm>
          <a:prstGeom prst="rect">
            <a:avLst/>
          </a:prstGeom>
          <a:noFill/>
          <a:ln/>
        </p:spPr>
        <p:txBody>
          <a:bodyPr wrap="square" lIns="0" tIns="0" rIns="0" bIns="0" rtlCol="0" anchor="ctr"/>
          <a:lstStyle/>
          <a:p>
            <a:pPr marL="0" indent="0">
              <a:buNone/>
            </a:pPr>
            <a:r>
              <a:rPr lang="en-US" sz="850" dirty="0">
                <a:solidFill>
                  <a:srgbClr val="5A6670"/>
                </a:solidFill>
                <a:latin typeface="Aptos" pitchFamily="34" charset="0"/>
                <a:ea typeface="Aptos" pitchFamily="34" charset="-122"/>
                <a:cs typeface="Aptos" pitchFamily="34" charset="-120"/>
              </a:rPr>
              <a:t>ALY6130 Risk Management for Analytics</a:t>
            </a:r>
            <a:endParaRPr lang="en-US" sz="850" dirty="0"/>
          </a:p>
        </p:txBody>
      </p:sp>
      <p:sp>
        <p:nvSpPr>
          <p:cNvPr id="18" name="Text 15">
            <a:extLst>
              <a:ext uri="{FF2B5EF4-FFF2-40B4-BE49-F238E27FC236}">
                <a16:creationId xmlns:a16="http://schemas.microsoft.com/office/drawing/2014/main" id="{E2403CFA-7871-9E1B-E1DC-3D2A3CE69CDA}"/>
              </a:ext>
            </a:extLst>
          </p:cNvPr>
          <p:cNvSpPr/>
          <p:nvPr/>
        </p:nvSpPr>
        <p:spPr>
          <a:xfrm>
            <a:off x="11292840" y="6492240"/>
            <a:ext cx="320040" cy="201168"/>
          </a:xfrm>
          <a:prstGeom prst="rect">
            <a:avLst/>
          </a:prstGeom>
          <a:noFill/>
          <a:ln/>
        </p:spPr>
        <p:txBody>
          <a:bodyPr wrap="square" lIns="0" tIns="0" rIns="0" bIns="0" rtlCol="0" anchor="ctr"/>
          <a:lstStyle/>
          <a:p>
            <a:pPr marL="0" indent="0" algn="r">
              <a:buNone/>
            </a:pPr>
            <a:r>
              <a:rPr lang="en-US" sz="850" dirty="0">
                <a:solidFill>
                  <a:srgbClr val="5A6670"/>
                </a:solidFill>
                <a:latin typeface="Aptos" pitchFamily="34" charset="0"/>
              </a:rPr>
              <a:t>8</a:t>
            </a:r>
            <a:endParaRPr lang="en-US" sz="850" dirty="0"/>
          </a:p>
        </p:txBody>
      </p:sp>
      <p:pic>
        <p:nvPicPr>
          <p:cNvPr id="20" name="Picture 19">
            <a:extLst>
              <a:ext uri="{FF2B5EF4-FFF2-40B4-BE49-F238E27FC236}">
                <a16:creationId xmlns:a16="http://schemas.microsoft.com/office/drawing/2014/main" id="{26378997-69C9-CEE2-3FE0-60514CD52F78}"/>
              </a:ext>
            </a:extLst>
          </p:cNvPr>
          <p:cNvPicPr>
            <a:picLocks noChangeAspect="1"/>
          </p:cNvPicPr>
          <p:nvPr/>
        </p:nvPicPr>
        <p:blipFill>
          <a:blip r:embed="rId3"/>
          <a:stretch>
            <a:fillRect/>
          </a:stretch>
        </p:blipFill>
        <p:spPr>
          <a:xfrm>
            <a:off x="680606" y="945676"/>
            <a:ext cx="10830481" cy="5409403"/>
          </a:xfrm>
          <a:prstGeom prst="rect">
            <a:avLst/>
          </a:prstGeom>
        </p:spPr>
      </p:pic>
    </p:spTree>
    <p:extLst>
      <p:ext uri="{BB962C8B-B14F-4D97-AF65-F5344CB8AC3E}">
        <p14:creationId xmlns:p14="http://schemas.microsoft.com/office/powerpoint/2010/main" val="2818534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7F3E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3EB"/>
          </a:solidFill>
          <a:ln w="12700">
            <a:solidFill>
              <a:srgbClr val="F7F3EB">
                <a:alpha val="0"/>
              </a:srgbClr>
            </a:solidFill>
            <a:prstDash val="solid"/>
          </a:ln>
        </p:spPr>
      </p:sp>
      <p:sp>
        <p:nvSpPr>
          <p:cNvPr id="3" name="Text 1"/>
          <p:cNvSpPr/>
          <p:nvPr/>
        </p:nvSpPr>
        <p:spPr>
          <a:xfrm>
            <a:off x="566928" y="320040"/>
            <a:ext cx="9875520" cy="438912"/>
          </a:xfrm>
          <a:prstGeom prst="rect">
            <a:avLst/>
          </a:prstGeom>
          <a:noFill/>
          <a:ln/>
        </p:spPr>
        <p:txBody>
          <a:bodyPr wrap="square" lIns="0" tIns="0" rIns="0" bIns="0" rtlCol="0" anchor="ctr"/>
          <a:lstStyle/>
          <a:p>
            <a:pPr marL="0" indent="0">
              <a:buNone/>
            </a:pPr>
            <a:r>
              <a:rPr lang="en-US" sz="2800" b="1" dirty="0">
                <a:solidFill>
                  <a:srgbClr val="172A3A"/>
                </a:solidFill>
                <a:latin typeface="Aptos Display" pitchFamily="34" charset="0"/>
                <a:ea typeface="Aptos Display" pitchFamily="34" charset="-122"/>
                <a:cs typeface="Aptos Display" pitchFamily="34" charset="-120"/>
              </a:rPr>
              <a:t>ML based risk prediction</a:t>
            </a:r>
            <a:endParaRPr lang="en-US" sz="2800" dirty="0"/>
          </a:p>
        </p:txBody>
      </p:sp>
      <p:sp>
        <p:nvSpPr>
          <p:cNvPr id="4" name="Shape 2"/>
          <p:cNvSpPr/>
          <p:nvPr/>
        </p:nvSpPr>
        <p:spPr>
          <a:xfrm>
            <a:off x="566928" y="896112"/>
            <a:ext cx="11064240" cy="0"/>
          </a:xfrm>
          <a:prstGeom prst="line">
            <a:avLst/>
          </a:prstGeom>
          <a:noFill/>
          <a:ln w="19050">
            <a:solidFill>
              <a:srgbClr val="FF9900"/>
            </a:solidFill>
            <a:prstDash val="solid"/>
          </a:ln>
        </p:spPr>
      </p:sp>
      <p:sp>
        <p:nvSpPr>
          <p:cNvPr id="5" name="Text 3"/>
          <p:cNvSpPr/>
          <p:nvPr/>
        </p:nvSpPr>
        <p:spPr>
          <a:xfrm>
            <a:off x="585216" y="960120"/>
            <a:ext cx="10698480" cy="256032"/>
          </a:xfrm>
          <a:prstGeom prst="rect">
            <a:avLst/>
          </a:prstGeom>
          <a:noFill/>
          <a:ln/>
        </p:spPr>
        <p:txBody>
          <a:bodyPr wrap="square" lIns="0" tIns="0" rIns="0" bIns="0" rtlCol="0" anchor="ctr"/>
          <a:lstStyle/>
          <a:p>
            <a:pPr marL="0" indent="0">
              <a:buNone/>
            </a:pPr>
            <a:r>
              <a:rPr lang="en-US" sz="1100" dirty="0">
                <a:solidFill>
                  <a:srgbClr val="5A6670"/>
                </a:solidFill>
                <a:latin typeface="Aptos" pitchFamily="34" charset="0"/>
                <a:ea typeface="Aptos" pitchFamily="34" charset="-122"/>
                <a:cs typeface="Aptos" pitchFamily="34" charset="-120"/>
              </a:rPr>
              <a:t>Predictive analytics turns KRIs into early warning signals</a:t>
            </a:r>
            <a:endParaRPr lang="en-US" sz="1100" dirty="0"/>
          </a:p>
        </p:txBody>
      </p:sp>
      <p:pic>
        <p:nvPicPr>
          <p:cNvPr id="6" name="Image 0" descr="/mnt/data/presentation_assets/ml_features_clean.png"/>
          <p:cNvPicPr>
            <a:picLocks noChangeAspect="1"/>
          </p:cNvPicPr>
          <p:nvPr/>
        </p:nvPicPr>
        <p:blipFill>
          <a:blip r:embed="rId3"/>
          <a:stretch>
            <a:fillRect/>
          </a:stretch>
        </p:blipFill>
        <p:spPr>
          <a:xfrm>
            <a:off x="594360" y="1389888"/>
            <a:ext cx="6446520" cy="3794760"/>
          </a:xfrm>
          <a:prstGeom prst="rect">
            <a:avLst/>
          </a:prstGeom>
        </p:spPr>
      </p:pic>
      <p:sp>
        <p:nvSpPr>
          <p:cNvPr id="7" name="Text 4"/>
          <p:cNvSpPr/>
          <p:nvPr/>
        </p:nvSpPr>
        <p:spPr>
          <a:xfrm>
            <a:off x="7406640" y="1298448"/>
            <a:ext cx="3566160" cy="292608"/>
          </a:xfrm>
          <a:prstGeom prst="rect">
            <a:avLst/>
          </a:prstGeom>
          <a:noFill/>
          <a:ln/>
        </p:spPr>
        <p:txBody>
          <a:bodyPr wrap="square" lIns="508" tIns="508" rIns="508" bIns="508" rtlCol="0" anchor="t">
            <a:normAutofit/>
          </a:bodyPr>
          <a:lstStyle/>
          <a:p>
            <a:pPr marL="0" indent="0">
              <a:buNone/>
            </a:pPr>
            <a:r>
              <a:rPr lang="en-US" sz="1800" dirty="0">
                <a:solidFill>
                  <a:srgbClr val="111827"/>
                </a:solidFill>
                <a:latin typeface="Aptos" pitchFamily="34" charset="0"/>
                <a:ea typeface="Aptos" pitchFamily="34" charset="-122"/>
                <a:cs typeface="Aptos" pitchFamily="34" charset="-120"/>
              </a:rPr>
              <a:t>Key Insights</a:t>
            </a:r>
            <a:endParaRPr lang="en-US" sz="1800" dirty="0"/>
          </a:p>
        </p:txBody>
      </p:sp>
      <p:sp>
        <p:nvSpPr>
          <p:cNvPr id="8" name="Text 5"/>
          <p:cNvSpPr/>
          <p:nvPr/>
        </p:nvSpPr>
        <p:spPr>
          <a:xfrm>
            <a:off x="7406640" y="1737360"/>
            <a:ext cx="4191000" cy="1709930"/>
          </a:xfrm>
          <a:prstGeom prst="rect">
            <a:avLst/>
          </a:prstGeom>
          <a:noFill/>
          <a:ln/>
        </p:spPr>
        <p:txBody>
          <a:bodyPr wrap="square" lIns="508" tIns="508" rIns="508" bIns="508" rtlCol="0" anchor="t">
            <a:normAutofit fontScale="92500"/>
          </a:bodyPr>
          <a:lstStyle/>
          <a:p>
            <a:pPr marL="0" indent="0">
              <a:buNone/>
            </a:pPr>
            <a:r>
              <a:rPr lang="en-US" sz="1440" dirty="0">
                <a:solidFill>
                  <a:srgbClr val="111827"/>
                </a:solidFill>
                <a:latin typeface="Aptos" pitchFamily="34" charset="0"/>
                <a:ea typeface="Aptos" pitchFamily="34" charset="-122"/>
                <a:cs typeface="Aptos" pitchFamily="34" charset="-120"/>
              </a:rPr>
              <a:t>Random Forest Feature Importance identifies which operational indicators contribute most to predicting future high-risk periods. Budget variance, forecast error, warehouse productivity gap, and employee adoption consistently rank as the strongest predictors across the model. This suggests that financial control, operational efficiency, and workforce readiness are the earliest warning signals before major losses occur.</a:t>
            </a:r>
            <a:endParaRPr lang="en-US" sz="1440" dirty="0"/>
          </a:p>
        </p:txBody>
      </p:sp>
      <p:sp>
        <p:nvSpPr>
          <p:cNvPr id="9" name="Text 6"/>
          <p:cNvSpPr/>
          <p:nvPr/>
        </p:nvSpPr>
        <p:spPr>
          <a:xfrm>
            <a:off x="7406640" y="3968498"/>
            <a:ext cx="4363720" cy="1045803"/>
          </a:xfrm>
          <a:prstGeom prst="rect">
            <a:avLst/>
          </a:prstGeom>
          <a:noFill/>
          <a:ln/>
        </p:spPr>
        <p:txBody>
          <a:bodyPr wrap="square" lIns="508" tIns="508" rIns="508" bIns="508" rtlCol="0" anchor="t">
            <a:normAutofit fontScale="92500"/>
          </a:bodyPr>
          <a:lstStyle/>
          <a:p>
            <a:pPr marL="0" indent="0">
              <a:buNone/>
            </a:pPr>
            <a:r>
              <a:rPr lang="en-US" sz="1440" dirty="0">
                <a:solidFill>
                  <a:srgbClr val="111827"/>
                </a:solidFill>
                <a:latin typeface="Aptos" pitchFamily="34" charset="0"/>
                <a:ea typeface="Aptos" pitchFamily="34" charset="-122"/>
                <a:cs typeface="Aptos" pitchFamily="34" charset="-120"/>
              </a:rPr>
              <a:t>These variables can be monitored as proactive Key Risk Indicators (KRIs. However, feature importance measures only the relative influence of each predictor. It does not indicate whether a variable increases or decreases risk, which is addressed in the next section using Logistic Regression..</a:t>
            </a:r>
            <a:endParaRPr lang="en-US" sz="1440" dirty="0"/>
          </a:p>
        </p:txBody>
      </p:sp>
      <p:sp>
        <p:nvSpPr>
          <p:cNvPr id="10" name="Text 7"/>
          <p:cNvSpPr/>
          <p:nvPr/>
        </p:nvSpPr>
        <p:spPr>
          <a:xfrm>
            <a:off x="594360" y="6492240"/>
            <a:ext cx="5120640" cy="201168"/>
          </a:xfrm>
          <a:prstGeom prst="rect">
            <a:avLst/>
          </a:prstGeom>
          <a:noFill/>
          <a:ln/>
        </p:spPr>
        <p:txBody>
          <a:bodyPr wrap="square" lIns="0" tIns="0" rIns="0" bIns="0" rtlCol="0" anchor="ctr"/>
          <a:lstStyle/>
          <a:p>
            <a:pPr marL="0" indent="0">
              <a:buNone/>
            </a:pPr>
            <a:r>
              <a:rPr lang="en-US" sz="850" dirty="0">
                <a:solidFill>
                  <a:srgbClr val="5A6670"/>
                </a:solidFill>
                <a:latin typeface="Aptos" pitchFamily="34" charset="0"/>
                <a:ea typeface="Aptos" pitchFamily="34" charset="-122"/>
                <a:cs typeface="Aptos" pitchFamily="34" charset="-120"/>
              </a:rPr>
              <a:t>ALY6130 Risk Management for Analytics</a:t>
            </a:r>
            <a:endParaRPr lang="en-US" sz="850" dirty="0"/>
          </a:p>
        </p:txBody>
      </p:sp>
      <p:sp>
        <p:nvSpPr>
          <p:cNvPr id="11" name="Text 8"/>
          <p:cNvSpPr/>
          <p:nvPr/>
        </p:nvSpPr>
        <p:spPr>
          <a:xfrm>
            <a:off x="11292840" y="6492240"/>
            <a:ext cx="320040" cy="201168"/>
          </a:xfrm>
          <a:prstGeom prst="rect">
            <a:avLst/>
          </a:prstGeom>
          <a:noFill/>
          <a:ln/>
        </p:spPr>
        <p:txBody>
          <a:bodyPr wrap="square" lIns="0" tIns="0" rIns="0" bIns="0" rtlCol="0" anchor="ctr"/>
          <a:lstStyle/>
          <a:p>
            <a:pPr marL="0" indent="0" algn="r">
              <a:buNone/>
            </a:pPr>
            <a:r>
              <a:rPr lang="en-US" sz="850" dirty="0">
                <a:solidFill>
                  <a:srgbClr val="5A6670"/>
                </a:solidFill>
                <a:latin typeface="Aptos" pitchFamily="34" charset="0"/>
              </a:rPr>
              <a:t>9</a:t>
            </a:r>
            <a:endParaRPr lang="en-US" sz="850" dirty="0"/>
          </a:p>
        </p:txBody>
      </p:sp>
      <p:sp>
        <p:nvSpPr>
          <p:cNvPr id="12" name="Text 4">
            <a:extLst>
              <a:ext uri="{FF2B5EF4-FFF2-40B4-BE49-F238E27FC236}">
                <a16:creationId xmlns:a16="http://schemas.microsoft.com/office/drawing/2014/main" id="{16D4EA40-257A-1277-E6D0-5281AA4F4A1C}"/>
              </a:ext>
            </a:extLst>
          </p:cNvPr>
          <p:cNvSpPr/>
          <p:nvPr/>
        </p:nvSpPr>
        <p:spPr>
          <a:xfrm>
            <a:off x="7406640" y="3547872"/>
            <a:ext cx="3566160" cy="292608"/>
          </a:xfrm>
          <a:prstGeom prst="rect">
            <a:avLst/>
          </a:prstGeom>
          <a:noFill/>
          <a:ln/>
        </p:spPr>
        <p:txBody>
          <a:bodyPr wrap="square" lIns="508" tIns="508" rIns="508" bIns="508" rtlCol="0" anchor="t">
            <a:normAutofit/>
          </a:bodyPr>
          <a:lstStyle/>
          <a:p>
            <a:pPr marL="0" indent="0">
              <a:buNone/>
            </a:pPr>
            <a:r>
              <a:rPr lang="en-US" sz="1800" dirty="0">
                <a:solidFill>
                  <a:srgbClr val="111827"/>
                </a:solidFill>
                <a:latin typeface="Aptos" pitchFamily="34" charset="0"/>
                <a:ea typeface="Aptos" pitchFamily="34" charset="-122"/>
                <a:cs typeface="Aptos" pitchFamily="34" charset="-120"/>
              </a:rPr>
              <a:t>Business implication </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40B30-E7AF-5D9A-4966-6E25EA4F5C6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8E31FEA-A19F-1061-7A94-A59F704D82F7}"/>
              </a:ext>
            </a:extLst>
          </p:cNvPr>
          <p:cNvSpPr/>
          <p:nvPr/>
        </p:nvSpPr>
        <p:spPr>
          <a:xfrm>
            <a:off x="0" y="0"/>
            <a:ext cx="12191695" cy="6858000"/>
          </a:xfrm>
          <a:prstGeom prst="rect">
            <a:avLst/>
          </a:prstGeom>
          <a:solidFill>
            <a:srgbClr val="F7F3EB"/>
          </a:solidFill>
          <a:ln w="12700">
            <a:solidFill>
              <a:srgbClr val="F7F3EB">
                <a:alpha val="0"/>
              </a:srgbClr>
            </a:solidFill>
            <a:prstDash val="solid"/>
          </a:ln>
        </p:spPr>
      </p:sp>
      <p:sp>
        <p:nvSpPr>
          <p:cNvPr id="3" name="Text 1">
            <a:extLst>
              <a:ext uri="{FF2B5EF4-FFF2-40B4-BE49-F238E27FC236}">
                <a16:creationId xmlns:a16="http://schemas.microsoft.com/office/drawing/2014/main" id="{DC72AC64-BEBA-2D6F-8A26-BB36F90611EB}"/>
              </a:ext>
            </a:extLst>
          </p:cNvPr>
          <p:cNvSpPr/>
          <p:nvPr/>
        </p:nvSpPr>
        <p:spPr>
          <a:xfrm>
            <a:off x="566928" y="320040"/>
            <a:ext cx="9875520" cy="438912"/>
          </a:xfrm>
          <a:prstGeom prst="rect">
            <a:avLst/>
          </a:prstGeom>
          <a:noFill/>
          <a:ln/>
        </p:spPr>
        <p:txBody>
          <a:bodyPr wrap="square" lIns="0" tIns="0" rIns="0" bIns="0" rtlCol="0" anchor="ctr"/>
          <a:lstStyle/>
          <a:p>
            <a:pPr marL="0" indent="0">
              <a:buNone/>
            </a:pPr>
            <a:r>
              <a:rPr lang="en-US" sz="2800" b="1" dirty="0">
                <a:solidFill>
                  <a:srgbClr val="172A3A"/>
                </a:solidFill>
                <a:latin typeface="Aptos Display" pitchFamily="34" charset="0"/>
                <a:ea typeface="Aptos Display" pitchFamily="34" charset="-122"/>
                <a:cs typeface="Aptos Display" pitchFamily="34" charset="-120"/>
              </a:rPr>
              <a:t>Logistic Regression</a:t>
            </a:r>
            <a:endParaRPr lang="en-US" sz="2800" dirty="0"/>
          </a:p>
        </p:txBody>
      </p:sp>
      <p:sp>
        <p:nvSpPr>
          <p:cNvPr id="4" name="Shape 2">
            <a:extLst>
              <a:ext uri="{FF2B5EF4-FFF2-40B4-BE49-F238E27FC236}">
                <a16:creationId xmlns:a16="http://schemas.microsoft.com/office/drawing/2014/main" id="{5D8BE83C-A196-B922-4F6A-1CAE5D2FB036}"/>
              </a:ext>
            </a:extLst>
          </p:cNvPr>
          <p:cNvSpPr/>
          <p:nvPr/>
        </p:nvSpPr>
        <p:spPr>
          <a:xfrm>
            <a:off x="566928" y="896112"/>
            <a:ext cx="11064240" cy="0"/>
          </a:xfrm>
          <a:prstGeom prst="line">
            <a:avLst/>
          </a:prstGeom>
          <a:noFill/>
          <a:ln w="19050">
            <a:solidFill>
              <a:srgbClr val="FF9900"/>
            </a:solidFill>
            <a:prstDash val="solid"/>
          </a:ln>
        </p:spPr>
      </p:sp>
      <p:sp>
        <p:nvSpPr>
          <p:cNvPr id="5" name="Text 3">
            <a:extLst>
              <a:ext uri="{FF2B5EF4-FFF2-40B4-BE49-F238E27FC236}">
                <a16:creationId xmlns:a16="http://schemas.microsoft.com/office/drawing/2014/main" id="{BAFABCC9-D79B-0742-6E5E-C7A0EA69FE6F}"/>
              </a:ext>
            </a:extLst>
          </p:cNvPr>
          <p:cNvSpPr/>
          <p:nvPr/>
        </p:nvSpPr>
        <p:spPr>
          <a:xfrm>
            <a:off x="585216" y="960120"/>
            <a:ext cx="10698480" cy="256032"/>
          </a:xfrm>
          <a:prstGeom prst="rect">
            <a:avLst/>
          </a:prstGeom>
          <a:noFill/>
          <a:ln/>
        </p:spPr>
        <p:txBody>
          <a:bodyPr wrap="square" lIns="0" tIns="0" rIns="0" bIns="0" rtlCol="0" anchor="ctr"/>
          <a:lstStyle/>
          <a:p>
            <a:pPr marL="0" indent="0">
              <a:buNone/>
            </a:pPr>
            <a:r>
              <a:rPr lang="en-US" sz="1100" dirty="0">
                <a:solidFill>
                  <a:srgbClr val="5A6670"/>
                </a:solidFill>
                <a:latin typeface="Aptos" pitchFamily="34" charset="0"/>
                <a:ea typeface="Aptos" pitchFamily="34" charset="-122"/>
                <a:cs typeface="Aptos" pitchFamily="34" charset="-120"/>
              </a:rPr>
              <a:t>Positive coefficients increase risk, while negative coefficients indicate protective factors.</a:t>
            </a:r>
            <a:endParaRPr lang="en-US" sz="1100" dirty="0"/>
          </a:p>
        </p:txBody>
      </p:sp>
      <p:sp>
        <p:nvSpPr>
          <p:cNvPr id="17" name="Text 14">
            <a:extLst>
              <a:ext uri="{FF2B5EF4-FFF2-40B4-BE49-F238E27FC236}">
                <a16:creationId xmlns:a16="http://schemas.microsoft.com/office/drawing/2014/main" id="{E64CC59D-0779-A70D-2503-A74162B762A1}"/>
              </a:ext>
            </a:extLst>
          </p:cNvPr>
          <p:cNvSpPr/>
          <p:nvPr/>
        </p:nvSpPr>
        <p:spPr>
          <a:xfrm>
            <a:off x="594360" y="6492240"/>
            <a:ext cx="5120640" cy="201168"/>
          </a:xfrm>
          <a:prstGeom prst="rect">
            <a:avLst/>
          </a:prstGeom>
          <a:noFill/>
          <a:ln/>
        </p:spPr>
        <p:txBody>
          <a:bodyPr wrap="square" lIns="0" tIns="0" rIns="0" bIns="0" rtlCol="0" anchor="ctr"/>
          <a:lstStyle/>
          <a:p>
            <a:pPr marL="0" indent="0">
              <a:buNone/>
            </a:pPr>
            <a:r>
              <a:rPr lang="en-US" sz="850" dirty="0">
                <a:solidFill>
                  <a:srgbClr val="5A6670"/>
                </a:solidFill>
                <a:latin typeface="Aptos" pitchFamily="34" charset="0"/>
                <a:ea typeface="Aptos" pitchFamily="34" charset="-122"/>
                <a:cs typeface="Aptos" pitchFamily="34" charset="-120"/>
              </a:rPr>
              <a:t>ALY6130 Risk Management for Analytics</a:t>
            </a:r>
            <a:endParaRPr lang="en-US" sz="850" dirty="0"/>
          </a:p>
        </p:txBody>
      </p:sp>
      <p:sp>
        <p:nvSpPr>
          <p:cNvPr id="18" name="Text 15">
            <a:extLst>
              <a:ext uri="{FF2B5EF4-FFF2-40B4-BE49-F238E27FC236}">
                <a16:creationId xmlns:a16="http://schemas.microsoft.com/office/drawing/2014/main" id="{B1E6A5F1-FEED-FBA6-D8EA-AC0A5D44552D}"/>
              </a:ext>
            </a:extLst>
          </p:cNvPr>
          <p:cNvSpPr/>
          <p:nvPr/>
        </p:nvSpPr>
        <p:spPr>
          <a:xfrm>
            <a:off x="11292840" y="6492240"/>
            <a:ext cx="320040" cy="201168"/>
          </a:xfrm>
          <a:prstGeom prst="rect">
            <a:avLst/>
          </a:prstGeom>
          <a:noFill/>
          <a:ln/>
        </p:spPr>
        <p:txBody>
          <a:bodyPr wrap="square" lIns="0" tIns="0" rIns="0" bIns="0" rtlCol="0" anchor="ctr"/>
          <a:lstStyle/>
          <a:p>
            <a:pPr marL="0" indent="0" algn="r">
              <a:buNone/>
            </a:pPr>
            <a:r>
              <a:rPr lang="en-US" sz="850" dirty="0">
                <a:solidFill>
                  <a:srgbClr val="5A6670"/>
                </a:solidFill>
                <a:latin typeface="Aptos" pitchFamily="34" charset="0"/>
              </a:rPr>
              <a:t>10</a:t>
            </a:r>
            <a:endParaRPr lang="en-US" sz="850" dirty="0"/>
          </a:p>
        </p:txBody>
      </p:sp>
      <p:pic>
        <p:nvPicPr>
          <p:cNvPr id="22" name="Picture 21">
            <a:extLst>
              <a:ext uri="{FF2B5EF4-FFF2-40B4-BE49-F238E27FC236}">
                <a16:creationId xmlns:a16="http://schemas.microsoft.com/office/drawing/2014/main" id="{2EADA58A-4AB1-AC77-1957-2EE7F54F0BCE}"/>
              </a:ext>
            </a:extLst>
          </p:cNvPr>
          <p:cNvPicPr>
            <a:picLocks noChangeAspect="1"/>
          </p:cNvPicPr>
          <p:nvPr/>
        </p:nvPicPr>
        <p:blipFill>
          <a:blip r:embed="rId3"/>
          <a:stretch>
            <a:fillRect/>
          </a:stretch>
        </p:blipFill>
        <p:spPr>
          <a:xfrm>
            <a:off x="658368" y="1389888"/>
            <a:ext cx="6675120" cy="3867792"/>
          </a:xfrm>
          <a:prstGeom prst="rect">
            <a:avLst/>
          </a:prstGeom>
        </p:spPr>
      </p:pic>
      <p:sp>
        <p:nvSpPr>
          <p:cNvPr id="27" name="Text 4">
            <a:extLst>
              <a:ext uri="{FF2B5EF4-FFF2-40B4-BE49-F238E27FC236}">
                <a16:creationId xmlns:a16="http://schemas.microsoft.com/office/drawing/2014/main" id="{303A45F0-74C9-C835-69A0-77A3B0670826}"/>
              </a:ext>
            </a:extLst>
          </p:cNvPr>
          <p:cNvSpPr/>
          <p:nvPr/>
        </p:nvSpPr>
        <p:spPr>
          <a:xfrm>
            <a:off x="7726680" y="1602594"/>
            <a:ext cx="3566160" cy="292608"/>
          </a:xfrm>
          <a:prstGeom prst="rect">
            <a:avLst/>
          </a:prstGeom>
          <a:noFill/>
          <a:ln/>
        </p:spPr>
        <p:txBody>
          <a:bodyPr wrap="square" lIns="508" tIns="508" rIns="508" bIns="508" rtlCol="0" anchor="t">
            <a:normAutofit/>
          </a:bodyPr>
          <a:lstStyle/>
          <a:p>
            <a:pPr marL="0" indent="0">
              <a:buNone/>
            </a:pPr>
            <a:r>
              <a:rPr lang="en-US" altLang="zh-CN" sz="1800" dirty="0">
                <a:solidFill>
                  <a:srgbClr val="111827"/>
                </a:solidFill>
                <a:latin typeface="Aptos" pitchFamily="34" charset="0"/>
                <a:ea typeface="Aptos" pitchFamily="34" charset="-122"/>
                <a:cs typeface="Aptos" pitchFamily="34" charset="-120"/>
              </a:rPr>
              <a:t>Key Findings</a:t>
            </a:r>
          </a:p>
        </p:txBody>
      </p:sp>
      <p:sp>
        <p:nvSpPr>
          <p:cNvPr id="28" name="Text 5">
            <a:extLst>
              <a:ext uri="{FF2B5EF4-FFF2-40B4-BE49-F238E27FC236}">
                <a16:creationId xmlns:a16="http://schemas.microsoft.com/office/drawing/2014/main" id="{DD5346BE-4733-C7AA-F308-170AD609DAEF}"/>
              </a:ext>
            </a:extLst>
          </p:cNvPr>
          <p:cNvSpPr/>
          <p:nvPr/>
        </p:nvSpPr>
        <p:spPr>
          <a:xfrm>
            <a:off x="7726680" y="2041505"/>
            <a:ext cx="3886200" cy="1307989"/>
          </a:xfrm>
          <a:prstGeom prst="rect">
            <a:avLst/>
          </a:prstGeom>
          <a:noFill/>
          <a:ln/>
        </p:spPr>
        <p:txBody>
          <a:bodyPr wrap="square" lIns="508" tIns="508" rIns="508" bIns="508" rtlCol="0" anchor="t">
            <a:normAutofit/>
          </a:bodyPr>
          <a:lstStyle/>
          <a:p>
            <a:r>
              <a:rPr lang="en-US" sz="1440" dirty="0">
                <a:solidFill>
                  <a:srgbClr val="111827"/>
                </a:solidFill>
                <a:latin typeface="Aptos" pitchFamily="34" charset="0"/>
                <a:ea typeface="Aptos" pitchFamily="34" charset="-122"/>
                <a:cs typeface="Aptos" pitchFamily="34" charset="-120"/>
              </a:rPr>
              <a:t>▲ Budget variance is the strongest predictor.</a:t>
            </a:r>
          </a:p>
          <a:p>
            <a:r>
              <a:rPr lang="en-US" sz="1440" dirty="0">
                <a:solidFill>
                  <a:srgbClr val="111827"/>
                </a:solidFill>
                <a:latin typeface="Aptos" pitchFamily="34" charset="0"/>
                <a:ea typeface="Aptos" pitchFamily="34" charset="-122"/>
                <a:cs typeface="Aptos" pitchFamily="34" charset="-120"/>
              </a:rPr>
              <a:t>▲ Forecast error and compliance gaps   also substantially increase risk.</a:t>
            </a:r>
          </a:p>
          <a:p>
            <a:r>
              <a:rPr lang="en-US" sz="1440" dirty="0">
                <a:solidFill>
                  <a:srgbClr val="111827"/>
                </a:solidFill>
                <a:latin typeface="Aptos" pitchFamily="34" charset="0"/>
                <a:ea typeface="Aptos" pitchFamily="34" charset="-122"/>
                <a:cs typeface="Aptos" pitchFamily="34" charset="-120"/>
              </a:rPr>
              <a:t>▼ Employee adoption reduces   enterprise risk exposure.</a:t>
            </a:r>
          </a:p>
        </p:txBody>
      </p:sp>
      <p:sp>
        <p:nvSpPr>
          <p:cNvPr id="23" name="Text 5">
            <a:extLst>
              <a:ext uri="{FF2B5EF4-FFF2-40B4-BE49-F238E27FC236}">
                <a16:creationId xmlns:a16="http://schemas.microsoft.com/office/drawing/2014/main" id="{21CD2B7C-0560-138A-1863-8106A1A05BEE}"/>
              </a:ext>
            </a:extLst>
          </p:cNvPr>
          <p:cNvSpPr/>
          <p:nvPr/>
        </p:nvSpPr>
        <p:spPr>
          <a:xfrm>
            <a:off x="7726680" y="4039438"/>
            <a:ext cx="3886200" cy="943486"/>
          </a:xfrm>
          <a:prstGeom prst="rect">
            <a:avLst/>
          </a:prstGeom>
          <a:noFill/>
          <a:ln/>
        </p:spPr>
        <p:txBody>
          <a:bodyPr wrap="square" lIns="508" tIns="508" rIns="508" bIns="508" rtlCol="0" anchor="t">
            <a:normAutofit/>
          </a:bodyPr>
          <a:lstStyle/>
          <a:p>
            <a:r>
              <a:rPr lang="en-US" sz="1440" dirty="0">
                <a:solidFill>
                  <a:srgbClr val="111827"/>
                </a:solidFill>
                <a:latin typeface="Aptos" pitchFamily="34" charset="0"/>
                <a:ea typeface="Aptos" pitchFamily="34" charset="-122"/>
                <a:cs typeface="Aptos" pitchFamily="34" charset="-120"/>
              </a:rPr>
              <a:t>Improve budgeting discipline, forecast accuracy, and workforce adoption.</a:t>
            </a:r>
            <a:endParaRPr lang="en-US" sz="1440" dirty="0"/>
          </a:p>
        </p:txBody>
      </p:sp>
      <p:sp>
        <p:nvSpPr>
          <p:cNvPr id="24" name="Text 4">
            <a:extLst>
              <a:ext uri="{FF2B5EF4-FFF2-40B4-BE49-F238E27FC236}">
                <a16:creationId xmlns:a16="http://schemas.microsoft.com/office/drawing/2014/main" id="{37110DFF-040F-CBDA-6EFD-AE3FBF7994EB}"/>
              </a:ext>
            </a:extLst>
          </p:cNvPr>
          <p:cNvSpPr/>
          <p:nvPr/>
        </p:nvSpPr>
        <p:spPr>
          <a:xfrm>
            <a:off x="7726680" y="3621174"/>
            <a:ext cx="3566160" cy="292608"/>
          </a:xfrm>
          <a:prstGeom prst="rect">
            <a:avLst/>
          </a:prstGeom>
          <a:noFill/>
          <a:ln/>
        </p:spPr>
        <p:txBody>
          <a:bodyPr wrap="square" lIns="508" tIns="508" rIns="508" bIns="508" rtlCol="0" anchor="t">
            <a:normAutofit/>
          </a:bodyPr>
          <a:lstStyle/>
          <a:p>
            <a:pPr marL="0" indent="0">
              <a:buNone/>
            </a:pPr>
            <a:r>
              <a:rPr lang="en-US" altLang="zh-CN" sz="1800" dirty="0">
                <a:solidFill>
                  <a:srgbClr val="111827"/>
                </a:solidFill>
                <a:latin typeface="Aptos" pitchFamily="34" charset="0"/>
                <a:ea typeface="Aptos" pitchFamily="34" charset="-122"/>
                <a:cs typeface="Aptos" pitchFamily="34" charset="-120"/>
              </a:rPr>
              <a:t>Recommendation</a:t>
            </a:r>
          </a:p>
          <a:p>
            <a:pPr marL="0" indent="0">
              <a:buNone/>
            </a:pPr>
            <a:endParaRPr lang="en-US" altLang="zh-CN" sz="1800" dirty="0">
              <a:solidFill>
                <a:srgbClr val="111827"/>
              </a:solidFill>
              <a:latin typeface="Aptos" pitchFamily="34" charset="0"/>
              <a:ea typeface="Aptos" pitchFamily="34" charset="-122"/>
              <a:cs typeface="Aptos" pitchFamily="34" charset="-120"/>
            </a:endParaRPr>
          </a:p>
        </p:txBody>
      </p:sp>
    </p:spTree>
    <p:extLst>
      <p:ext uri="{BB962C8B-B14F-4D97-AF65-F5344CB8AC3E}">
        <p14:creationId xmlns:p14="http://schemas.microsoft.com/office/powerpoint/2010/main" val="23049474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5D80B-0327-077A-B7AC-9503AE7435F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8D15C31-809F-DA42-68A1-4C03B5A657DA}"/>
              </a:ext>
            </a:extLst>
          </p:cNvPr>
          <p:cNvSpPr/>
          <p:nvPr/>
        </p:nvSpPr>
        <p:spPr>
          <a:xfrm>
            <a:off x="0" y="0"/>
            <a:ext cx="12191695" cy="6858000"/>
          </a:xfrm>
          <a:prstGeom prst="rect">
            <a:avLst/>
          </a:prstGeom>
          <a:solidFill>
            <a:srgbClr val="F7F3EB"/>
          </a:solidFill>
          <a:ln w="12700">
            <a:solidFill>
              <a:srgbClr val="F7F3EB">
                <a:alpha val="0"/>
              </a:srgbClr>
            </a:solidFill>
            <a:prstDash val="solid"/>
          </a:ln>
        </p:spPr>
      </p:sp>
      <p:sp>
        <p:nvSpPr>
          <p:cNvPr id="3" name="Text 1">
            <a:extLst>
              <a:ext uri="{FF2B5EF4-FFF2-40B4-BE49-F238E27FC236}">
                <a16:creationId xmlns:a16="http://schemas.microsoft.com/office/drawing/2014/main" id="{BF2F6480-578C-599F-8A60-466121E58319}"/>
              </a:ext>
            </a:extLst>
          </p:cNvPr>
          <p:cNvSpPr/>
          <p:nvPr/>
        </p:nvSpPr>
        <p:spPr>
          <a:xfrm>
            <a:off x="566928" y="320040"/>
            <a:ext cx="9875520" cy="438912"/>
          </a:xfrm>
          <a:prstGeom prst="rect">
            <a:avLst/>
          </a:prstGeom>
          <a:noFill/>
          <a:ln/>
        </p:spPr>
        <p:txBody>
          <a:bodyPr wrap="square" lIns="0" tIns="0" rIns="0" bIns="0" rtlCol="0" anchor="ctr"/>
          <a:lstStyle/>
          <a:p>
            <a:pPr marL="0" indent="0">
              <a:buNone/>
            </a:pPr>
            <a:r>
              <a:rPr lang="en-US" sz="2800" b="1" dirty="0">
                <a:solidFill>
                  <a:srgbClr val="172A3A"/>
                </a:solidFill>
                <a:latin typeface="Aptos Display" pitchFamily="34" charset="0"/>
                <a:ea typeface="Aptos Display" pitchFamily="34" charset="-122"/>
                <a:cs typeface="Aptos Display" pitchFamily="34" charset="-120"/>
              </a:rPr>
              <a:t>ML-Based Risk Prediction: Model Validation</a:t>
            </a:r>
            <a:endParaRPr lang="en-US" sz="2800" dirty="0"/>
          </a:p>
        </p:txBody>
      </p:sp>
      <p:sp>
        <p:nvSpPr>
          <p:cNvPr id="4" name="Shape 2">
            <a:extLst>
              <a:ext uri="{FF2B5EF4-FFF2-40B4-BE49-F238E27FC236}">
                <a16:creationId xmlns:a16="http://schemas.microsoft.com/office/drawing/2014/main" id="{12771FAA-BD6A-0EB4-D295-D576E9DC9EB7}"/>
              </a:ext>
            </a:extLst>
          </p:cNvPr>
          <p:cNvSpPr/>
          <p:nvPr/>
        </p:nvSpPr>
        <p:spPr>
          <a:xfrm>
            <a:off x="566928" y="896112"/>
            <a:ext cx="11064240" cy="0"/>
          </a:xfrm>
          <a:prstGeom prst="line">
            <a:avLst/>
          </a:prstGeom>
          <a:noFill/>
          <a:ln w="19050">
            <a:solidFill>
              <a:srgbClr val="FF9900"/>
            </a:solidFill>
            <a:prstDash val="solid"/>
          </a:ln>
        </p:spPr>
      </p:sp>
      <p:sp>
        <p:nvSpPr>
          <p:cNvPr id="5" name="Text 3">
            <a:extLst>
              <a:ext uri="{FF2B5EF4-FFF2-40B4-BE49-F238E27FC236}">
                <a16:creationId xmlns:a16="http://schemas.microsoft.com/office/drawing/2014/main" id="{B24D59D6-4017-B746-51E3-F0533D1151D9}"/>
              </a:ext>
            </a:extLst>
          </p:cNvPr>
          <p:cNvSpPr/>
          <p:nvPr/>
        </p:nvSpPr>
        <p:spPr>
          <a:xfrm>
            <a:off x="585216" y="960120"/>
            <a:ext cx="10698480" cy="256032"/>
          </a:xfrm>
          <a:prstGeom prst="rect">
            <a:avLst/>
          </a:prstGeom>
          <a:noFill/>
          <a:ln/>
        </p:spPr>
        <p:txBody>
          <a:bodyPr wrap="square" lIns="0" tIns="0" rIns="0" bIns="0" rtlCol="0" anchor="ctr"/>
          <a:lstStyle/>
          <a:p>
            <a:pPr marL="0" indent="0">
              <a:buNone/>
            </a:pPr>
            <a:r>
              <a:rPr lang="en-US" sz="1100" dirty="0">
                <a:solidFill>
                  <a:srgbClr val="5A6670"/>
                </a:solidFill>
                <a:latin typeface="Aptos" pitchFamily="34" charset="0"/>
                <a:ea typeface="Aptos" pitchFamily="34" charset="-122"/>
                <a:cs typeface="Aptos" pitchFamily="34" charset="-120"/>
              </a:rPr>
              <a:t>Model performance was evaluated using ROC AUC, Accuracy, Precision, Recall, and F1 Score.</a:t>
            </a:r>
            <a:endParaRPr lang="en-US" sz="1100" dirty="0"/>
          </a:p>
        </p:txBody>
      </p:sp>
      <p:sp>
        <p:nvSpPr>
          <p:cNvPr id="17" name="Text 14">
            <a:extLst>
              <a:ext uri="{FF2B5EF4-FFF2-40B4-BE49-F238E27FC236}">
                <a16:creationId xmlns:a16="http://schemas.microsoft.com/office/drawing/2014/main" id="{9BF9E873-DAFF-2A55-B222-9D5C66F1CEB3}"/>
              </a:ext>
            </a:extLst>
          </p:cNvPr>
          <p:cNvSpPr/>
          <p:nvPr/>
        </p:nvSpPr>
        <p:spPr>
          <a:xfrm>
            <a:off x="594360" y="6492240"/>
            <a:ext cx="5120640" cy="201168"/>
          </a:xfrm>
          <a:prstGeom prst="rect">
            <a:avLst/>
          </a:prstGeom>
          <a:noFill/>
          <a:ln/>
        </p:spPr>
        <p:txBody>
          <a:bodyPr wrap="square" lIns="0" tIns="0" rIns="0" bIns="0" rtlCol="0" anchor="ctr"/>
          <a:lstStyle/>
          <a:p>
            <a:pPr marL="0" indent="0">
              <a:buNone/>
            </a:pPr>
            <a:r>
              <a:rPr lang="en-US" sz="850" dirty="0">
                <a:solidFill>
                  <a:srgbClr val="5A6670"/>
                </a:solidFill>
                <a:latin typeface="Aptos" pitchFamily="34" charset="0"/>
                <a:ea typeface="Aptos" pitchFamily="34" charset="-122"/>
                <a:cs typeface="Aptos" pitchFamily="34" charset="-120"/>
              </a:rPr>
              <a:t>ALY6130 Risk Management for Analytics</a:t>
            </a:r>
            <a:endParaRPr lang="en-US" sz="850" dirty="0"/>
          </a:p>
        </p:txBody>
      </p:sp>
      <p:sp>
        <p:nvSpPr>
          <p:cNvPr id="18" name="Text 15">
            <a:extLst>
              <a:ext uri="{FF2B5EF4-FFF2-40B4-BE49-F238E27FC236}">
                <a16:creationId xmlns:a16="http://schemas.microsoft.com/office/drawing/2014/main" id="{894ACC90-D55C-2B59-AFE8-FB26CFB4E978}"/>
              </a:ext>
            </a:extLst>
          </p:cNvPr>
          <p:cNvSpPr/>
          <p:nvPr/>
        </p:nvSpPr>
        <p:spPr>
          <a:xfrm>
            <a:off x="11292840" y="6492240"/>
            <a:ext cx="320040" cy="201168"/>
          </a:xfrm>
          <a:prstGeom prst="rect">
            <a:avLst/>
          </a:prstGeom>
          <a:noFill/>
          <a:ln/>
        </p:spPr>
        <p:txBody>
          <a:bodyPr wrap="square" lIns="0" tIns="0" rIns="0" bIns="0" rtlCol="0" anchor="ctr"/>
          <a:lstStyle/>
          <a:p>
            <a:pPr marL="0" indent="0" algn="r">
              <a:buNone/>
            </a:pPr>
            <a:r>
              <a:rPr lang="en-US" sz="850" dirty="0">
                <a:solidFill>
                  <a:srgbClr val="5A6670"/>
                </a:solidFill>
                <a:latin typeface="Aptos" pitchFamily="34" charset="0"/>
              </a:rPr>
              <a:t>11</a:t>
            </a:r>
            <a:endParaRPr lang="en-US" sz="850" dirty="0"/>
          </a:p>
        </p:txBody>
      </p:sp>
      <p:pic>
        <p:nvPicPr>
          <p:cNvPr id="26" name="Picture 25">
            <a:extLst>
              <a:ext uri="{FF2B5EF4-FFF2-40B4-BE49-F238E27FC236}">
                <a16:creationId xmlns:a16="http://schemas.microsoft.com/office/drawing/2014/main" id="{467D2E2E-5B91-8EBA-FD96-0E491E3EACE4}"/>
              </a:ext>
            </a:extLst>
          </p:cNvPr>
          <p:cNvPicPr>
            <a:picLocks noChangeAspect="1"/>
          </p:cNvPicPr>
          <p:nvPr/>
        </p:nvPicPr>
        <p:blipFill>
          <a:blip r:embed="rId3"/>
          <a:stretch>
            <a:fillRect/>
          </a:stretch>
        </p:blipFill>
        <p:spPr>
          <a:xfrm>
            <a:off x="659881" y="1389889"/>
            <a:ext cx="6664934" cy="3867792"/>
          </a:xfrm>
          <a:prstGeom prst="rect">
            <a:avLst/>
          </a:prstGeom>
        </p:spPr>
      </p:pic>
      <p:sp>
        <p:nvSpPr>
          <p:cNvPr id="27" name="Text 4">
            <a:extLst>
              <a:ext uri="{FF2B5EF4-FFF2-40B4-BE49-F238E27FC236}">
                <a16:creationId xmlns:a16="http://schemas.microsoft.com/office/drawing/2014/main" id="{3199592F-8AE0-8CA1-4131-9FBE5C16B473}"/>
              </a:ext>
            </a:extLst>
          </p:cNvPr>
          <p:cNvSpPr/>
          <p:nvPr/>
        </p:nvSpPr>
        <p:spPr>
          <a:xfrm>
            <a:off x="7726680" y="2129361"/>
            <a:ext cx="3566160" cy="292608"/>
          </a:xfrm>
          <a:prstGeom prst="rect">
            <a:avLst/>
          </a:prstGeom>
          <a:noFill/>
          <a:ln/>
        </p:spPr>
        <p:txBody>
          <a:bodyPr wrap="square" lIns="508" tIns="508" rIns="508" bIns="508" rtlCol="0" anchor="t">
            <a:normAutofit/>
          </a:bodyPr>
          <a:lstStyle/>
          <a:p>
            <a:pPr marL="0" indent="0">
              <a:buNone/>
            </a:pPr>
            <a:r>
              <a:rPr lang="en-US" altLang="zh-CN" sz="1800" dirty="0">
                <a:solidFill>
                  <a:srgbClr val="111827"/>
                </a:solidFill>
                <a:latin typeface="Aptos" pitchFamily="34" charset="0"/>
                <a:ea typeface="Aptos" pitchFamily="34" charset="-122"/>
                <a:cs typeface="Aptos" pitchFamily="34" charset="-120"/>
              </a:rPr>
              <a:t>Validation </a:t>
            </a:r>
            <a:r>
              <a:rPr lang="en-US" altLang="zh-CN" dirty="0">
                <a:solidFill>
                  <a:srgbClr val="111827"/>
                </a:solidFill>
                <a:latin typeface="Aptos" pitchFamily="34" charset="0"/>
                <a:ea typeface="Aptos" pitchFamily="34" charset="-122"/>
                <a:cs typeface="Aptos" pitchFamily="34" charset="-120"/>
              </a:rPr>
              <a:t>and</a:t>
            </a:r>
            <a:r>
              <a:rPr lang="zh-CN" altLang="en-US" dirty="0">
                <a:solidFill>
                  <a:srgbClr val="111827"/>
                </a:solidFill>
                <a:latin typeface="Aptos" pitchFamily="34" charset="0"/>
                <a:ea typeface="Aptos" pitchFamily="34" charset="-122"/>
                <a:cs typeface="Aptos" pitchFamily="34" charset="-120"/>
              </a:rPr>
              <a:t> </a:t>
            </a:r>
            <a:r>
              <a:rPr lang="en-US" altLang="zh-CN" dirty="0">
                <a:solidFill>
                  <a:srgbClr val="111827"/>
                </a:solidFill>
                <a:latin typeface="Aptos" pitchFamily="34" charset="0"/>
                <a:ea typeface="Aptos" pitchFamily="34" charset="-122"/>
                <a:cs typeface="Aptos" pitchFamily="34" charset="-120"/>
              </a:rPr>
              <a:t>Comparison</a:t>
            </a:r>
            <a:endParaRPr lang="en-US" sz="1800" dirty="0"/>
          </a:p>
        </p:txBody>
      </p:sp>
      <p:sp>
        <p:nvSpPr>
          <p:cNvPr id="28" name="Text 5">
            <a:extLst>
              <a:ext uri="{FF2B5EF4-FFF2-40B4-BE49-F238E27FC236}">
                <a16:creationId xmlns:a16="http://schemas.microsoft.com/office/drawing/2014/main" id="{268DFDA7-42D2-BB66-1F4F-9D5759E83AB4}"/>
              </a:ext>
            </a:extLst>
          </p:cNvPr>
          <p:cNvSpPr/>
          <p:nvPr/>
        </p:nvSpPr>
        <p:spPr>
          <a:xfrm>
            <a:off x="7726680" y="2568272"/>
            <a:ext cx="3886200" cy="2178657"/>
          </a:xfrm>
          <a:prstGeom prst="rect">
            <a:avLst/>
          </a:prstGeom>
          <a:noFill/>
          <a:ln/>
        </p:spPr>
        <p:txBody>
          <a:bodyPr wrap="square" lIns="508" tIns="508" rIns="508" bIns="508" rtlCol="0" anchor="t">
            <a:normAutofit/>
          </a:bodyPr>
          <a:lstStyle/>
          <a:p>
            <a:pPr marL="285750" indent="-285750">
              <a:buFont typeface="Wingdings" panose="05000000000000000000" pitchFamily="2" charset="2"/>
              <a:buChar char="ü"/>
            </a:pPr>
            <a:r>
              <a:rPr lang="en-US" sz="1440" dirty="0">
                <a:solidFill>
                  <a:srgbClr val="111827"/>
                </a:solidFill>
                <a:latin typeface="Aptos" pitchFamily="34" charset="0"/>
                <a:ea typeface="Aptos" pitchFamily="34" charset="-122"/>
                <a:cs typeface="Aptos" pitchFamily="34" charset="-120"/>
              </a:rPr>
              <a:t>Logistic Regression achieved the strongest overall performance.</a:t>
            </a:r>
          </a:p>
          <a:p>
            <a:pPr marL="285750" indent="-285750">
              <a:buFont typeface="Wingdings" panose="05000000000000000000" pitchFamily="2" charset="2"/>
              <a:buChar char="ü"/>
            </a:pPr>
            <a:r>
              <a:rPr lang="en-US" sz="1440" dirty="0">
                <a:solidFill>
                  <a:srgbClr val="111827"/>
                </a:solidFill>
                <a:latin typeface="Aptos" pitchFamily="34" charset="0"/>
                <a:ea typeface="Aptos" pitchFamily="34" charset="-122"/>
                <a:cs typeface="Aptos" pitchFamily="34" charset="-120"/>
              </a:rPr>
              <a:t>ROC AUC = 0.86 indicates good discrimination.</a:t>
            </a:r>
          </a:p>
          <a:p>
            <a:pPr marL="285750" indent="-285750">
              <a:buFont typeface="Wingdings" panose="05000000000000000000" pitchFamily="2" charset="2"/>
              <a:buChar char="ü"/>
            </a:pPr>
            <a:r>
              <a:rPr lang="en-US" sz="1440" dirty="0">
                <a:solidFill>
                  <a:srgbClr val="111827"/>
                </a:solidFill>
                <a:latin typeface="Aptos" pitchFamily="34" charset="0"/>
                <a:ea typeface="Aptos" pitchFamily="34" charset="-122"/>
                <a:cs typeface="Aptos" pitchFamily="34" charset="-120"/>
              </a:rPr>
              <a:t>Higher recall makes it suitable for identifying high-risk periods.</a:t>
            </a:r>
          </a:p>
          <a:p>
            <a:pPr marL="285750" indent="-285750">
              <a:buFont typeface="Wingdings" panose="05000000000000000000" pitchFamily="2" charset="2"/>
              <a:buChar char="ü"/>
            </a:pPr>
            <a:r>
              <a:rPr lang="en-US" sz="1440" dirty="0">
                <a:solidFill>
                  <a:srgbClr val="111827"/>
                </a:solidFill>
                <a:latin typeface="Aptos" pitchFamily="34" charset="0"/>
                <a:ea typeface="Aptos" pitchFamily="34" charset="-122"/>
                <a:cs typeface="Aptos" pitchFamily="34" charset="-120"/>
              </a:rPr>
              <a:t>Therefore, Logistic Regression was selected for risk interpretation.</a:t>
            </a:r>
            <a:endParaRPr lang="en-US" sz="1440" dirty="0"/>
          </a:p>
        </p:txBody>
      </p:sp>
    </p:spTree>
    <p:extLst>
      <p:ext uri="{BB962C8B-B14F-4D97-AF65-F5344CB8AC3E}">
        <p14:creationId xmlns:p14="http://schemas.microsoft.com/office/powerpoint/2010/main" val="30270040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7F3E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3EB"/>
          </a:solidFill>
          <a:ln w="12700">
            <a:solidFill>
              <a:srgbClr val="F7F3EB">
                <a:alpha val="0"/>
              </a:srgbClr>
            </a:solidFill>
            <a:prstDash val="solid"/>
          </a:ln>
        </p:spPr>
      </p:sp>
      <p:sp>
        <p:nvSpPr>
          <p:cNvPr id="3" name="Text 1"/>
          <p:cNvSpPr/>
          <p:nvPr/>
        </p:nvSpPr>
        <p:spPr>
          <a:xfrm>
            <a:off x="566928" y="320040"/>
            <a:ext cx="9875520" cy="438912"/>
          </a:xfrm>
          <a:prstGeom prst="rect">
            <a:avLst/>
          </a:prstGeom>
          <a:noFill/>
          <a:ln/>
        </p:spPr>
        <p:txBody>
          <a:bodyPr wrap="square" lIns="0" tIns="0" rIns="0" bIns="0" rtlCol="0" anchor="ctr"/>
          <a:lstStyle/>
          <a:p>
            <a:pPr marL="0" indent="0">
              <a:buNone/>
            </a:pPr>
            <a:r>
              <a:rPr lang="en-US" sz="2800" b="1" dirty="0">
                <a:solidFill>
                  <a:srgbClr val="172A3A"/>
                </a:solidFill>
                <a:latin typeface="Aptos Display" pitchFamily="34" charset="0"/>
                <a:ea typeface="Aptos Display" pitchFamily="34" charset="-122"/>
                <a:cs typeface="Aptos Display" pitchFamily="34" charset="-120"/>
              </a:rPr>
              <a:t>Monte Carlo simulation</a:t>
            </a:r>
            <a:endParaRPr lang="en-US" sz="2800" dirty="0"/>
          </a:p>
        </p:txBody>
      </p:sp>
      <p:sp>
        <p:nvSpPr>
          <p:cNvPr id="4" name="Shape 2"/>
          <p:cNvSpPr/>
          <p:nvPr/>
        </p:nvSpPr>
        <p:spPr>
          <a:xfrm>
            <a:off x="566928" y="896112"/>
            <a:ext cx="11064240" cy="0"/>
          </a:xfrm>
          <a:prstGeom prst="line">
            <a:avLst/>
          </a:prstGeom>
          <a:noFill/>
          <a:ln w="19050">
            <a:solidFill>
              <a:srgbClr val="FF9900"/>
            </a:solidFill>
            <a:prstDash val="solid"/>
          </a:ln>
        </p:spPr>
      </p:sp>
      <p:sp>
        <p:nvSpPr>
          <p:cNvPr id="5" name="Text 3"/>
          <p:cNvSpPr/>
          <p:nvPr/>
        </p:nvSpPr>
        <p:spPr>
          <a:xfrm>
            <a:off x="585216" y="960120"/>
            <a:ext cx="10698480" cy="256032"/>
          </a:xfrm>
          <a:prstGeom prst="rect">
            <a:avLst/>
          </a:prstGeom>
          <a:noFill/>
          <a:ln/>
        </p:spPr>
        <p:txBody>
          <a:bodyPr wrap="square" lIns="0" tIns="0" rIns="0" bIns="0" rtlCol="0" anchor="ctr"/>
          <a:lstStyle/>
          <a:p>
            <a:pPr marL="0" indent="0">
              <a:buNone/>
            </a:pPr>
            <a:r>
              <a:rPr lang="en-US" sz="1100" dirty="0">
                <a:solidFill>
                  <a:srgbClr val="5A6670"/>
                </a:solidFill>
                <a:latin typeface="Aptos" pitchFamily="34" charset="0"/>
                <a:ea typeface="Aptos" pitchFamily="34" charset="-122"/>
                <a:cs typeface="Aptos" pitchFamily="34" charset="-120"/>
              </a:rPr>
              <a:t>Total exposure is wider than a single expected loss number</a:t>
            </a:r>
            <a:endParaRPr lang="en-US" sz="1100" dirty="0"/>
          </a:p>
        </p:txBody>
      </p:sp>
      <p:pic>
        <p:nvPicPr>
          <p:cNvPr id="6" name="Image 0" descr="/mnt/data/presentation_assets/monte_carlo_clean.png"/>
          <p:cNvPicPr>
            <a:picLocks noChangeAspect="1"/>
          </p:cNvPicPr>
          <p:nvPr/>
        </p:nvPicPr>
        <p:blipFill>
          <a:blip r:embed="rId3"/>
          <a:stretch>
            <a:fillRect/>
          </a:stretch>
        </p:blipFill>
        <p:spPr>
          <a:xfrm>
            <a:off x="640080" y="1389888"/>
            <a:ext cx="6446520" cy="3584448"/>
          </a:xfrm>
          <a:prstGeom prst="rect">
            <a:avLst/>
          </a:prstGeom>
        </p:spPr>
      </p:pic>
      <p:sp>
        <p:nvSpPr>
          <p:cNvPr id="7" name="Text 4"/>
          <p:cNvSpPr/>
          <p:nvPr/>
        </p:nvSpPr>
        <p:spPr>
          <a:xfrm>
            <a:off x="7406640" y="1417320"/>
            <a:ext cx="1600200" cy="420624"/>
          </a:xfrm>
          <a:prstGeom prst="rect">
            <a:avLst/>
          </a:prstGeom>
          <a:noFill/>
          <a:ln/>
        </p:spPr>
        <p:txBody>
          <a:bodyPr wrap="square" lIns="0" tIns="0" rIns="0" bIns="0" rtlCol="0" anchor="ctr"/>
          <a:lstStyle/>
          <a:p>
            <a:pPr marL="0" indent="0" algn="ctr">
              <a:buNone/>
            </a:pPr>
            <a:r>
              <a:rPr lang="en-US" sz="2800" b="1" dirty="0">
                <a:solidFill>
                  <a:srgbClr val="FF9900"/>
                </a:solidFill>
                <a:latin typeface="Aptos Display" pitchFamily="34" charset="0"/>
                <a:ea typeface="Aptos Display" pitchFamily="34" charset="-122"/>
                <a:cs typeface="Aptos Display" pitchFamily="34" charset="-120"/>
              </a:rPr>
              <a:t>$719m</a:t>
            </a:r>
            <a:endParaRPr lang="en-US" sz="2800" dirty="0"/>
          </a:p>
        </p:txBody>
      </p:sp>
      <p:sp>
        <p:nvSpPr>
          <p:cNvPr id="8" name="Text 5"/>
          <p:cNvSpPr/>
          <p:nvPr/>
        </p:nvSpPr>
        <p:spPr>
          <a:xfrm>
            <a:off x="7406640" y="1892808"/>
            <a:ext cx="1600200" cy="512064"/>
          </a:xfrm>
          <a:prstGeom prst="rect">
            <a:avLst/>
          </a:prstGeom>
          <a:noFill/>
          <a:ln/>
        </p:spPr>
        <p:txBody>
          <a:bodyPr wrap="square" lIns="254" tIns="254" rIns="254" bIns="254" rtlCol="0" anchor="ctr">
            <a:normAutofit/>
          </a:bodyPr>
          <a:lstStyle/>
          <a:p>
            <a:pPr marL="0" indent="0" algn="ctr">
              <a:buNone/>
            </a:pPr>
            <a:r>
              <a:rPr lang="en-US" sz="1050" dirty="0">
                <a:solidFill>
                  <a:srgbClr val="172A3A"/>
                </a:solidFill>
                <a:latin typeface="Aptos" pitchFamily="34" charset="0"/>
                <a:ea typeface="Aptos" pitchFamily="34" charset="-122"/>
                <a:cs typeface="Aptos" pitchFamily="34" charset="-120"/>
              </a:rPr>
              <a:t>mean annual loss</a:t>
            </a:r>
            <a:endParaRPr lang="en-US" sz="1050" dirty="0"/>
          </a:p>
        </p:txBody>
      </p:sp>
      <p:sp>
        <p:nvSpPr>
          <p:cNvPr id="9" name="Text 6"/>
          <p:cNvSpPr/>
          <p:nvPr/>
        </p:nvSpPr>
        <p:spPr>
          <a:xfrm>
            <a:off x="9372600" y="1417320"/>
            <a:ext cx="1691640" cy="420624"/>
          </a:xfrm>
          <a:prstGeom prst="rect">
            <a:avLst/>
          </a:prstGeom>
          <a:noFill/>
          <a:ln/>
        </p:spPr>
        <p:txBody>
          <a:bodyPr wrap="square" lIns="0" tIns="0" rIns="0" bIns="0" rtlCol="0" anchor="ctr"/>
          <a:lstStyle/>
          <a:p>
            <a:pPr marL="0" indent="0" algn="ctr">
              <a:buNone/>
            </a:pPr>
            <a:r>
              <a:rPr lang="en-US" sz="2800" b="1" dirty="0">
                <a:solidFill>
                  <a:srgbClr val="C84B31"/>
                </a:solidFill>
                <a:latin typeface="Aptos Display" pitchFamily="34" charset="0"/>
                <a:ea typeface="Aptos Display" pitchFamily="34" charset="-122"/>
                <a:cs typeface="Aptos Display" pitchFamily="34" charset="-120"/>
              </a:rPr>
              <a:t>$1.59bn</a:t>
            </a:r>
            <a:endParaRPr lang="en-US" sz="2800" dirty="0"/>
          </a:p>
        </p:txBody>
      </p:sp>
      <p:sp>
        <p:nvSpPr>
          <p:cNvPr id="10" name="Text 7"/>
          <p:cNvSpPr/>
          <p:nvPr/>
        </p:nvSpPr>
        <p:spPr>
          <a:xfrm>
            <a:off x="9372600" y="1892808"/>
            <a:ext cx="1691640" cy="512064"/>
          </a:xfrm>
          <a:prstGeom prst="rect">
            <a:avLst/>
          </a:prstGeom>
          <a:noFill/>
          <a:ln/>
        </p:spPr>
        <p:txBody>
          <a:bodyPr wrap="square" lIns="254" tIns="254" rIns="254" bIns="254" rtlCol="0" anchor="ctr">
            <a:normAutofit/>
          </a:bodyPr>
          <a:lstStyle/>
          <a:p>
            <a:pPr marL="0" indent="0" algn="ctr">
              <a:buNone/>
            </a:pPr>
            <a:r>
              <a:rPr lang="en-US" sz="1050" dirty="0">
                <a:solidFill>
                  <a:srgbClr val="172A3A"/>
                </a:solidFill>
                <a:latin typeface="Aptos" pitchFamily="34" charset="0"/>
                <a:ea typeface="Aptos" pitchFamily="34" charset="-122"/>
                <a:cs typeface="Aptos" pitchFamily="34" charset="-120"/>
              </a:rPr>
              <a:t>P95 annual loss</a:t>
            </a:r>
            <a:endParaRPr lang="en-US" sz="1050" dirty="0"/>
          </a:p>
        </p:txBody>
      </p:sp>
      <p:sp>
        <p:nvSpPr>
          <p:cNvPr id="11" name="Text 8"/>
          <p:cNvSpPr/>
          <p:nvPr/>
        </p:nvSpPr>
        <p:spPr>
          <a:xfrm>
            <a:off x="7406640" y="2971800"/>
            <a:ext cx="1600200" cy="420624"/>
          </a:xfrm>
          <a:prstGeom prst="rect">
            <a:avLst/>
          </a:prstGeom>
          <a:noFill/>
          <a:ln/>
        </p:spPr>
        <p:txBody>
          <a:bodyPr wrap="square" lIns="0" tIns="0" rIns="0" bIns="0" rtlCol="0" anchor="ctr"/>
          <a:lstStyle/>
          <a:p>
            <a:pPr marL="0" indent="0" algn="ctr">
              <a:buNone/>
            </a:pPr>
            <a:r>
              <a:rPr lang="en-US" sz="2800" b="1" dirty="0">
                <a:solidFill>
                  <a:srgbClr val="1F77B4"/>
                </a:solidFill>
                <a:latin typeface="Aptos Display" pitchFamily="34" charset="0"/>
                <a:ea typeface="Aptos Display" pitchFamily="34" charset="-122"/>
                <a:cs typeface="Aptos Display" pitchFamily="34" charset="-120"/>
              </a:rPr>
              <a:t>63%</a:t>
            </a:r>
            <a:endParaRPr lang="en-US" sz="2800" dirty="0"/>
          </a:p>
        </p:txBody>
      </p:sp>
      <p:sp>
        <p:nvSpPr>
          <p:cNvPr id="12" name="Text 9"/>
          <p:cNvSpPr/>
          <p:nvPr/>
        </p:nvSpPr>
        <p:spPr>
          <a:xfrm>
            <a:off x="7406640" y="3447288"/>
            <a:ext cx="1600200" cy="512064"/>
          </a:xfrm>
          <a:prstGeom prst="rect">
            <a:avLst/>
          </a:prstGeom>
          <a:noFill/>
          <a:ln/>
        </p:spPr>
        <p:txBody>
          <a:bodyPr wrap="square" lIns="254" tIns="254" rIns="254" bIns="254" rtlCol="0" anchor="ctr">
            <a:normAutofit/>
          </a:bodyPr>
          <a:lstStyle/>
          <a:p>
            <a:pPr marL="0" indent="0" algn="ctr">
              <a:buNone/>
            </a:pPr>
            <a:r>
              <a:rPr lang="en-US" sz="1050" dirty="0">
                <a:solidFill>
                  <a:srgbClr val="172A3A"/>
                </a:solidFill>
                <a:latin typeface="Aptos" pitchFamily="34" charset="0"/>
                <a:ea typeface="Aptos" pitchFamily="34" charset="-122"/>
                <a:cs typeface="Aptos" pitchFamily="34" charset="-120"/>
              </a:rPr>
              <a:t>probability annual loss exceeds $500m</a:t>
            </a:r>
            <a:endParaRPr lang="en-US" sz="1050" dirty="0"/>
          </a:p>
        </p:txBody>
      </p:sp>
      <p:sp>
        <p:nvSpPr>
          <p:cNvPr id="13" name="Text 10"/>
          <p:cNvSpPr/>
          <p:nvPr/>
        </p:nvSpPr>
        <p:spPr>
          <a:xfrm>
            <a:off x="9372600" y="2971800"/>
            <a:ext cx="1691640" cy="420624"/>
          </a:xfrm>
          <a:prstGeom prst="rect">
            <a:avLst/>
          </a:prstGeom>
          <a:noFill/>
          <a:ln/>
        </p:spPr>
        <p:txBody>
          <a:bodyPr wrap="square" lIns="0" tIns="0" rIns="0" bIns="0" rtlCol="0" anchor="ctr"/>
          <a:lstStyle/>
          <a:p>
            <a:pPr marL="0" indent="0" algn="ctr">
              <a:buNone/>
            </a:pPr>
            <a:r>
              <a:rPr lang="en-US" sz="2800" b="1" dirty="0">
                <a:solidFill>
                  <a:srgbClr val="C84B31"/>
                </a:solidFill>
                <a:latin typeface="Aptos Display" pitchFamily="34" charset="0"/>
                <a:ea typeface="Aptos Display" pitchFamily="34" charset="-122"/>
                <a:cs typeface="Aptos Display" pitchFamily="34" charset="-120"/>
              </a:rPr>
              <a:t>25%</a:t>
            </a:r>
            <a:endParaRPr lang="en-US" sz="2800" dirty="0"/>
          </a:p>
        </p:txBody>
      </p:sp>
      <p:sp>
        <p:nvSpPr>
          <p:cNvPr id="14" name="Text 11"/>
          <p:cNvSpPr/>
          <p:nvPr/>
        </p:nvSpPr>
        <p:spPr>
          <a:xfrm>
            <a:off x="9372600" y="3447288"/>
            <a:ext cx="1691640" cy="512064"/>
          </a:xfrm>
          <a:prstGeom prst="rect">
            <a:avLst/>
          </a:prstGeom>
          <a:noFill/>
          <a:ln/>
        </p:spPr>
        <p:txBody>
          <a:bodyPr wrap="square" lIns="254" tIns="254" rIns="254" bIns="254" rtlCol="0" anchor="ctr">
            <a:normAutofit/>
          </a:bodyPr>
          <a:lstStyle/>
          <a:p>
            <a:pPr marL="0" indent="0" algn="ctr">
              <a:buNone/>
            </a:pPr>
            <a:r>
              <a:rPr lang="en-US" sz="1050" dirty="0">
                <a:solidFill>
                  <a:srgbClr val="172A3A"/>
                </a:solidFill>
                <a:latin typeface="Aptos" pitchFamily="34" charset="0"/>
                <a:ea typeface="Aptos" pitchFamily="34" charset="-122"/>
                <a:cs typeface="Aptos" pitchFamily="34" charset="-120"/>
              </a:rPr>
              <a:t>probability annual loss exceeds $1bn</a:t>
            </a:r>
            <a:endParaRPr lang="en-US" sz="1050" dirty="0"/>
          </a:p>
        </p:txBody>
      </p:sp>
      <p:sp>
        <p:nvSpPr>
          <p:cNvPr id="15" name="Text 12"/>
          <p:cNvSpPr/>
          <p:nvPr/>
        </p:nvSpPr>
        <p:spPr>
          <a:xfrm>
            <a:off x="7498080" y="4590288"/>
            <a:ext cx="3566160" cy="548640"/>
          </a:xfrm>
          <a:prstGeom prst="rect">
            <a:avLst/>
          </a:prstGeom>
          <a:noFill/>
          <a:ln/>
        </p:spPr>
        <p:txBody>
          <a:bodyPr wrap="square" lIns="508" tIns="508" rIns="508" bIns="508" rtlCol="0" anchor="t">
            <a:normAutofit fontScale="92500"/>
          </a:bodyPr>
          <a:lstStyle/>
          <a:p>
            <a:pPr marL="0" indent="0">
              <a:buNone/>
            </a:pPr>
            <a:r>
              <a:rPr lang="en-US" sz="1420" dirty="0">
                <a:solidFill>
                  <a:srgbClr val="111827"/>
                </a:solidFill>
                <a:latin typeface="Aptos" pitchFamily="34" charset="0"/>
                <a:ea typeface="Aptos" pitchFamily="34" charset="-122"/>
                <a:cs typeface="Aptos" pitchFamily="34" charset="-120"/>
              </a:rPr>
              <a:t>The simulation shows that Amazon should plan for tail risk and not rely only on the mean estimate.</a:t>
            </a:r>
            <a:endParaRPr lang="en-US" sz="1420" dirty="0"/>
          </a:p>
        </p:txBody>
      </p:sp>
      <p:sp>
        <p:nvSpPr>
          <p:cNvPr id="16" name="Text 13"/>
          <p:cNvSpPr/>
          <p:nvPr/>
        </p:nvSpPr>
        <p:spPr>
          <a:xfrm>
            <a:off x="594360" y="6492240"/>
            <a:ext cx="5120640" cy="201168"/>
          </a:xfrm>
          <a:prstGeom prst="rect">
            <a:avLst/>
          </a:prstGeom>
          <a:noFill/>
          <a:ln/>
        </p:spPr>
        <p:txBody>
          <a:bodyPr wrap="square" lIns="0" tIns="0" rIns="0" bIns="0" rtlCol="0" anchor="ctr"/>
          <a:lstStyle/>
          <a:p>
            <a:pPr marL="0" indent="0">
              <a:buNone/>
            </a:pPr>
            <a:r>
              <a:rPr lang="en-US" sz="850" dirty="0">
                <a:solidFill>
                  <a:srgbClr val="5A6670"/>
                </a:solidFill>
                <a:latin typeface="Aptos" pitchFamily="34" charset="0"/>
                <a:ea typeface="Aptos" pitchFamily="34" charset="-122"/>
                <a:cs typeface="Aptos" pitchFamily="34" charset="-120"/>
              </a:rPr>
              <a:t>ALY6130 Risk Management for Analytics</a:t>
            </a:r>
            <a:endParaRPr lang="en-US" sz="850" dirty="0"/>
          </a:p>
        </p:txBody>
      </p:sp>
      <p:sp>
        <p:nvSpPr>
          <p:cNvPr id="17" name="Text 14"/>
          <p:cNvSpPr/>
          <p:nvPr/>
        </p:nvSpPr>
        <p:spPr>
          <a:xfrm>
            <a:off x="11292840" y="6492240"/>
            <a:ext cx="320040" cy="201168"/>
          </a:xfrm>
          <a:prstGeom prst="rect">
            <a:avLst/>
          </a:prstGeom>
          <a:noFill/>
          <a:ln/>
        </p:spPr>
        <p:txBody>
          <a:bodyPr wrap="square" lIns="0" tIns="0" rIns="0" bIns="0" rtlCol="0" anchor="ctr"/>
          <a:lstStyle/>
          <a:p>
            <a:pPr marL="0" indent="0" algn="r">
              <a:buNone/>
            </a:pPr>
            <a:r>
              <a:rPr lang="en-US" sz="850" dirty="0">
                <a:solidFill>
                  <a:srgbClr val="5A6670"/>
                </a:solidFill>
                <a:latin typeface="Aptos" pitchFamily="34" charset="0"/>
              </a:rPr>
              <a:t>12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7F3E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3EB"/>
          </a:solidFill>
          <a:ln w="12700">
            <a:solidFill>
              <a:srgbClr val="F7F3EB">
                <a:alpha val="0"/>
              </a:srgbClr>
            </a:solidFill>
            <a:prstDash val="solid"/>
          </a:ln>
        </p:spPr>
      </p:sp>
      <p:sp>
        <p:nvSpPr>
          <p:cNvPr id="3" name="Text 1"/>
          <p:cNvSpPr/>
          <p:nvPr/>
        </p:nvSpPr>
        <p:spPr>
          <a:xfrm>
            <a:off x="566928" y="320040"/>
            <a:ext cx="9875520" cy="438912"/>
          </a:xfrm>
          <a:prstGeom prst="rect">
            <a:avLst/>
          </a:prstGeom>
          <a:noFill/>
          <a:ln/>
        </p:spPr>
        <p:txBody>
          <a:bodyPr wrap="square" lIns="0" tIns="0" rIns="0" bIns="0" rtlCol="0" anchor="ctr"/>
          <a:lstStyle/>
          <a:p>
            <a:pPr marL="0" indent="0">
              <a:buNone/>
            </a:pPr>
            <a:r>
              <a:rPr lang="en-US" sz="2800" b="1" dirty="0">
                <a:solidFill>
                  <a:srgbClr val="172A3A"/>
                </a:solidFill>
                <a:latin typeface="Aptos Display" pitchFamily="34" charset="0"/>
                <a:ea typeface="Aptos Display" pitchFamily="34" charset="-122"/>
                <a:cs typeface="Aptos Display" pitchFamily="34" charset="-120"/>
              </a:rPr>
              <a:t>Severe loss contribution</a:t>
            </a:r>
            <a:endParaRPr lang="en-US" sz="2800" dirty="0"/>
          </a:p>
        </p:txBody>
      </p:sp>
      <p:sp>
        <p:nvSpPr>
          <p:cNvPr id="4" name="Shape 2"/>
          <p:cNvSpPr/>
          <p:nvPr/>
        </p:nvSpPr>
        <p:spPr>
          <a:xfrm>
            <a:off x="566928" y="896112"/>
            <a:ext cx="11064240" cy="0"/>
          </a:xfrm>
          <a:prstGeom prst="line">
            <a:avLst/>
          </a:prstGeom>
          <a:noFill/>
          <a:ln w="19050">
            <a:solidFill>
              <a:srgbClr val="FF9900"/>
            </a:solidFill>
            <a:prstDash val="solid"/>
          </a:ln>
        </p:spPr>
      </p:sp>
      <p:sp>
        <p:nvSpPr>
          <p:cNvPr id="5" name="Text 3"/>
          <p:cNvSpPr/>
          <p:nvPr/>
        </p:nvSpPr>
        <p:spPr>
          <a:xfrm>
            <a:off x="585216" y="960120"/>
            <a:ext cx="10698480" cy="256032"/>
          </a:xfrm>
          <a:prstGeom prst="rect">
            <a:avLst/>
          </a:prstGeom>
          <a:noFill/>
          <a:ln/>
        </p:spPr>
        <p:txBody>
          <a:bodyPr wrap="square" lIns="0" tIns="0" rIns="0" bIns="0" rtlCol="0" anchor="ctr"/>
          <a:lstStyle/>
          <a:p>
            <a:pPr marL="0" indent="0">
              <a:buNone/>
            </a:pPr>
            <a:r>
              <a:rPr lang="en-US" sz="1100" dirty="0">
                <a:solidFill>
                  <a:srgbClr val="5A6670"/>
                </a:solidFill>
                <a:latin typeface="Aptos" pitchFamily="34" charset="0"/>
                <a:ea typeface="Aptos" pitchFamily="34" charset="-122"/>
                <a:cs typeface="Aptos" pitchFamily="34" charset="-120"/>
              </a:rPr>
              <a:t>Cybersecurity and regulatory risk dominate the tail</a:t>
            </a:r>
            <a:endParaRPr lang="en-US" sz="1100" dirty="0"/>
          </a:p>
        </p:txBody>
      </p:sp>
      <p:pic>
        <p:nvPicPr>
          <p:cNvPr id="6" name="Image 0" descr="/mnt/data/presentation_assets/tail_contribution_clean.png"/>
          <p:cNvPicPr>
            <a:picLocks noChangeAspect="1"/>
          </p:cNvPicPr>
          <p:nvPr/>
        </p:nvPicPr>
        <p:blipFill>
          <a:blip r:embed="rId3"/>
          <a:stretch>
            <a:fillRect/>
          </a:stretch>
        </p:blipFill>
        <p:spPr>
          <a:xfrm>
            <a:off x="640080" y="1234440"/>
            <a:ext cx="6565392" cy="3913632"/>
          </a:xfrm>
          <a:prstGeom prst="rect">
            <a:avLst/>
          </a:prstGeom>
        </p:spPr>
      </p:pic>
      <p:sp>
        <p:nvSpPr>
          <p:cNvPr id="7" name="Text 4"/>
          <p:cNvSpPr/>
          <p:nvPr/>
        </p:nvSpPr>
        <p:spPr>
          <a:xfrm>
            <a:off x="7479792" y="1417320"/>
            <a:ext cx="3794760" cy="1645920"/>
          </a:xfrm>
          <a:prstGeom prst="rect">
            <a:avLst/>
          </a:prstGeom>
          <a:noFill/>
          <a:ln/>
        </p:spPr>
        <p:txBody>
          <a:bodyPr wrap="square" lIns="508" tIns="508" rIns="508" bIns="508" rtlCol="0" anchor="t">
            <a:normAutofit/>
          </a:bodyPr>
          <a:lstStyle/>
          <a:p>
            <a:pPr marL="0" indent="0">
              <a:buNone/>
            </a:pPr>
            <a:r>
              <a:rPr lang="en-US" sz="1480" dirty="0">
                <a:solidFill>
                  <a:srgbClr val="111827"/>
                </a:solidFill>
                <a:latin typeface="Aptos" pitchFamily="34" charset="0"/>
                <a:ea typeface="Aptos" pitchFamily="34" charset="-122"/>
                <a:cs typeface="Aptos" pitchFamily="34" charset="-120"/>
              </a:rPr>
              <a:t>Tail scenarios are the cases decision makers worry about most. In those outcomes, cybersecurity and regulatory non compliance together contribute about 42 percent of severe losses. Cost overrun and AI warehouse strategy failure are the next major contributors.</a:t>
            </a:r>
            <a:endParaRPr lang="en-US" sz="1480" dirty="0"/>
          </a:p>
        </p:txBody>
      </p:sp>
      <p:sp>
        <p:nvSpPr>
          <p:cNvPr id="8" name="Text 5"/>
          <p:cNvSpPr/>
          <p:nvPr/>
        </p:nvSpPr>
        <p:spPr>
          <a:xfrm>
            <a:off x="7479792" y="3493008"/>
            <a:ext cx="3794760" cy="960120"/>
          </a:xfrm>
          <a:prstGeom prst="rect">
            <a:avLst/>
          </a:prstGeom>
          <a:noFill/>
          <a:ln/>
        </p:spPr>
        <p:txBody>
          <a:bodyPr wrap="square" lIns="508" tIns="508" rIns="508" bIns="508" rtlCol="0" anchor="t">
            <a:normAutofit/>
          </a:bodyPr>
          <a:lstStyle/>
          <a:p>
            <a:pPr marL="0" indent="0">
              <a:buNone/>
            </a:pPr>
            <a:r>
              <a:rPr lang="en-US" sz="1480" dirty="0">
                <a:solidFill>
                  <a:srgbClr val="111827"/>
                </a:solidFill>
                <a:latin typeface="Aptos" pitchFamily="34" charset="0"/>
                <a:ea typeface="Aptos" pitchFamily="34" charset="-122"/>
                <a:cs typeface="Aptos" pitchFamily="34" charset="-120"/>
              </a:rPr>
              <a:t>The practical message is clear: the risk treatment budget should not be spread evenly. It should be weighted toward risks that drive severe downside exposure.</a:t>
            </a:r>
            <a:endParaRPr lang="en-US" sz="1480" dirty="0"/>
          </a:p>
        </p:txBody>
      </p:sp>
      <p:sp>
        <p:nvSpPr>
          <p:cNvPr id="9" name="Text 6"/>
          <p:cNvSpPr/>
          <p:nvPr/>
        </p:nvSpPr>
        <p:spPr>
          <a:xfrm>
            <a:off x="594360" y="6492240"/>
            <a:ext cx="5120640" cy="201168"/>
          </a:xfrm>
          <a:prstGeom prst="rect">
            <a:avLst/>
          </a:prstGeom>
          <a:noFill/>
          <a:ln/>
        </p:spPr>
        <p:txBody>
          <a:bodyPr wrap="square" lIns="0" tIns="0" rIns="0" bIns="0" rtlCol="0" anchor="ctr"/>
          <a:lstStyle/>
          <a:p>
            <a:pPr marL="0" indent="0">
              <a:buNone/>
            </a:pPr>
            <a:r>
              <a:rPr lang="en-US" sz="850" dirty="0">
                <a:solidFill>
                  <a:srgbClr val="5A6670"/>
                </a:solidFill>
                <a:latin typeface="Aptos" pitchFamily="34" charset="0"/>
                <a:ea typeface="Aptos" pitchFamily="34" charset="-122"/>
                <a:cs typeface="Aptos" pitchFamily="34" charset="-120"/>
              </a:rPr>
              <a:t>ALY6130 Risk Management for Analytics</a:t>
            </a:r>
            <a:endParaRPr lang="en-US" sz="850" dirty="0"/>
          </a:p>
        </p:txBody>
      </p:sp>
      <p:sp>
        <p:nvSpPr>
          <p:cNvPr id="10" name="Text 7"/>
          <p:cNvSpPr/>
          <p:nvPr/>
        </p:nvSpPr>
        <p:spPr>
          <a:xfrm>
            <a:off x="11292840" y="6492240"/>
            <a:ext cx="320040" cy="201168"/>
          </a:xfrm>
          <a:prstGeom prst="rect">
            <a:avLst/>
          </a:prstGeom>
          <a:noFill/>
          <a:ln/>
        </p:spPr>
        <p:txBody>
          <a:bodyPr wrap="square" lIns="0" tIns="0" rIns="0" bIns="0" rtlCol="0" anchor="ctr"/>
          <a:lstStyle/>
          <a:p>
            <a:pPr marL="0" indent="0" algn="r">
              <a:buNone/>
            </a:pPr>
            <a:r>
              <a:rPr lang="en-US" sz="850" dirty="0">
                <a:solidFill>
                  <a:srgbClr val="5A6670"/>
                </a:solidFill>
                <a:latin typeface="Aptos" pitchFamily="34" charset="0"/>
                <a:ea typeface="Aptos" pitchFamily="34" charset="-122"/>
                <a:cs typeface="Aptos" pitchFamily="34" charset="-120"/>
              </a:rPr>
              <a:t>13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7F3E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3EB"/>
          </a:solidFill>
          <a:ln w="12700">
            <a:solidFill>
              <a:srgbClr val="F7F3EB">
                <a:alpha val="0"/>
              </a:srgbClr>
            </a:solidFill>
            <a:prstDash val="solid"/>
          </a:ln>
        </p:spPr>
      </p:sp>
      <p:sp>
        <p:nvSpPr>
          <p:cNvPr id="3" name="Text 1"/>
          <p:cNvSpPr/>
          <p:nvPr/>
        </p:nvSpPr>
        <p:spPr>
          <a:xfrm>
            <a:off x="566928" y="320040"/>
            <a:ext cx="9875520" cy="438912"/>
          </a:xfrm>
          <a:prstGeom prst="rect">
            <a:avLst/>
          </a:prstGeom>
          <a:noFill/>
          <a:ln/>
        </p:spPr>
        <p:txBody>
          <a:bodyPr wrap="square" lIns="0" tIns="0" rIns="0" bIns="0" rtlCol="0" anchor="ctr"/>
          <a:lstStyle/>
          <a:p>
            <a:pPr marL="0" indent="0">
              <a:buNone/>
            </a:pPr>
            <a:r>
              <a:rPr lang="en-US" sz="2800" b="1" dirty="0">
                <a:solidFill>
                  <a:srgbClr val="172A3A"/>
                </a:solidFill>
                <a:latin typeface="Aptos Display" pitchFamily="34" charset="0"/>
                <a:ea typeface="Aptos Display" pitchFamily="34" charset="-122"/>
                <a:cs typeface="Aptos Display" pitchFamily="34" charset="-120"/>
              </a:rPr>
              <a:t>KRIs and trigger points for action</a:t>
            </a:r>
            <a:endParaRPr lang="en-US" sz="2800" dirty="0"/>
          </a:p>
        </p:txBody>
      </p:sp>
      <p:sp>
        <p:nvSpPr>
          <p:cNvPr id="4" name="Shape 2"/>
          <p:cNvSpPr/>
          <p:nvPr/>
        </p:nvSpPr>
        <p:spPr>
          <a:xfrm>
            <a:off x="566928" y="896112"/>
            <a:ext cx="11064240" cy="0"/>
          </a:xfrm>
          <a:prstGeom prst="line">
            <a:avLst/>
          </a:prstGeom>
          <a:noFill/>
          <a:ln w="19050">
            <a:solidFill>
              <a:srgbClr val="FF9900"/>
            </a:solidFill>
            <a:prstDash val="solid"/>
          </a:ln>
        </p:spPr>
      </p:sp>
      <p:sp>
        <p:nvSpPr>
          <p:cNvPr id="5" name="Text 3"/>
          <p:cNvSpPr/>
          <p:nvPr/>
        </p:nvSpPr>
        <p:spPr>
          <a:xfrm>
            <a:off x="585216" y="960120"/>
            <a:ext cx="10698480" cy="256032"/>
          </a:xfrm>
          <a:prstGeom prst="rect">
            <a:avLst/>
          </a:prstGeom>
          <a:noFill/>
          <a:ln/>
        </p:spPr>
        <p:txBody>
          <a:bodyPr wrap="square" lIns="0" tIns="0" rIns="0" bIns="0" rtlCol="0" anchor="ctr"/>
          <a:lstStyle/>
          <a:p>
            <a:pPr marL="0" indent="0">
              <a:buNone/>
            </a:pPr>
            <a:r>
              <a:rPr lang="en-US" sz="1100" dirty="0">
                <a:solidFill>
                  <a:srgbClr val="5A6670"/>
                </a:solidFill>
                <a:latin typeface="Aptos" pitchFamily="34" charset="0"/>
                <a:ea typeface="Aptos" pitchFamily="34" charset="-122"/>
                <a:cs typeface="Aptos" pitchFamily="34" charset="-120"/>
              </a:rPr>
              <a:t>Management needs measurable thresholds, not only risk descriptions</a:t>
            </a:r>
            <a:endParaRPr lang="en-US" sz="1100" dirty="0"/>
          </a:p>
        </p:txBody>
      </p:sp>
      <p:sp>
        <p:nvSpPr>
          <p:cNvPr id="6" name="Shape 4"/>
          <p:cNvSpPr/>
          <p:nvPr/>
        </p:nvSpPr>
        <p:spPr>
          <a:xfrm>
            <a:off x="658368" y="1234440"/>
            <a:ext cx="10881360" cy="457200"/>
          </a:xfrm>
          <a:prstGeom prst="rect">
            <a:avLst/>
          </a:prstGeom>
          <a:solidFill>
            <a:srgbClr val="172A3A"/>
          </a:solidFill>
          <a:ln w="4445">
            <a:solidFill>
              <a:srgbClr val="D1D5DB"/>
            </a:solidFill>
            <a:prstDash val="solid"/>
          </a:ln>
        </p:spPr>
      </p:sp>
      <p:sp>
        <p:nvSpPr>
          <p:cNvPr id="7" name="Text 5"/>
          <p:cNvSpPr/>
          <p:nvPr/>
        </p:nvSpPr>
        <p:spPr>
          <a:xfrm>
            <a:off x="731520" y="1362456"/>
            <a:ext cx="2404872" cy="164592"/>
          </a:xfrm>
          <a:prstGeom prst="rect">
            <a:avLst/>
          </a:prstGeom>
          <a:noFill/>
          <a:ln/>
        </p:spPr>
        <p:txBody>
          <a:bodyPr wrap="square" lIns="0" tIns="0" rIns="0" bIns="0" rtlCol="0" anchor="ctr"/>
          <a:lstStyle/>
          <a:p>
            <a:pPr marL="0" indent="0">
              <a:buNone/>
            </a:pPr>
            <a:r>
              <a:rPr lang="en-US" sz="1030" b="1" dirty="0">
                <a:solidFill>
                  <a:srgbClr val="FFFFFF"/>
                </a:solidFill>
                <a:latin typeface="Aptos" pitchFamily="34" charset="0"/>
                <a:ea typeface="Aptos" pitchFamily="34" charset="-122"/>
                <a:cs typeface="Aptos" pitchFamily="34" charset="-120"/>
              </a:rPr>
              <a:t>Risk area</a:t>
            </a:r>
            <a:endParaRPr lang="en-US" sz="1030" dirty="0"/>
          </a:p>
        </p:txBody>
      </p:sp>
      <p:sp>
        <p:nvSpPr>
          <p:cNvPr id="8" name="Text 6"/>
          <p:cNvSpPr/>
          <p:nvPr/>
        </p:nvSpPr>
        <p:spPr>
          <a:xfrm>
            <a:off x="3246120" y="1362456"/>
            <a:ext cx="3547872" cy="164592"/>
          </a:xfrm>
          <a:prstGeom prst="rect">
            <a:avLst/>
          </a:prstGeom>
          <a:noFill/>
          <a:ln/>
        </p:spPr>
        <p:txBody>
          <a:bodyPr wrap="square" lIns="0" tIns="0" rIns="0" bIns="0" rtlCol="0" anchor="ctr"/>
          <a:lstStyle/>
          <a:p>
            <a:pPr marL="0" indent="0">
              <a:buNone/>
            </a:pPr>
            <a:r>
              <a:rPr lang="en-US" sz="1030" b="1" dirty="0">
                <a:solidFill>
                  <a:srgbClr val="FFFFFF"/>
                </a:solidFill>
                <a:latin typeface="Aptos" pitchFamily="34" charset="0"/>
                <a:ea typeface="Aptos" pitchFamily="34" charset="-122"/>
                <a:cs typeface="Aptos" pitchFamily="34" charset="-120"/>
              </a:rPr>
              <a:t>KRI</a:t>
            </a:r>
            <a:endParaRPr lang="en-US" sz="1030" dirty="0"/>
          </a:p>
        </p:txBody>
      </p:sp>
      <p:sp>
        <p:nvSpPr>
          <p:cNvPr id="9" name="Text 7"/>
          <p:cNvSpPr/>
          <p:nvPr/>
        </p:nvSpPr>
        <p:spPr>
          <a:xfrm>
            <a:off x="6903720" y="1362456"/>
            <a:ext cx="4599432" cy="164592"/>
          </a:xfrm>
          <a:prstGeom prst="rect">
            <a:avLst/>
          </a:prstGeom>
          <a:noFill/>
          <a:ln/>
        </p:spPr>
        <p:txBody>
          <a:bodyPr wrap="square" lIns="0" tIns="0" rIns="0" bIns="0" rtlCol="0" anchor="ctr"/>
          <a:lstStyle/>
          <a:p>
            <a:pPr marL="0" indent="0">
              <a:buNone/>
            </a:pPr>
            <a:r>
              <a:rPr lang="en-US" sz="1030" b="1" dirty="0">
                <a:solidFill>
                  <a:srgbClr val="FFFFFF"/>
                </a:solidFill>
                <a:latin typeface="Aptos" pitchFamily="34" charset="0"/>
                <a:ea typeface="Aptos" pitchFamily="34" charset="-122"/>
                <a:cs typeface="Aptos" pitchFamily="34" charset="-120"/>
              </a:rPr>
              <a:t>Trigger for action</a:t>
            </a:r>
            <a:endParaRPr lang="en-US" sz="1030" dirty="0"/>
          </a:p>
        </p:txBody>
      </p:sp>
      <p:sp>
        <p:nvSpPr>
          <p:cNvPr id="10" name="Shape 8"/>
          <p:cNvSpPr/>
          <p:nvPr/>
        </p:nvSpPr>
        <p:spPr>
          <a:xfrm>
            <a:off x="658368" y="1691640"/>
            <a:ext cx="10881360" cy="457200"/>
          </a:xfrm>
          <a:prstGeom prst="rect">
            <a:avLst/>
          </a:prstGeom>
          <a:solidFill>
            <a:srgbClr val="FBF7EF"/>
          </a:solidFill>
          <a:ln w="4445">
            <a:solidFill>
              <a:srgbClr val="D1D5DB"/>
            </a:solidFill>
            <a:prstDash val="solid"/>
          </a:ln>
        </p:spPr>
      </p:sp>
      <p:sp>
        <p:nvSpPr>
          <p:cNvPr id="11" name="Text 9"/>
          <p:cNvSpPr/>
          <p:nvPr/>
        </p:nvSpPr>
        <p:spPr>
          <a:xfrm>
            <a:off x="731520" y="1819656"/>
            <a:ext cx="2404872" cy="164592"/>
          </a:xfrm>
          <a:prstGeom prst="rect">
            <a:avLst/>
          </a:prstGeom>
          <a:noFill/>
          <a:ln/>
        </p:spPr>
        <p:txBody>
          <a:bodyPr wrap="square" lIns="0" tIns="0" rIns="0" bIns="0" rtlCol="0" anchor="ctr"/>
          <a:lstStyle/>
          <a:p>
            <a:pPr marL="0" indent="0">
              <a:buNone/>
            </a:pPr>
            <a:r>
              <a:rPr lang="en-US" sz="1030" dirty="0">
                <a:solidFill>
                  <a:srgbClr val="111827"/>
                </a:solidFill>
                <a:latin typeface="Aptos" pitchFamily="34" charset="0"/>
                <a:ea typeface="Aptos" pitchFamily="34" charset="-122"/>
                <a:cs typeface="Aptos" pitchFamily="34" charset="-120"/>
              </a:rPr>
              <a:t>AI competition</a:t>
            </a:r>
            <a:endParaRPr lang="en-US" sz="1030" dirty="0"/>
          </a:p>
        </p:txBody>
      </p:sp>
      <p:sp>
        <p:nvSpPr>
          <p:cNvPr id="12" name="Text 10"/>
          <p:cNvSpPr/>
          <p:nvPr/>
        </p:nvSpPr>
        <p:spPr>
          <a:xfrm>
            <a:off x="3246120" y="1819656"/>
            <a:ext cx="3547872" cy="164592"/>
          </a:xfrm>
          <a:prstGeom prst="rect">
            <a:avLst/>
          </a:prstGeom>
          <a:noFill/>
          <a:ln/>
        </p:spPr>
        <p:txBody>
          <a:bodyPr wrap="square" lIns="0" tIns="0" rIns="0" bIns="0" rtlCol="0" anchor="ctr"/>
          <a:lstStyle/>
          <a:p>
            <a:pPr marL="0" indent="0">
              <a:buNone/>
            </a:pPr>
            <a:r>
              <a:rPr lang="en-US" sz="1030" dirty="0">
                <a:solidFill>
                  <a:srgbClr val="111827"/>
                </a:solidFill>
                <a:latin typeface="Aptos" pitchFamily="34" charset="0"/>
                <a:ea typeface="Aptos" pitchFamily="34" charset="-122"/>
                <a:cs typeface="Aptos" pitchFamily="34" charset="-120"/>
              </a:rPr>
              <a:t>Competitor AI release index</a:t>
            </a:r>
            <a:endParaRPr lang="en-US" sz="1030" dirty="0"/>
          </a:p>
        </p:txBody>
      </p:sp>
      <p:sp>
        <p:nvSpPr>
          <p:cNvPr id="13" name="Text 11"/>
          <p:cNvSpPr/>
          <p:nvPr/>
        </p:nvSpPr>
        <p:spPr>
          <a:xfrm>
            <a:off x="6903720" y="1819656"/>
            <a:ext cx="4599432" cy="164592"/>
          </a:xfrm>
          <a:prstGeom prst="rect">
            <a:avLst/>
          </a:prstGeom>
          <a:noFill/>
          <a:ln/>
        </p:spPr>
        <p:txBody>
          <a:bodyPr wrap="square" lIns="0" tIns="0" rIns="0" bIns="0" rtlCol="0" anchor="ctr"/>
          <a:lstStyle/>
          <a:p>
            <a:pPr marL="0" indent="0">
              <a:buNone/>
            </a:pPr>
            <a:r>
              <a:rPr lang="en-US" sz="1030" dirty="0">
                <a:solidFill>
                  <a:srgbClr val="111827"/>
                </a:solidFill>
                <a:latin typeface="Aptos" pitchFamily="34" charset="0"/>
                <a:ea typeface="Aptos" pitchFamily="34" charset="-122"/>
                <a:cs typeface="Aptos" pitchFamily="34" charset="-120"/>
              </a:rPr>
              <a:t>Two major rival releases in a quarter</a:t>
            </a:r>
            <a:endParaRPr lang="en-US" sz="1030" dirty="0"/>
          </a:p>
        </p:txBody>
      </p:sp>
      <p:sp>
        <p:nvSpPr>
          <p:cNvPr id="14" name="Shape 12"/>
          <p:cNvSpPr/>
          <p:nvPr/>
        </p:nvSpPr>
        <p:spPr>
          <a:xfrm>
            <a:off x="658368" y="2148840"/>
            <a:ext cx="10881360" cy="457200"/>
          </a:xfrm>
          <a:prstGeom prst="rect">
            <a:avLst/>
          </a:prstGeom>
          <a:solidFill>
            <a:srgbClr val="FFFFFF"/>
          </a:solidFill>
          <a:ln w="4445">
            <a:solidFill>
              <a:srgbClr val="D1D5DB"/>
            </a:solidFill>
            <a:prstDash val="solid"/>
          </a:ln>
        </p:spPr>
      </p:sp>
      <p:sp>
        <p:nvSpPr>
          <p:cNvPr id="15" name="Text 13"/>
          <p:cNvSpPr/>
          <p:nvPr/>
        </p:nvSpPr>
        <p:spPr>
          <a:xfrm>
            <a:off x="731520" y="2276856"/>
            <a:ext cx="2404872" cy="164592"/>
          </a:xfrm>
          <a:prstGeom prst="rect">
            <a:avLst/>
          </a:prstGeom>
          <a:noFill/>
          <a:ln/>
        </p:spPr>
        <p:txBody>
          <a:bodyPr wrap="square" lIns="0" tIns="0" rIns="0" bIns="0" rtlCol="0" anchor="ctr"/>
          <a:lstStyle/>
          <a:p>
            <a:pPr marL="0" indent="0">
              <a:buNone/>
            </a:pPr>
            <a:r>
              <a:rPr lang="en-US" sz="1030" dirty="0">
                <a:solidFill>
                  <a:srgbClr val="111827"/>
                </a:solidFill>
                <a:latin typeface="Aptos" pitchFamily="34" charset="0"/>
                <a:ea typeface="Aptos" pitchFamily="34" charset="-122"/>
                <a:cs typeface="Aptos" pitchFamily="34" charset="-120"/>
              </a:rPr>
              <a:t>Warehouse AI</a:t>
            </a:r>
            <a:endParaRPr lang="en-US" sz="1030" dirty="0"/>
          </a:p>
        </p:txBody>
      </p:sp>
      <p:sp>
        <p:nvSpPr>
          <p:cNvPr id="16" name="Text 14"/>
          <p:cNvSpPr/>
          <p:nvPr/>
        </p:nvSpPr>
        <p:spPr>
          <a:xfrm>
            <a:off x="3246120" y="2276856"/>
            <a:ext cx="3547872" cy="164592"/>
          </a:xfrm>
          <a:prstGeom prst="rect">
            <a:avLst/>
          </a:prstGeom>
          <a:noFill/>
          <a:ln/>
        </p:spPr>
        <p:txBody>
          <a:bodyPr wrap="square" lIns="0" tIns="0" rIns="0" bIns="0" rtlCol="0" anchor="ctr"/>
          <a:lstStyle/>
          <a:p>
            <a:pPr marL="0" indent="0">
              <a:buNone/>
            </a:pPr>
            <a:r>
              <a:rPr lang="en-US" sz="1030" dirty="0">
                <a:solidFill>
                  <a:srgbClr val="111827"/>
                </a:solidFill>
                <a:latin typeface="Aptos" pitchFamily="34" charset="0"/>
                <a:ea typeface="Aptos" pitchFamily="34" charset="-122"/>
                <a:cs typeface="Aptos" pitchFamily="34" charset="-120"/>
              </a:rPr>
              <a:t>Productivity gap</a:t>
            </a:r>
            <a:endParaRPr lang="en-US" sz="1030" dirty="0"/>
          </a:p>
        </p:txBody>
      </p:sp>
      <p:sp>
        <p:nvSpPr>
          <p:cNvPr id="17" name="Text 15"/>
          <p:cNvSpPr/>
          <p:nvPr/>
        </p:nvSpPr>
        <p:spPr>
          <a:xfrm>
            <a:off x="6903720" y="2276856"/>
            <a:ext cx="4599432" cy="164592"/>
          </a:xfrm>
          <a:prstGeom prst="rect">
            <a:avLst/>
          </a:prstGeom>
          <a:noFill/>
          <a:ln/>
        </p:spPr>
        <p:txBody>
          <a:bodyPr wrap="square" lIns="0" tIns="0" rIns="0" bIns="0" rtlCol="0" anchor="ctr"/>
          <a:lstStyle/>
          <a:p>
            <a:pPr marL="0" indent="0">
              <a:buNone/>
            </a:pPr>
            <a:r>
              <a:rPr lang="en-US" sz="1030" dirty="0">
                <a:solidFill>
                  <a:srgbClr val="111827"/>
                </a:solidFill>
                <a:latin typeface="Aptos" pitchFamily="34" charset="0"/>
                <a:ea typeface="Aptos" pitchFamily="34" charset="-122"/>
                <a:cs typeface="Aptos" pitchFamily="34" charset="-120"/>
              </a:rPr>
              <a:t>Gap exceeds 10 percent for two weeks</a:t>
            </a:r>
            <a:endParaRPr lang="en-US" sz="1030" dirty="0"/>
          </a:p>
        </p:txBody>
      </p:sp>
      <p:sp>
        <p:nvSpPr>
          <p:cNvPr id="18" name="Shape 16"/>
          <p:cNvSpPr/>
          <p:nvPr/>
        </p:nvSpPr>
        <p:spPr>
          <a:xfrm>
            <a:off x="658368" y="2606040"/>
            <a:ext cx="10881360" cy="457200"/>
          </a:xfrm>
          <a:prstGeom prst="rect">
            <a:avLst/>
          </a:prstGeom>
          <a:solidFill>
            <a:srgbClr val="FBF7EF"/>
          </a:solidFill>
          <a:ln w="4445">
            <a:solidFill>
              <a:srgbClr val="D1D5DB"/>
            </a:solidFill>
            <a:prstDash val="solid"/>
          </a:ln>
        </p:spPr>
      </p:sp>
      <p:sp>
        <p:nvSpPr>
          <p:cNvPr id="19" name="Text 17"/>
          <p:cNvSpPr/>
          <p:nvPr/>
        </p:nvSpPr>
        <p:spPr>
          <a:xfrm>
            <a:off x="731520" y="2734056"/>
            <a:ext cx="2404872" cy="164592"/>
          </a:xfrm>
          <a:prstGeom prst="rect">
            <a:avLst/>
          </a:prstGeom>
          <a:noFill/>
          <a:ln/>
        </p:spPr>
        <p:txBody>
          <a:bodyPr wrap="square" lIns="0" tIns="0" rIns="0" bIns="0" rtlCol="0" anchor="ctr"/>
          <a:lstStyle/>
          <a:p>
            <a:pPr marL="0" indent="0">
              <a:buNone/>
            </a:pPr>
            <a:r>
              <a:rPr lang="en-US" sz="1030" dirty="0">
                <a:solidFill>
                  <a:srgbClr val="111827"/>
                </a:solidFill>
                <a:latin typeface="Aptos" pitchFamily="34" charset="0"/>
                <a:ea typeface="Aptos" pitchFamily="34" charset="-122"/>
                <a:cs typeface="Aptos" pitchFamily="34" charset="-120"/>
              </a:rPr>
              <a:t>Cybersecurity</a:t>
            </a:r>
            <a:endParaRPr lang="en-US" sz="1030" dirty="0"/>
          </a:p>
        </p:txBody>
      </p:sp>
      <p:sp>
        <p:nvSpPr>
          <p:cNvPr id="20" name="Text 18"/>
          <p:cNvSpPr/>
          <p:nvPr/>
        </p:nvSpPr>
        <p:spPr>
          <a:xfrm>
            <a:off x="3246120" y="2734056"/>
            <a:ext cx="3547872" cy="164592"/>
          </a:xfrm>
          <a:prstGeom prst="rect">
            <a:avLst/>
          </a:prstGeom>
          <a:noFill/>
          <a:ln/>
        </p:spPr>
        <p:txBody>
          <a:bodyPr wrap="square" lIns="0" tIns="0" rIns="0" bIns="0" rtlCol="0" anchor="ctr"/>
          <a:lstStyle/>
          <a:p>
            <a:pPr marL="0" indent="0">
              <a:buNone/>
            </a:pPr>
            <a:r>
              <a:rPr lang="en-US" sz="1030" dirty="0">
                <a:solidFill>
                  <a:srgbClr val="111827"/>
                </a:solidFill>
                <a:latin typeface="Aptos" pitchFamily="34" charset="0"/>
                <a:ea typeface="Aptos" pitchFamily="34" charset="-122"/>
                <a:cs typeface="Aptos" pitchFamily="34" charset="-120"/>
              </a:rPr>
              <a:t>Security incident count</a:t>
            </a:r>
            <a:endParaRPr lang="en-US" sz="1030" dirty="0"/>
          </a:p>
        </p:txBody>
      </p:sp>
      <p:sp>
        <p:nvSpPr>
          <p:cNvPr id="21" name="Text 19"/>
          <p:cNvSpPr/>
          <p:nvPr/>
        </p:nvSpPr>
        <p:spPr>
          <a:xfrm>
            <a:off x="6903720" y="2734056"/>
            <a:ext cx="4599432" cy="164592"/>
          </a:xfrm>
          <a:prstGeom prst="rect">
            <a:avLst/>
          </a:prstGeom>
          <a:noFill/>
          <a:ln/>
        </p:spPr>
        <p:txBody>
          <a:bodyPr wrap="square" lIns="0" tIns="0" rIns="0" bIns="0" rtlCol="0" anchor="ctr"/>
          <a:lstStyle/>
          <a:p>
            <a:pPr marL="0" indent="0">
              <a:buNone/>
            </a:pPr>
            <a:r>
              <a:rPr lang="en-US" sz="1030" dirty="0">
                <a:solidFill>
                  <a:srgbClr val="111827"/>
                </a:solidFill>
                <a:latin typeface="Aptos" pitchFamily="34" charset="0"/>
                <a:ea typeface="Aptos" pitchFamily="34" charset="-122"/>
                <a:cs typeface="Aptos" pitchFamily="34" charset="-120"/>
              </a:rPr>
              <a:t>Any major breach or repeated alerts</a:t>
            </a:r>
            <a:endParaRPr lang="en-US" sz="1030" dirty="0"/>
          </a:p>
        </p:txBody>
      </p:sp>
      <p:sp>
        <p:nvSpPr>
          <p:cNvPr id="22" name="Shape 20"/>
          <p:cNvSpPr/>
          <p:nvPr/>
        </p:nvSpPr>
        <p:spPr>
          <a:xfrm>
            <a:off x="658368" y="3063240"/>
            <a:ext cx="10881360" cy="457200"/>
          </a:xfrm>
          <a:prstGeom prst="rect">
            <a:avLst/>
          </a:prstGeom>
          <a:solidFill>
            <a:srgbClr val="FFFFFF"/>
          </a:solidFill>
          <a:ln w="4445">
            <a:solidFill>
              <a:srgbClr val="D1D5DB"/>
            </a:solidFill>
            <a:prstDash val="solid"/>
          </a:ln>
        </p:spPr>
      </p:sp>
      <p:sp>
        <p:nvSpPr>
          <p:cNvPr id="23" name="Text 21"/>
          <p:cNvSpPr/>
          <p:nvPr/>
        </p:nvSpPr>
        <p:spPr>
          <a:xfrm>
            <a:off x="731520" y="3191256"/>
            <a:ext cx="2404872" cy="164592"/>
          </a:xfrm>
          <a:prstGeom prst="rect">
            <a:avLst/>
          </a:prstGeom>
          <a:noFill/>
          <a:ln/>
        </p:spPr>
        <p:txBody>
          <a:bodyPr wrap="square" lIns="0" tIns="0" rIns="0" bIns="0" rtlCol="0" anchor="ctr"/>
          <a:lstStyle/>
          <a:p>
            <a:pPr marL="0" indent="0">
              <a:buNone/>
            </a:pPr>
            <a:r>
              <a:rPr lang="en-US" sz="1030" dirty="0">
                <a:solidFill>
                  <a:srgbClr val="111827"/>
                </a:solidFill>
                <a:latin typeface="Aptos" pitchFamily="34" charset="0"/>
                <a:ea typeface="Aptos" pitchFamily="34" charset="-122"/>
                <a:cs typeface="Aptos" pitchFamily="34" charset="-120"/>
              </a:rPr>
              <a:t>Forecasting</a:t>
            </a:r>
            <a:endParaRPr lang="en-US" sz="1030" dirty="0"/>
          </a:p>
        </p:txBody>
      </p:sp>
      <p:sp>
        <p:nvSpPr>
          <p:cNvPr id="24" name="Text 22"/>
          <p:cNvSpPr/>
          <p:nvPr/>
        </p:nvSpPr>
        <p:spPr>
          <a:xfrm>
            <a:off x="3246120" y="3191256"/>
            <a:ext cx="3547872" cy="164592"/>
          </a:xfrm>
          <a:prstGeom prst="rect">
            <a:avLst/>
          </a:prstGeom>
          <a:noFill/>
          <a:ln/>
        </p:spPr>
        <p:txBody>
          <a:bodyPr wrap="square" lIns="0" tIns="0" rIns="0" bIns="0" rtlCol="0" anchor="ctr"/>
          <a:lstStyle/>
          <a:p>
            <a:pPr marL="0" indent="0">
              <a:buNone/>
            </a:pPr>
            <a:r>
              <a:rPr lang="en-US" sz="1030" dirty="0">
                <a:solidFill>
                  <a:srgbClr val="111827"/>
                </a:solidFill>
                <a:latin typeface="Aptos" pitchFamily="34" charset="0"/>
                <a:ea typeface="Aptos" pitchFamily="34" charset="-122"/>
                <a:cs typeface="Aptos" pitchFamily="34" charset="-120"/>
              </a:rPr>
              <a:t>Forecast error rate</a:t>
            </a:r>
            <a:endParaRPr lang="en-US" sz="1030" dirty="0"/>
          </a:p>
        </p:txBody>
      </p:sp>
      <p:sp>
        <p:nvSpPr>
          <p:cNvPr id="25" name="Text 23"/>
          <p:cNvSpPr/>
          <p:nvPr/>
        </p:nvSpPr>
        <p:spPr>
          <a:xfrm>
            <a:off x="6903720" y="3191256"/>
            <a:ext cx="4599432" cy="164592"/>
          </a:xfrm>
          <a:prstGeom prst="rect">
            <a:avLst/>
          </a:prstGeom>
          <a:noFill/>
          <a:ln/>
        </p:spPr>
        <p:txBody>
          <a:bodyPr wrap="square" lIns="0" tIns="0" rIns="0" bIns="0" rtlCol="0" anchor="ctr"/>
          <a:lstStyle/>
          <a:p>
            <a:pPr marL="0" indent="0">
              <a:buNone/>
            </a:pPr>
            <a:r>
              <a:rPr lang="en-US" sz="1030" dirty="0">
                <a:solidFill>
                  <a:srgbClr val="111827"/>
                </a:solidFill>
                <a:latin typeface="Aptos" pitchFamily="34" charset="0"/>
                <a:ea typeface="Aptos" pitchFamily="34" charset="-122"/>
                <a:cs typeface="Aptos" pitchFamily="34" charset="-120"/>
              </a:rPr>
              <a:t>Error above 15 percent</a:t>
            </a:r>
            <a:endParaRPr lang="en-US" sz="1030" dirty="0"/>
          </a:p>
        </p:txBody>
      </p:sp>
      <p:sp>
        <p:nvSpPr>
          <p:cNvPr id="26" name="Shape 24"/>
          <p:cNvSpPr/>
          <p:nvPr/>
        </p:nvSpPr>
        <p:spPr>
          <a:xfrm>
            <a:off x="658368" y="3520440"/>
            <a:ext cx="10881360" cy="457200"/>
          </a:xfrm>
          <a:prstGeom prst="rect">
            <a:avLst/>
          </a:prstGeom>
          <a:solidFill>
            <a:srgbClr val="FBF7EF"/>
          </a:solidFill>
          <a:ln w="4445">
            <a:solidFill>
              <a:srgbClr val="D1D5DB"/>
            </a:solidFill>
            <a:prstDash val="solid"/>
          </a:ln>
        </p:spPr>
      </p:sp>
      <p:sp>
        <p:nvSpPr>
          <p:cNvPr id="27" name="Text 25"/>
          <p:cNvSpPr/>
          <p:nvPr/>
        </p:nvSpPr>
        <p:spPr>
          <a:xfrm>
            <a:off x="731520" y="3648456"/>
            <a:ext cx="2404872" cy="164592"/>
          </a:xfrm>
          <a:prstGeom prst="rect">
            <a:avLst/>
          </a:prstGeom>
          <a:noFill/>
          <a:ln/>
        </p:spPr>
        <p:txBody>
          <a:bodyPr wrap="square" lIns="0" tIns="0" rIns="0" bIns="0" rtlCol="0" anchor="ctr"/>
          <a:lstStyle/>
          <a:p>
            <a:pPr marL="0" indent="0">
              <a:buNone/>
            </a:pPr>
            <a:r>
              <a:rPr lang="en-US" sz="1030" dirty="0">
                <a:solidFill>
                  <a:srgbClr val="111827"/>
                </a:solidFill>
                <a:latin typeface="Aptos" pitchFamily="34" charset="0"/>
                <a:ea typeface="Aptos" pitchFamily="34" charset="-122"/>
                <a:cs typeface="Aptos" pitchFamily="34" charset="-120"/>
              </a:rPr>
              <a:t>Cloud outage</a:t>
            </a:r>
            <a:endParaRPr lang="en-US" sz="1030" dirty="0"/>
          </a:p>
        </p:txBody>
      </p:sp>
      <p:sp>
        <p:nvSpPr>
          <p:cNvPr id="28" name="Text 26"/>
          <p:cNvSpPr/>
          <p:nvPr/>
        </p:nvSpPr>
        <p:spPr>
          <a:xfrm>
            <a:off x="3246120" y="3648456"/>
            <a:ext cx="3547872" cy="164592"/>
          </a:xfrm>
          <a:prstGeom prst="rect">
            <a:avLst/>
          </a:prstGeom>
          <a:noFill/>
          <a:ln/>
        </p:spPr>
        <p:txBody>
          <a:bodyPr wrap="square" lIns="0" tIns="0" rIns="0" bIns="0" rtlCol="0" anchor="ctr"/>
          <a:lstStyle/>
          <a:p>
            <a:pPr marL="0" indent="0">
              <a:buNone/>
            </a:pPr>
            <a:r>
              <a:rPr lang="en-US" sz="1030" dirty="0">
                <a:solidFill>
                  <a:srgbClr val="111827"/>
                </a:solidFill>
                <a:latin typeface="Aptos" pitchFamily="34" charset="0"/>
                <a:ea typeface="Aptos" pitchFamily="34" charset="-122"/>
                <a:cs typeface="Aptos" pitchFamily="34" charset="-120"/>
              </a:rPr>
              <a:t>System uptime</a:t>
            </a:r>
            <a:endParaRPr lang="en-US" sz="1030" dirty="0"/>
          </a:p>
        </p:txBody>
      </p:sp>
      <p:sp>
        <p:nvSpPr>
          <p:cNvPr id="29" name="Text 27"/>
          <p:cNvSpPr/>
          <p:nvPr/>
        </p:nvSpPr>
        <p:spPr>
          <a:xfrm>
            <a:off x="6903720" y="3648456"/>
            <a:ext cx="4599432" cy="164592"/>
          </a:xfrm>
          <a:prstGeom prst="rect">
            <a:avLst/>
          </a:prstGeom>
          <a:noFill/>
          <a:ln/>
        </p:spPr>
        <p:txBody>
          <a:bodyPr wrap="square" lIns="0" tIns="0" rIns="0" bIns="0" rtlCol="0" anchor="ctr"/>
          <a:lstStyle/>
          <a:p>
            <a:pPr marL="0" indent="0">
              <a:buNone/>
            </a:pPr>
            <a:r>
              <a:rPr lang="en-US" sz="1030" dirty="0">
                <a:solidFill>
                  <a:srgbClr val="111827"/>
                </a:solidFill>
                <a:latin typeface="Aptos" pitchFamily="34" charset="0"/>
                <a:ea typeface="Aptos" pitchFamily="34" charset="-122"/>
                <a:cs typeface="Aptos" pitchFamily="34" charset="-120"/>
              </a:rPr>
              <a:t>Below 99.9 percent</a:t>
            </a:r>
            <a:endParaRPr lang="en-US" sz="1030" dirty="0"/>
          </a:p>
        </p:txBody>
      </p:sp>
      <p:sp>
        <p:nvSpPr>
          <p:cNvPr id="30" name="Shape 28"/>
          <p:cNvSpPr/>
          <p:nvPr/>
        </p:nvSpPr>
        <p:spPr>
          <a:xfrm>
            <a:off x="658368" y="3977640"/>
            <a:ext cx="10881360" cy="457200"/>
          </a:xfrm>
          <a:prstGeom prst="rect">
            <a:avLst/>
          </a:prstGeom>
          <a:solidFill>
            <a:srgbClr val="FFFFFF"/>
          </a:solidFill>
          <a:ln w="4445">
            <a:solidFill>
              <a:srgbClr val="D1D5DB"/>
            </a:solidFill>
            <a:prstDash val="solid"/>
          </a:ln>
        </p:spPr>
      </p:sp>
      <p:sp>
        <p:nvSpPr>
          <p:cNvPr id="31" name="Text 29"/>
          <p:cNvSpPr/>
          <p:nvPr/>
        </p:nvSpPr>
        <p:spPr>
          <a:xfrm>
            <a:off x="731520" y="4105656"/>
            <a:ext cx="2404872" cy="164592"/>
          </a:xfrm>
          <a:prstGeom prst="rect">
            <a:avLst/>
          </a:prstGeom>
          <a:noFill/>
          <a:ln/>
        </p:spPr>
        <p:txBody>
          <a:bodyPr wrap="square" lIns="0" tIns="0" rIns="0" bIns="0" rtlCol="0" anchor="ctr"/>
          <a:lstStyle/>
          <a:p>
            <a:pPr marL="0" indent="0">
              <a:buNone/>
            </a:pPr>
            <a:r>
              <a:rPr lang="en-US" sz="1030" dirty="0">
                <a:solidFill>
                  <a:srgbClr val="111827"/>
                </a:solidFill>
                <a:latin typeface="Aptos" pitchFamily="34" charset="0"/>
                <a:ea typeface="Aptos" pitchFamily="34" charset="-122"/>
                <a:cs typeface="Aptos" pitchFamily="34" charset="-120"/>
              </a:rPr>
              <a:t>Workforce adoption</a:t>
            </a:r>
            <a:endParaRPr lang="en-US" sz="1030" dirty="0"/>
          </a:p>
        </p:txBody>
      </p:sp>
      <p:sp>
        <p:nvSpPr>
          <p:cNvPr id="32" name="Text 30"/>
          <p:cNvSpPr/>
          <p:nvPr/>
        </p:nvSpPr>
        <p:spPr>
          <a:xfrm>
            <a:off x="3246120" y="4105656"/>
            <a:ext cx="3547872" cy="164592"/>
          </a:xfrm>
          <a:prstGeom prst="rect">
            <a:avLst/>
          </a:prstGeom>
          <a:noFill/>
          <a:ln/>
        </p:spPr>
        <p:txBody>
          <a:bodyPr wrap="square" lIns="0" tIns="0" rIns="0" bIns="0" rtlCol="0" anchor="ctr"/>
          <a:lstStyle/>
          <a:p>
            <a:pPr marL="0" indent="0">
              <a:buNone/>
            </a:pPr>
            <a:r>
              <a:rPr lang="en-US" sz="1030" dirty="0">
                <a:solidFill>
                  <a:srgbClr val="111827"/>
                </a:solidFill>
                <a:latin typeface="Aptos" pitchFamily="34" charset="0"/>
                <a:ea typeface="Aptos" pitchFamily="34" charset="-122"/>
                <a:cs typeface="Aptos" pitchFamily="34" charset="-120"/>
              </a:rPr>
              <a:t>Employee adoption rate</a:t>
            </a:r>
            <a:endParaRPr lang="en-US" sz="1030" dirty="0"/>
          </a:p>
        </p:txBody>
      </p:sp>
      <p:sp>
        <p:nvSpPr>
          <p:cNvPr id="33" name="Text 31"/>
          <p:cNvSpPr/>
          <p:nvPr/>
        </p:nvSpPr>
        <p:spPr>
          <a:xfrm>
            <a:off x="6903720" y="4105656"/>
            <a:ext cx="4599432" cy="164592"/>
          </a:xfrm>
          <a:prstGeom prst="rect">
            <a:avLst/>
          </a:prstGeom>
          <a:noFill/>
          <a:ln/>
        </p:spPr>
        <p:txBody>
          <a:bodyPr wrap="square" lIns="0" tIns="0" rIns="0" bIns="0" rtlCol="0" anchor="ctr"/>
          <a:lstStyle/>
          <a:p>
            <a:pPr marL="0" indent="0">
              <a:buNone/>
            </a:pPr>
            <a:r>
              <a:rPr lang="en-US" sz="1030" dirty="0">
                <a:solidFill>
                  <a:srgbClr val="111827"/>
                </a:solidFill>
                <a:latin typeface="Aptos" pitchFamily="34" charset="0"/>
                <a:ea typeface="Aptos" pitchFamily="34" charset="-122"/>
                <a:cs typeface="Aptos" pitchFamily="34" charset="-120"/>
              </a:rPr>
              <a:t>Below 75 percent</a:t>
            </a:r>
            <a:endParaRPr lang="en-US" sz="1030" dirty="0"/>
          </a:p>
        </p:txBody>
      </p:sp>
      <p:sp>
        <p:nvSpPr>
          <p:cNvPr id="34" name="Shape 32"/>
          <p:cNvSpPr/>
          <p:nvPr/>
        </p:nvSpPr>
        <p:spPr>
          <a:xfrm>
            <a:off x="658368" y="4434840"/>
            <a:ext cx="10881360" cy="457200"/>
          </a:xfrm>
          <a:prstGeom prst="rect">
            <a:avLst/>
          </a:prstGeom>
          <a:solidFill>
            <a:srgbClr val="FBF7EF"/>
          </a:solidFill>
          <a:ln w="4445">
            <a:solidFill>
              <a:srgbClr val="D1D5DB"/>
            </a:solidFill>
            <a:prstDash val="solid"/>
          </a:ln>
        </p:spPr>
      </p:sp>
      <p:sp>
        <p:nvSpPr>
          <p:cNvPr id="35" name="Text 33"/>
          <p:cNvSpPr/>
          <p:nvPr/>
        </p:nvSpPr>
        <p:spPr>
          <a:xfrm>
            <a:off x="731520" y="4562856"/>
            <a:ext cx="2404872" cy="164592"/>
          </a:xfrm>
          <a:prstGeom prst="rect">
            <a:avLst/>
          </a:prstGeom>
          <a:noFill/>
          <a:ln/>
        </p:spPr>
        <p:txBody>
          <a:bodyPr wrap="square" lIns="0" tIns="0" rIns="0" bIns="0" rtlCol="0" anchor="ctr"/>
          <a:lstStyle/>
          <a:p>
            <a:pPr marL="0" indent="0">
              <a:buNone/>
            </a:pPr>
            <a:r>
              <a:rPr lang="en-US" sz="1030" dirty="0">
                <a:solidFill>
                  <a:srgbClr val="111827"/>
                </a:solidFill>
                <a:latin typeface="Aptos" pitchFamily="34" charset="0"/>
                <a:ea typeface="Aptos" pitchFamily="34" charset="-122"/>
                <a:cs typeface="Aptos" pitchFamily="34" charset="-120"/>
              </a:rPr>
              <a:t>Cost and ROI</a:t>
            </a:r>
            <a:endParaRPr lang="en-US" sz="1030" dirty="0"/>
          </a:p>
        </p:txBody>
      </p:sp>
      <p:sp>
        <p:nvSpPr>
          <p:cNvPr id="36" name="Text 34"/>
          <p:cNvSpPr/>
          <p:nvPr/>
        </p:nvSpPr>
        <p:spPr>
          <a:xfrm>
            <a:off x="3246120" y="4562856"/>
            <a:ext cx="3547872" cy="164592"/>
          </a:xfrm>
          <a:prstGeom prst="rect">
            <a:avLst/>
          </a:prstGeom>
          <a:noFill/>
          <a:ln/>
        </p:spPr>
        <p:txBody>
          <a:bodyPr wrap="square" lIns="0" tIns="0" rIns="0" bIns="0" rtlCol="0" anchor="ctr"/>
          <a:lstStyle/>
          <a:p>
            <a:pPr marL="0" indent="0">
              <a:buNone/>
            </a:pPr>
            <a:r>
              <a:rPr lang="en-US" sz="1030" dirty="0">
                <a:solidFill>
                  <a:srgbClr val="111827"/>
                </a:solidFill>
                <a:latin typeface="Aptos" pitchFamily="34" charset="0"/>
                <a:ea typeface="Aptos" pitchFamily="34" charset="-122"/>
                <a:cs typeface="Aptos" pitchFamily="34" charset="-120"/>
              </a:rPr>
              <a:t>Budget variance</a:t>
            </a:r>
            <a:endParaRPr lang="en-US" sz="1030" dirty="0"/>
          </a:p>
        </p:txBody>
      </p:sp>
      <p:sp>
        <p:nvSpPr>
          <p:cNvPr id="37" name="Text 35"/>
          <p:cNvSpPr/>
          <p:nvPr/>
        </p:nvSpPr>
        <p:spPr>
          <a:xfrm>
            <a:off x="6903720" y="4562856"/>
            <a:ext cx="4599432" cy="164592"/>
          </a:xfrm>
          <a:prstGeom prst="rect">
            <a:avLst/>
          </a:prstGeom>
          <a:noFill/>
          <a:ln/>
        </p:spPr>
        <p:txBody>
          <a:bodyPr wrap="square" lIns="0" tIns="0" rIns="0" bIns="0" rtlCol="0" anchor="ctr"/>
          <a:lstStyle/>
          <a:p>
            <a:pPr marL="0" indent="0">
              <a:buNone/>
            </a:pPr>
            <a:r>
              <a:rPr lang="en-US" sz="1030" dirty="0">
                <a:solidFill>
                  <a:srgbClr val="111827"/>
                </a:solidFill>
                <a:latin typeface="Aptos" pitchFamily="34" charset="0"/>
                <a:ea typeface="Aptos" pitchFamily="34" charset="-122"/>
                <a:cs typeface="Aptos" pitchFamily="34" charset="-120"/>
              </a:rPr>
              <a:t>Above 15 percent</a:t>
            </a:r>
            <a:endParaRPr lang="en-US" sz="1030" dirty="0"/>
          </a:p>
        </p:txBody>
      </p:sp>
      <p:sp>
        <p:nvSpPr>
          <p:cNvPr id="38" name="Shape 36"/>
          <p:cNvSpPr/>
          <p:nvPr/>
        </p:nvSpPr>
        <p:spPr>
          <a:xfrm>
            <a:off x="658368" y="4892040"/>
            <a:ext cx="10881360" cy="457200"/>
          </a:xfrm>
          <a:prstGeom prst="rect">
            <a:avLst/>
          </a:prstGeom>
          <a:solidFill>
            <a:srgbClr val="FFFFFF"/>
          </a:solidFill>
          <a:ln w="4445">
            <a:solidFill>
              <a:srgbClr val="D1D5DB"/>
            </a:solidFill>
            <a:prstDash val="solid"/>
          </a:ln>
        </p:spPr>
      </p:sp>
      <p:sp>
        <p:nvSpPr>
          <p:cNvPr id="39" name="Text 37"/>
          <p:cNvSpPr/>
          <p:nvPr/>
        </p:nvSpPr>
        <p:spPr>
          <a:xfrm>
            <a:off x="731520" y="5020056"/>
            <a:ext cx="2404872" cy="164592"/>
          </a:xfrm>
          <a:prstGeom prst="rect">
            <a:avLst/>
          </a:prstGeom>
          <a:noFill/>
          <a:ln/>
        </p:spPr>
        <p:txBody>
          <a:bodyPr wrap="square" lIns="0" tIns="0" rIns="0" bIns="0" rtlCol="0" anchor="ctr"/>
          <a:lstStyle/>
          <a:p>
            <a:pPr marL="0" indent="0">
              <a:buNone/>
            </a:pPr>
            <a:r>
              <a:rPr lang="en-US" sz="1030" dirty="0">
                <a:solidFill>
                  <a:srgbClr val="111827"/>
                </a:solidFill>
                <a:latin typeface="Aptos" pitchFamily="34" charset="0"/>
                <a:ea typeface="Aptos" pitchFamily="34" charset="-122"/>
                <a:cs typeface="Aptos" pitchFamily="34" charset="-120"/>
              </a:rPr>
              <a:t>Compliance and ethics</a:t>
            </a:r>
            <a:endParaRPr lang="en-US" sz="1030" dirty="0"/>
          </a:p>
        </p:txBody>
      </p:sp>
      <p:sp>
        <p:nvSpPr>
          <p:cNvPr id="40" name="Text 38"/>
          <p:cNvSpPr/>
          <p:nvPr/>
        </p:nvSpPr>
        <p:spPr>
          <a:xfrm>
            <a:off x="3246120" y="5020056"/>
            <a:ext cx="3547872" cy="164592"/>
          </a:xfrm>
          <a:prstGeom prst="rect">
            <a:avLst/>
          </a:prstGeom>
          <a:noFill/>
          <a:ln/>
        </p:spPr>
        <p:txBody>
          <a:bodyPr wrap="square" lIns="0" tIns="0" rIns="0" bIns="0" rtlCol="0" anchor="ctr"/>
          <a:lstStyle/>
          <a:p>
            <a:pPr marL="0" indent="0">
              <a:buNone/>
            </a:pPr>
            <a:r>
              <a:rPr lang="en-US" sz="1030" dirty="0">
                <a:solidFill>
                  <a:srgbClr val="111827"/>
                </a:solidFill>
                <a:latin typeface="Aptos" pitchFamily="34" charset="0"/>
                <a:ea typeface="Aptos" pitchFamily="34" charset="-122"/>
                <a:cs typeface="Aptos" pitchFamily="34" charset="-120"/>
              </a:rPr>
              <a:t>Open gaps or bias reports</a:t>
            </a:r>
            <a:endParaRPr lang="en-US" sz="1030" dirty="0"/>
          </a:p>
        </p:txBody>
      </p:sp>
      <p:sp>
        <p:nvSpPr>
          <p:cNvPr id="41" name="Text 39"/>
          <p:cNvSpPr/>
          <p:nvPr/>
        </p:nvSpPr>
        <p:spPr>
          <a:xfrm>
            <a:off x="6903720" y="5020056"/>
            <a:ext cx="4599432" cy="164592"/>
          </a:xfrm>
          <a:prstGeom prst="rect">
            <a:avLst/>
          </a:prstGeom>
          <a:noFill/>
          <a:ln/>
        </p:spPr>
        <p:txBody>
          <a:bodyPr wrap="square" lIns="0" tIns="0" rIns="0" bIns="0" rtlCol="0" anchor="ctr"/>
          <a:lstStyle/>
          <a:p>
            <a:pPr marL="0" indent="0">
              <a:buNone/>
            </a:pPr>
            <a:r>
              <a:rPr lang="en-US" sz="1030" dirty="0">
                <a:solidFill>
                  <a:srgbClr val="111827"/>
                </a:solidFill>
                <a:latin typeface="Aptos" pitchFamily="34" charset="0"/>
                <a:ea typeface="Aptos" pitchFamily="34" charset="-122"/>
                <a:cs typeface="Aptos" pitchFamily="34" charset="-120"/>
              </a:rPr>
              <a:t>Any unresolved high severity issue</a:t>
            </a:r>
            <a:endParaRPr lang="en-US" sz="1030" dirty="0"/>
          </a:p>
        </p:txBody>
      </p:sp>
      <p:sp>
        <p:nvSpPr>
          <p:cNvPr id="42" name="Text 40"/>
          <p:cNvSpPr/>
          <p:nvPr/>
        </p:nvSpPr>
        <p:spPr>
          <a:xfrm>
            <a:off x="594360" y="6492240"/>
            <a:ext cx="5120640" cy="201168"/>
          </a:xfrm>
          <a:prstGeom prst="rect">
            <a:avLst/>
          </a:prstGeom>
          <a:noFill/>
          <a:ln/>
        </p:spPr>
        <p:txBody>
          <a:bodyPr wrap="square" lIns="0" tIns="0" rIns="0" bIns="0" rtlCol="0" anchor="ctr"/>
          <a:lstStyle/>
          <a:p>
            <a:pPr marL="0" indent="0">
              <a:buNone/>
            </a:pPr>
            <a:r>
              <a:rPr lang="en-US" sz="850" dirty="0">
                <a:solidFill>
                  <a:srgbClr val="5A6670"/>
                </a:solidFill>
                <a:latin typeface="Aptos" pitchFamily="34" charset="0"/>
                <a:ea typeface="Aptos" pitchFamily="34" charset="-122"/>
                <a:cs typeface="Aptos" pitchFamily="34" charset="-120"/>
              </a:rPr>
              <a:t>ALY6130 Risk Management for Analytics</a:t>
            </a:r>
            <a:endParaRPr lang="en-US" sz="850" dirty="0"/>
          </a:p>
        </p:txBody>
      </p:sp>
      <p:sp>
        <p:nvSpPr>
          <p:cNvPr id="43" name="Text 41"/>
          <p:cNvSpPr/>
          <p:nvPr/>
        </p:nvSpPr>
        <p:spPr>
          <a:xfrm>
            <a:off x="11292840" y="6492240"/>
            <a:ext cx="320040" cy="201168"/>
          </a:xfrm>
          <a:prstGeom prst="rect">
            <a:avLst/>
          </a:prstGeom>
          <a:noFill/>
          <a:ln/>
        </p:spPr>
        <p:txBody>
          <a:bodyPr wrap="square" lIns="0" tIns="0" rIns="0" bIns="0" rtlCol="0" anchor="ctr"/>
          <a:lstStyle/>
          <a:p>
            <a:pPr marL="0" indent="0" algn="r">
              <a:buNone/>
            </a:pPr>
            <a:r>
              <a:rPr lang="en-US" sz="850" dirty="0">
                <a:solidFill>
                  <a:srgbClr val="5A6670"/>
                </a:solidFill>
                <a:latin typeface="Aptos" pitchFamily="34" charset="0"/>
                <a:ea typeface="Aptos" pitchFamily="34" charset="-122"/>
                <a:cs typeface="Aptos" pitchFamily="34" charset="-120"/>
              </a:rPr>
              <a:t>14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7F3E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3EB"/>
          </a:solidFill>
          <a:ln w="12700">
            <a:solidFill>
              <a:srgbClr val="F7F3EB">
                <a:alpha val="0"/>
              </a:srgbClr>
            </a:solidFill>
            <a:prstDash val="solid"/>
          </a:ln>
        </p:spPr>
      </p:sp>
      <p:sp>
        <p:nvSpPr>
          <p:cNvPr id="3" name="Text 1"/>
          <p:cNvSpPr/>
          <p:nvPr/>
        </p:nvSpPr>
        <p:spPr>
          <a:xfrm>
            <a:off x="566928" y="320040"/>
            <a:ext cx="9875520" cy="438912"/>
          </a:xfrm>
          <a:prstGeom prst="rect">
            <a:avLst/>
          </a:prstGeom>
          <a:noFill/>
          <a:ln/>
        </p:spPr>
        <p:txBody>
          <a:bodyPr wrap="square" lIns="0" tIns="0" rIns="0" bIns="0" rtlCol="0" anchor="ctr"/>
          <a:lstStyle/>
          <a:p>
            <a:pPr marL="0" indent="0">
              <a:buNone/>
            </a:pPr>
            <a:r>
              <a:rPr lang="en-US" sz="2800" b="1" dirty="0">
                <a:solidFill>
                  <a:srgbClr val="172A3A"/>
                </a:solidFill>
                <a:latin typeface="Aptos Display" pitchFamily="34" charset="0"/>
                <a:ea typeface="Aptos Display" pitchFamily="34" charset="-122"/>
                <a:cs typeface="Aptos Display" pitchFamily="34" charset="-120"/>
              </a:rPr>
              <a:t>Conclusion and references</a:t>
            </a:r>
            <a:endParaRPr lang="en-US" sz="2800" dirty="0"/>
          </a:p>
        </p:txBody>
      </p:sp>
      <p:sp>
        <p:nvSpPr>
          <p:cNvPr id="4" name="Shape 2"/>
          <p:cNvSpPr/>
          <p:nvPr/>
        </p:nvSpPr>
        <p:spPr>
          <a:xfrm>
            <a:off x="566928" y="896112"/>
            <a:ext cx="11064240" cy="0"/>
          </a:xfrm>
          <a:prstGeom prst="line">
            <a:avLst/>
          </a:prstGeom>
          <a:noFill/>
          <a:ln w="19050">
            <a:solidFill>
              <a:srgbClr val="FF9900"/>
            </a:solidFill>
            <a:prstDash val="solid"/>
          </a:ln>
        </p:spPr>
      </p:sp>
      <p:sp>
        <p:nvSpPr>
          <p:cNvPr id="5" name="Text 3"/>
          <p:cNvSpPr/>
          <p:nvPr/>
        </p:nvSpPr>
        <p:spPr>
          <a:xfrm>
            <a:off x="585216" y="960120"/>
            <a:ext cx="10698480" cy="256032"/>
          </a:xfrm>
          <a:prstGeom prst="rect">
            <a:avLst/>
          </a:prstGeom>
          <a:noFill/>
          <a:ln/>
        </p:spPr>
        <p:txBody>
          <a:bodyPr wrap="square" lIns="0" tIns="0" rIns="0" bIns="0" rtlCol="0" anchor="ctr"/>
          <a:lstStyle/>
          <a:p>
            <a:pPr marL="0" indent="0">
              <a:buNone/>
            </a:pPr>
            <a:r>
              <a:rPr lang="en-US" sz="1100" dirty="0">
                <a:solidFill>
                  <a:srgbClr val="5A6670"/>
                </a:solidFill>
                <a:latin typeface="Aptos" pitchFamily="34" charset="0"/>
                <a:ea typeface="Aptos" pitchFamily="34" charset="-122"/>
                <a:cs typeface="Aptos" pitchFamily="34" charset="-120"/>
              </a:rPr>
              <a:t>Main decision message for Amazon leadership</a:t>
            </a:r>
            <a:endParaRPr lang="en-US" sz="1100" dirty="0"/>
          </a:p>
        </p:txBody>
      </p:sp>
      <p:sp>
        <p:nvSpPr>
          <p:cNvPr id="6" name="Text 4"/>
          <p:cNvSpPr/>
          <p:nvPr/>
        </p:nvSpPr>
        <p:spPr>
          <a:xfrm>
            <a:off x="685800" y="1280160"/>
            <a:ext cx="5486400" cy="1600200"/>
          </a:xfrm>
          <a:prstGeom prst="rect">
            <a:avLst/>
          </a:prstGeom>
          <a:noFill/>
          <a:ln/>
        </p:spPr>
        <p:txBody>
          <a:bodyPr wrap="square" lIns="508" tIns="508" rIns="508" bIns="508" rtlCol="0" anchor="t">
            <a:normAutofit/>
          </a:bodyPr>
          <a:lstStyle/>
          <a:p>
            <a:pPr marL="0" indent="0">
              <a:buNone/>
            </a:pPr>
            <a:r>
              <a:rPr lang="en-US" sz="1520" dirty="0">
                <a:solidFill>
                  <a:srgbClr val="111827"/>
                </a:solidFill>
                <a:latin typeface="Aptos" pitchFamily="34" charset="0"/>
                <a:ea typeface="Aptos" pitchFamily="34" charset="-122"/>
                <a:cs typeface="Aptos" pitchFamily="34" charset="-120"/>
              </a:rPr>
              <a:t>The assessment shows that Amazon should continue the AI strategy, but only with stronger governance, security controls, integration discipline, workforce adoption planning, and financial monitoring. The highest treatment priority should go to cost overrun and delayed ROI, regulatory and privacy non compliance, cybersecurity and data breach, and AI warehouse strategy failure.</a:t>
            </a:r>
            <a:endParaRPr lang="en-US" sz="1520" dirty="0"/>
          </a:p>
        </p:txBody>
      </p:sp>
      <p:sp>
        <p:nvSpPr>
          <p:cNvPr id="7" name="Text 5"/>
          <p:cNvSpPr/>
          <p:nvPr/>
        </p:nvSpPr>
        <p:spPr>
          <a:xfrm>
            <a:off x="6583680" y="1280160"/>
            <a:ext cx="3840480" cy="292608"/>
          </a:xfrm>
          <a:prstGeom prst="rect">
            <a:avLst/>
          </a:prstGeom>
          <a:noFill/>
          <a:ln/>
        </p:spPr>
        <p:txBody>
          <a:bodyPr wrap="square" lIns="508" tIns="508" rIns="508" bIns="508" rtlCol="0" anchor="t">
            <a:normAutofit/>
          </a:bodyPr>
          <a:lstStyle/>
          <a:p>
            <a:pPr marL="0" indent="0">
              <a:buNone/>
            </a:pPr>
            <a:r>
              <a:rPr lang="en-US" sz="1800" dirty="0">
                <a:solidFill>
                  <a:srgbClr val="111827"/>
                </a:solidFill>
                <a:latin typeface="Aptos" pitchFamily="34" charset="0"/>
                <a:ea typeface="Aptos" pitchFamily="34" charset="-122"/>
                <a:cs typeface="Aptos" pitchFamily="34" charset="-120"/>
              </a:rPr>
              <a:t>References</a:t>
            </a:r>
            <a:endParaRPr lang="en-US" sz="1800" dirty="0"/>
          </a:p>
        </p:txBody>
      </p:sp>
      <p:sp>
        <p:nvSpPr>
          <p:cNvPr id="8" name="Text 6"/>
          <p:cNvSpPr/>
          <p:nvPr/>
        </p:nvSpPr>
        <p:spPr>
          <a:xfrm>
            <a:off x="6583680" y="3172965"/>
            <a:ext cx="4892040" cy="256032"/>
          </a:xfrm>
          <a:prstGeom prst="rect">
            <a:avLst/>
          </a:prstGeom>
          <a:noFill/>
          <a:ln/>
        </p:spPr>
        <p:txBody>
          <a:bodyPr wrap="square" lIns="254" tIns="254" rIns="254" bIns="254" rtlCol="0" anchor="ctr">
            <a:noAutofit/>
          </a:bodyPr>
          <a:lstStyle/>
          <a:p>
            <a:pPr marL="0" indent="0">
              <a:buNone/>
            </a:pPr>
            <a:r>
              <a:rPr lang="en-US" sz="1200" dirty="0">
                <a:solidFill>
                  <a:srgbClr val="111827"/>
                </a:solidFill>
                <a:latin typeface="Aptos" pitchFamily="34" charset="0"/>
                <a:ea typeface="Aptos" pitchFamily="34" charset="-122"/>
                <a:cs typeface="Aptos" pitchFamily="34" charset="-120"/>
              </a:rPr>
              <a:t>Amazon. (2025). About Amazon. Amazon Official Website.</a:t>
            </a:r>
            <a:endParaRPr lang="en-US" sz="1200" dirty="0"/>
          </a:p>
          <a:p>
            <a:pPr marL="0" indent="0">
              <a:buNone/>
            </a:pPr>
            <a:r>
              <a:rPr lang="en-US" sz="1200" dirty="0">
                <a:solidFill>
                  <a:srgbClr val="111827"/>
                </a:solidFill>
                <a:latin typeface="Aptos" pitchFamily="34" charset="0"/>
                <a:ea typeface="Aptos" pitchFamily="34" charset="-122"/>
                <a:cs typeface="Aptos" pitchFamily="34" charset="-120"/>
              </a:rPr>
              <a:t>Amazon Web Services. (2025). Cloud computing services and security infrastructure.</a:t>
            </a:r>
            <a:endParaRPr lang="en-US" sz="1200" dirty="0"/>
          </a:p>
          <a:p>
            <a:pPr marL="0" indent="0">
              <a:buNone/>
            </a:pPr>
            <a:r>
              <a:rPr lang="en-US" sz="1200" dirty="0">
                <a:solidFill>
                  <a:srgbClr val="111827"/>
                </a:solidFill>
                <a:latin typeface="Aptos" pitchFamily="34" charset="0"/>
                <a:ea typeface="Aptos" pitchFamily="34" charset="-122"/>
                <a:cs typeface="Aptos" pitchFamily="34" charset="-120"/>
              </a:rPr>
              <a:t>Chapman, R. J. (2011). Simple tools and techniques for enterprise risk management. Wiley Finance.</a:t>
            </a:r>
            <a:endParaRPr lang="en-US" sz="1200" dirty="0"/>
          </a:p>
          <a:p>
            <a:pPr marL="0" indent="0">
              <a:buNone/>
            </a:pPr>
            <a:r>
              <a:rPr lang="en-US" sz="1200" dirty="0">
                <a:solidFill>
                  <a:srgbClr val="111827"/>
                </a:solidFill>
                <a:latin typeface="Aptos" pitchFamily="34" charset="0"/>
                <a:ea typeface="Aptos" pitchFamily="34" charset="-122"/>
                <a:cs typeface="Aptos" pitchFamily="34" charset="-120"/>
              </a:rPr>
              <a:t>Fleisher, C. S., &amp; Bensoussan, B. E. (2015). Business and competitive analysis. Pearson.</a:t>
            </a:r>
            <a:endParaRPr lang="en-US" sz="1200" dirty="0"/>
          </a:p>
          <a:p>
            <a:pPr marL="0" indent="0">
              <a:buNone/>
            </a:pPr>
            <a:r>
              <a:rPr lang="en-US" sz="1200" dirty="0">
                <a:solidFill>
                  <a:srgbClr val="111827"/>
                </a:solidFill>
                <a:latin typeface="Aptos" pitchFamily="34" charset="0"/>
                <a:ea typeface="Aptos" pitchFamily="34" charset="-122"/>
                <a:cs typeface="Aptos" pitchFamily="34" charset="-120"/>
              </a:rPr>
              <a:t>International Organization for Standardization. (2018). ISO 31000: Risk management guidelines. ISO.</a:t>
            </a:r>
            <a:endParaRPr lang="en-US" sz="1200" dirty="0"/>
          </a:p>
          <a:p>
            <a:pPr marL="0" indent="0">
              <a:buNone/>
            </a:pPr>
            <a:r>
              <a:rPr lang="en-US" sz="1200" dirty="0">
                <a:solidFill>
                  <a:srgbClr val="111827"/>
                </a:solidFill>
                <a:latin typeface="Aptos" pitchFamily="34" charset="0"/>
                <a:ea typeface="Aptos" pitchFamily="34" charset="-122"/>
                <a:cs typeface="Aptos" pitchFamily="34" charset="-120"/>
              </a:rPr>
              <a:t>Kaplan, R. S., &amp; Mikes, A. (2012). Managing risks: A new framework. Harvard Business Review, 90(6), 48 to 60.</a:t>
            </a:r>
            <a:endParaRPr lang="en-US" sz="1200" dirty="0"/>
          </a:p>
          <a:p>
            <a:pPr marL="0" indent="0">
              <a:buNone/>
            </a:pPr>
            <a:r>
              <a:rPr lang="en-US" sz="1200" dirty="0">
                <a:solidFill>
                  <a:srgbClr val="111827"/>
                </a:solidFill>
                <a:latin typeface="Aptos" pitchFamily="34" charset="0"/>
                <a:ea typeface="Aptos" pitchFamily="34" charset="-122"/>
                <a:cs typeface="Aptos" pitchFamily="34" charset="-120"/>
              </a:rPr>
              <a:t>Lam, J. (2014). Enterprise risk management: From incentives to controls. John Wiley and Sons.</a:t>
            </a:r>
            <a:endParaRPr lang="en-US" sz="1200" dirty="0"/>
          </a:p>
          <a:p>
            <a:pPr marL="0" indent="0">
              <a:buNone/>
            </a:pPr>
            <a:r>
              <a:rPr lang="en-US" sz="1200" dirty="0">
                <a:solidFill>
                  <a:srgbClr val="111827"/>
                </a:solidFill>
                <a:latin typeface="Aptos" pitchFamily="34" charset="0"/>
                <a:ea typeface="Aptos" pitchFamily="34" charset="-122"/>
                <a:cs typeface="Aptos" pitchFamily="34" charset="-120"/>
              </a:rPr>
              <a:t>National Institute of Standards and Technology. (2024). Artificial intelligence risk management framework. U.S. Department of Commerce.</a:t>
            </a:r>
            <a:endParaRPr lang="en-US" sz="1200" dirty="0"/>
          </a:p>
          <a:p>
            <a:pPr marL="0" indent="0">
              <a:buNone/>
            </a:pPr>
            <a:r>
              <a:rPr lang="en-US" sz="1200" dirty="0">
                <a:solidFill>
                  <a:srgbClr val="111827"/>
                </a:solidFill>
                <a:latin typeface="Aptos" pitchFamily="34" charset="0"/>
                <a:ea typeface="Aptos" pitchFamily="34" charset="-122"/>
                <a:cs typeface="Aptos" pitchFamily="34" charset="-120"/>
              </a:rPr>
              <a:t>Olson, D. L., &amp; Wu, D. D. (2017). Enterprise risk management models. Springer.</a:t>
            </a:r>
            <a:endParaRPr lang="en-US" sz="1200" dirty="0"/>
          </a:p>
          <a:p>
            <a:pPr marL="0" indent="0">
              <a:buNone/>
            </a:pPr>
            <a:r>
              <a:rPr lang="en-US" sz="1200" dirty="0">
                <a:solidFill>
                  <a:srgbClr val="111827"/>
                </a:solidFill>
                <a:latin typeface="Aptos" pitchFamily="34" charset="0"/>
                <a:ea typeface="Aptos" pitchFamily="34" charset="-122"/>
                <a:cs typeface="Aptos" pitchFamily="34" charset="-120"/>
              </a:rPr>
              <a:t>PwC. (2024). Enterprise risk management and digital transformation. PwC Official Website.</a:t>
            </a:r>
            <a:endParaRPr lang="en-US" sz="1200" dirty="0"/>
          </a:p>
        </p:txBody>
      </p:sp>
      <p:sp>
        <p:nvSpPr>
          <p:cNvPr id="9" name="Text 7"/>
          <p:cNvSpPr/>
          <p:nvPr/>
        </p:nvSpPr>
        <p:spPr>
          <a:xfrm>
            <a:off x="594360" y="6492240"/>
            <a:ext cx="5120640" cy="201168"/>
          </a:xfrm>
          <a:prstGeom prst="rect">
            <a:avLst/>
          </a:prstGeom>
          <a:noFill/>
          <a:ln/>
        </p:spPr>
        <p:txBody>
          <a:bodyPr wrap="square" lIns="0" tIns="0" rIns="0" bIns="0" rtlCol="0" anchor="ctr"/>
          <a:lstStyle/>
          <a:p>
            <a:pPr marL="0" indent="0">
              <a:buNone/>
            </a:pPr>
            <a:r>
              <a:rPr lang="en-US" sz="850" dirty="0">
                <a:solidFill>
                  <a:srgbClr val="5A6670"/>
                </a:solidFill>
                <a:latin typeface="Aptos" pitchFamily="34" charset="0"/>
                <a:ea typeface="Aptos" pitchFamily="34" charset="-122"/>
                <a:cs typeface="Aptos" pitchFamily="34" charset="-120"/>
              </a:rPr>
              <a:t>ALY6130 Risk Management for Analytics</a:t>
            </a:r>
            <a:endParaRPr lang="en-US" sz="850" dirty="0"/>
          </a:p>
        </p:txBody>
      </p:sp>
      <p:sp>
        <p:nvSpPr>
          <p:cNvPr id="10" name="Text 8"/>
          <p:cNvSpPr/>
          <p:nvPr/>
        </p:nvSpPr>
        <p:spPr>
          <a:xfrm>
            <a:off x="11292840" y="6492240"/>
            <a:ext cx="320040" cy="201168"/>
          </a:xfrm>
          <a:prstGeom prst="rect">
            <a:avLst/>
          </a:prstGeom>
          <a:noFill/>
          <a:ln/>
        </p:spPr>
        <p:txBody>
          <a:bodyPr wrap="square" lIns="0" tIns="0" rIns="0" bIns="0" rtlCol="0" anchor="ctr"/>
          <a:lstStyle/>
          <a:p>
            <a:pPr marL="0" indent="0" algn="r">
              <a:buNone/>
            </a:pPr>
            <a:r>
              <a:rPr lang="en-US" sz="850" dirty="0">
                <a:solidFill>
                  <a:srgbClr val="5A6670"/>
                </a:solidFill>
                <a:latin typeface="Aptos" pitchFamily="34" charset="0"/>
                <a:ea typeface="Aptos" pitchFamily="34" charset="-122"/>
                <a:cs typeface="Aptos" pitchFamily="34" charset="-120"/>
              </a:rPr>
              <a:t>15</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1075</TotalTime>
  <Words>1505</Words>
  <Application>Microsoft Office PowerPoint</Application>
  <PresentationFormat>Widescreen</PresentationFormat>
  <Paragraphs>218</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Aptos Display</vt:lpstr>
      <vt:lpstr>Arial</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Northeastern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Amazon AI Enterprise Risk Assessment</dc:title>
  <dc:subject>Enterprise Risk Management Analytics</dc:subject>
  <dc:creator>Group 3</dc:creator>
  <cp:lastModifiedBy>Chenlu Liu</cp:lastModifiedBy>
  <cp:revision>57</cp:revision>
  <dcterms:created xsi:type="dcterms:W3CDTF">2026-06-21T20:13:18Z</dcterms:created>
  <dcterms:modified xsi:type="dcterms:W3CDTF">2026-06-26T21:23:52Z</dcterms:modified>
</cp:coreProperties>
</file>